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8" r:id="rId19"/>
    <p:sldId id="279" r:id="rId20"/>
    <p:sldId id="281" r:id="rId21"/>
    <p:sldId id="282" r:id="rId22"/>
    <p:sldId id="284" r:id="rId23"/>
    <p:sldId id="285" r:id="rId24"/>
    <p:sldId id="286" r:id="rId25"/>
    <p:sldId id="287" r:id="rId26"/>
    <p:sldId id="288" r:id="rId27"/>
    <p:sldId id="289" r:id="rId28"/>
    <p:sldId id="266" r:id="rId29"/>
    <p:sldId id="267" r:id="rId30"/>
    <p:sldId id="275" r:id="rId31"/>
    <p:sldId id="277" r:id="rId32"/>
    <p:sldId id="280" r:id="rId33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973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1575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280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7026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76800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7972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2520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333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97465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6004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3735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66BDD-85D9-42BC-8BA8-DC70DC224CBA}" type="datetimeFigureOut">
              <a:rPr lang="bg-BG" smtClean="0"/>
              <a:t>7.10.2017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C65E9-98E8-4DC7-A1B2-A155DECD74A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7036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68760"/>
            <a:ext cx="9144000" cy="3168352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bg-BG" sz="3600" b="1" cap="all" spc="60" dirty="0">
                <a:cs typeface="Arial" pitchFamily="34" charset="0"/>
              </a:rPr>
              <a:t>Влияние на негативната обратна информация за верността на знанието върху прилагането на евристиката Закотвяне и </a:t>
            </a:r>
            <a:r>
              <a:rPr lang="bg-BG" sz="3600" b="1" cap="all" spc="60" dirty="0" smtClean="0">
                <a:cs typeface="Arial" pitchFamily="34" charset="0"/>
              </a:rPr>
              <a:t>корекция</a:t>
            </a:r>
            <a:r>
              <a:rPr lang="en-US" sz="3300" b="1" cap="all" spc="60" dirty="0" smtClean="0">
                <a:cs typeface="Arial" pitchFamily="34" charset="0"/>
              </a:rPr>
              <a:t/>
            </a:r>
            <a:br>
              <a:rPr lang="en-US" sz="3300" b="1" cap="all" spc="60" dirty="0" smtClean="0">
                <a:cs typeface="Arial" pitchFamily="34" charset="0"/>
              </a:rPr>
            </a:br>
            <a:r>
              <a:rPr lang="en-US" sz="1100" b="1" cap="all" spc="60" dirty="0" smtClean="0">
                <a:cs typeface="Arial" pitchFamily="34" charset="0"/>
              </a:rPr>
              <a:t> </a:t>
            </a:r>
            <a:r>
              <a:rPr lang="en-US" sz="2000" b="1" cap="all" spc="60" dirty="0" smtClean="0">
                <a:cs typeface="Arial" pitchFamily="34" charset="0"/>
              </a:rPr>
              <a:t> </a:t>
            </a:r>
            <a:r>
              <a:rPr lang="en-US" sz="3300" b="1" cap="all" dirty="0" smtClean="0">
                <a:cs typeface="Arial" pitchFamily="34" charset="0"/>
              </a:rPr>
              <a:t/>
            </a:r>
            <a:br>
              <a:rPr lang="en-US" sz="3300" b="1" cap="all" dirty="0" smtClean="0">
                <a:cs typeface="Arial" pitchFamily="34" charset="0"/>
              </a:rPr>
            </a:br>
            <a:r>
              <a:rPr lang="en-US" sz="2700" dirty="0" smtClean="0">
                <a:effectLst/>
              </a:rPr>
              <a:t>PSYB636 </a:t>
            </a:r>
            <a:r>
              <a:rPr lang="bg-BG" sz="2700" dirty="0" smtClean="0">
                <a:effectLst/>
              </a:rPr>
              <a:t>Практика: Емпирично изследване</a:t>
            </a:r>
            <a:r>
              <a:rPr lang="bg-BG" dirty="0"/>
              <a:t/>
            </a:r>
            <a:br>
              <a:rPr lang="bg-BG" dirty="0"/>
            </a:br>
            <a:endParaRPr lang="bg-B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4437112"/>
            <a:ext cx="7632848" cy="1752600"/>
          </a:xfrm>
        </p:spPr>
        <p:txBody>
          <a:bodyPr>
            <a:normAutofit lnSpcReduction="10000"/>
          </a:bodyPr>
          <a:lstStyle/>
          <a:p>
            <a:pPr algn="r"/>
            <a:r>
              <a:rPr lang="bg-BG" sz="2400" i="1" dirty="0" smtClean="0"/>
              <a:t>Симеон Чифлигаров</a:t>
            </a:r>
          </a:p>
          <a:p>
            <a:pPr algn="r">
              <a:spcAft>
                <a:spcPts val="600"/>
              </a:spcAft>
            </a:pPr>
            <a:r>
              <a:rPr lang="en-US" sz="2400" i="1" dirty="0"/>
              <a:t>f</a:t>
            </a:r>
            <a:r>
              <a:rPr lang="en-US" sz="2400" i="1" dirty="0" smtClean="0"/>
              <a:t>69916</a:t>
            </a:r>
          </a:p>
          <a:p>
            <a:pPr algn="r"/>
            <a:r>
              <a:rPr lang="bg-BG" sz="2400" i="1" dirty="0"/>
              <a:t>Научен </a:t>
            </a:r>
            <a:r>
              <a:rPr lang="bg-BG" sz="2400" i="1" dirty="0" smtClean="0"/>
              <a:t>р</a:t>
            </a:r>
            <a:r>
              <a:rPr lang="en-US" sz="2400" i="1" dirty="0" smtClean="0"/>
              <a:t>-</a:t>
            </a:r>
            <a:r>
              <a:rPr lang="bg-BG" sz="2400" i="1" dirty="0" smtClean="0"/>
              <a:t>л</a:t>
            </a:r>
            <a:r>
              <a:rPr lang="bg-BG" sz="2400" i="1" dirty="0"/>
              <a:t>: гл. ас. д-р Георги </a:t>
            </a:r>
            <a:r>
              <a:rPr lang="bg-BG" sz="2400" i="1" dirty="0" smtClean="0"/>
              <a:t>Петков</a:t>
            </a:r>
            <a:endParaRPr lang="en-US" sz="2400" i="1" dirty="0" smtClean="0"/>
          </a:p>
          <a:p>
            <a:pPr algn="r"/>
            <a:r>
              <a:rPr lang="bg-BG" sz="2400" i="1" dirty="0" smtClean="0"/>
              <a:t>Рецензент: гл. ас. д-р Иван Ванков </a:t>
            </a:r>
            <a:endParaRPr lang="bg-BG" sz="2400" i="1" dirty="0"/>
          </a:p>
          <a:p>
            <a:endParaRPr lang="bg-BG" sz="2400" i="1" dirty="0"/>
          </a:p>
        </p:txBody>
      </p:sp>
    </p:spTree>
    <p:extLst>
      <p:ext uri="{BB962C8B-B14F-4D97-AF65-F5344CB8AC3E}">
        <p14:creationId xmlns:p14="http://schemas.microsoft.com/office/powerpoint/2010/main" val="104836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Autofit/>
          </a:bodyPr>
          <a:lstStyle/>
          <a:p>
            <a:r>
              <a:rPr lang="bg-BG" sz="3200" i="1" dirty="0" smtClean="0"/>
              <a:t>Закотвяне </a:t>
            </a:r>
            <a:r>
              <a:rPr lang="en-US" sz="3200" i="1" dirty="0" smtClean="0"/>
              <a:t>(anchoring)</a:t>
            </a:r>
            <a:r>
              <a:rPr lang="bg-BG" sz="3200" i="1" dirty="0" smtClean="0"/>
              <a:t>:</a:t>
            </a:r>
            <a:r>
              <a:rPr lang="bg-BG" sz="3200" dirty="0" smtClean="0"/>
              <a:t> дефиниции и общи закономерности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bg-BG" dirty="0" smtClean="0"/>
              <a:t>Закотвянето като: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Процедура;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Експериментален резултат;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r>
              <a:rPr lang="bg-BG" dirty="0" smtClean="0"/>
              <a:t>Психологически процес;</a:t>
            </a:r>
          </a:p>
          <a:p>
            <a:pPr>
              <a:buFont typeface="Wingdings" pitchFamily="2" charset="2"/>
              <a:buChar char="Ø"/>
            </a:pPr>
            <a:r>
              <a:rPr lang="bg-BG" dirty="0" smtClean="0"/>
              <a:t>Недостатъчно отместване (дори при):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/>
              <a:t>Н</a:t>
            </a:r>
            <a:r>
              <a:rPr lang="bg-BG" dirty="0" smtClean="0"/>
              <a:t>ереалистични котви;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Предупреждаване;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Ø"/>
            </a:pPr>
            <a:r>
              <a:rPr lang="bg-BG" dirty="0" smtClean="0"/>
              <a:t>Поощрения за точност;</a:t>
            </a:r>
          </a:p>
          <a:p>
            <a:pPr marL="457200" lvl="1" indent="0" algn="r">
              <a:buNone/>
            </a:pPr>
            <a:r>
              <a:rPr lang="bg-BG" dirty="0"/>
              <a:t>(</a:t>
            </a:r>
            <a:r>
              <a:rPr lang="en-US" dirty="0"/>
              <a:t>Chapman</a:t>
            </a:r>
            <a:r>
              <a:rPr lang="bg-BG" dirty="0"/>
              <a:t> &amp; </a:t>
            </a:r>
            <a:r>
              <a:rPr lang="en-US" dirty="0"/>
              <a:t>Johnson</a:t>
            </a:r>
            <a:r>
              <a:rPr lang="bg-BG" dirty="0"/>
              <a:t>, 2002)</a:t>
            </a:r>
          </a:p>
        </p:txBody>
      </p:sp>
    </p:spTree>
    <p:extLst>
      <p:ext uri="{BB962C8B-B14F-4D97-AF65-F5344CB8AC3E}">
        <p14:creationId xmlns:p14="http://schemas.microsoft.com/office/powerpoint/2010/main" val="128236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bg-BG" sz="3200" dirty="0" smtClean="0"/>
              <a:t>Евристиката закотвяне и приспособяване: експериментална парадигма и теоретични модели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bg-BG" dirty="0" smtClean="0"/>
              <a:t>Експериментална парадигма – подвойкови въпроси за фактологическо знание: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Първи, сравнителен въпрос;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r>
              <a:rPr lang="bg-BG" dirty="0" smtClean="0"/>
              <a:t>Втори, абсолютен въпрос;</a:t>
            </a:r>
          </a:p>
          <a:p>
            <a:pPr>
              <a:buFont typeface="Wingdings" pitchFamily="2" charset="2"/>
              <a:buChar char="Ø"/>
            </a:pPr>
            <a:r>
              <a:rPr lang="bg-BG" dirty="0" smtClean="0"/>
              <a:t>Две групи теоретични модели: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Свързани с несигурността на И.Л.</a:t>
            </a:r>
            <a:r>
              <a:rPr lang="en-US" dirty="0" smtClean="0"/>
              <a:t> </a:t>
            </a:r>
            <a:r>
              <a:rPr lang="bg-BG" dirty="0"/>
              <a:t>з</a:t>
            </a:r>
            <a:r>
              <a:rPr lang="bg-BG" dirty="0" smtClean="0"/>
              <a:t>а отговора си;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Ø"/>
            </a:pPr>
            <a:r>
              <a:rPr lang="bg-BG" dirty="0" smtClean="0"/>
              <a:t>Свързани с ограничеността на когнитивните ресурси;</a:t>
            </a:r>
          </a:p>
          <a:p>
            <a:pPr marL="457200" lvl="1" indent="0" algn="r">
              <a:buNone/>
            </a:pPr>
            <a:r>
              <a:rPr lang="bg-BG" dirty="0" smtClean="0"/>
              <a:t>(</a:t>
            </a:r>
            <a:r>
              <a:rPr lang="en-US" dirty="0" smtClean="0"/>
              <a:t>Chapman</a:t>
            </a:r>
            <a:r>
              <a:rPr lang="bg-BG" dirty="0" smtClean="0"/>
              <a:t> &amp; </a:t>
            </a:r>
            <a:r>
              <a:rPr lang="en-US" dirty="0" smtClean="0"/>
              <a:t>Johnson</a:t>
            </a:r>
            <a:r>
              <a:rPr lang="bg-BG" dirty="0" smtClean="0"/>
              <a:t>, 2002)</a:t>
            </a:r>
          </a:p>
          <a:p>
            <a:pPr lvl="1">
              <a:buFont typeface="Wingdings" pitchFamily="2" charset="2"/>
              <a:buChar char="Ø"/>
            </a:pPr>
            <a:endParaRPr lang="bg-BG" dirty="0" smtClean="0"/>
          </a:p>
          <a:p>
            <a:pPr lvl="1">
              <a:buFont typeface="Wingdings" pitchFamily="2" charset="2"/>
              <a:buChar char="Ø"/>
            </a:pPr>
            <a:endParaRPr lang="bg-BG" dirty="0" smtClean="0"/>
          </a:p>
          <a:p>
            <a:pPr lvl="1">
              <a:buFont typeface="Wingdings" pitchFamily="2" charset="2"/>
              <a:buChar char="Ø"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420434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Autofit/>
          </a:bodyPr>
          <a:lstStyle/>
          <a:p>
            <a:r>
              <a:rPr lang="bg-BG" sz="3200" i="1" dirty="0" smtClean="0"/>
              <a:t>Модел </a:t>
            </a:r>
            <a:r>
              <a:rPr lang="bg-BG" sz="3200" i="1" dirty="0"/>
              <a:t>на селективната достъпност (</a:t>
            </a:r>
            <a:r>
              <a:rPr lang="en-US" sz="3200" i="1" dirty="0"/>
              <a:t>selective accessibility model</a:t>
            </a:r>
            <a:r>
              <a:rPr lang="bg-BG" sz="3200" i="1" dirty="0" smtClean="0"/>
              <a:t>) - </a:t>
            </a:r>
            <a:r>
              <a:rPr lang="en-US" sz="3200" dirty="0" err="1"/>
              <a:t>Strack</a:t>
            </a:r>
            <a:r>
              <a:rPr lang="bg-BG" sz="3200" dirty="0"/>
              <a:t> &amp; </a:t>
            </a:r>
            <a:r>
              <a:rPr lang="en-US" sz="3200" dirty="0" err="1"/>
              <a:t>Mussweiler</a:t>
            </a:r>
            <a:r>
              <a:rPr lang="bg-BG" sz="3200" dirty="0"/>
              <a:t> (1997) </a:t>
            </a:r>
            <a:endParaRPr lang="bg-BG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dirty="0" smtClean="0"/>
              <a:t>Anchor </a:t>
            </a:r>
            <a:r>
              <a:rPr lang="bg-BG" dirty="0" smtClean="0"/>
              <a:t>ефектът като специален случай на семантичен прайминг;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Не </a:t>
            </a:r>
            <a:r>
              <a:rPr lang="bg-BG" dirty="0"/>
              <a:t>е ригиден феномен, а се проявява по различен начин в зависимост от логическите връзки, в които влизат </a:t>
            </a:r>
            <a:r>
              <a:rPr lang="bg-BG" dirty="0" smtClean="0"/>
              <a:t>сравнителният </a:t>
            </a:r>
            <a:r>
              <a:rPr lang="bg-BG" dirty="0"/>
              <a:t>и абсолютният </a:t>
            </a:r>
            <a:r>
              <a:rPr lang="bg-BG" dirty="0" smtClean="0"/>
              <a:t>въпрос;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/>
              <a:t>П</a:t>
            </a:r>
            <a:r>
              <a:rPr lang="bg-BG" smtClean="0"/>
              <a:t>риложение </a:t>
            </a:r>
            <a:r>
              <a:rPr lang="bg-BG" dirty="0"/>
              <a:t>на </a:t>
            </a:r>
            <a:r>
              <a:rPr lang="bg-BG" i="1" dirty="0"/>
              <a:t>стратегията на позитивния тест (</a:t>
            </a:r>
            <a:r>
              <a:rPr lang="en-US" i="1" dirty="0"/>
              <a:t>positive test strategy</a:t>
            </a:r>
            <a:r>
              <a:rPr lang="bg-BG" i="1" dirty="0"/>
              <a:t>)</a:t>
            </a:r>
            <a:r>
              <a:rPr lang="bg-BG" dirty="0"/>
              <a:t> </a:t>
            </a:r>
            <a:r>
              <a:rPr lang="bg-BG" dirty="0" smtClean="0"/>
              <a:t>(</a:t>
            </a:r>
            <a:r>
              <a:rPr lang="en-US" dirty="0" err="1" smtClean="0"/>
              <a:t>Klayman</a:t>
            </a:r>
            <a:r>
              <a:rPr lang="bg-BG" dirty="0" smtClean="0"/>
              <a:t> </a:t>
            </a:r>
            <a:r>
              <a:rPr lang="bg-BG" dirty="0"/>
              <a:t>&amp; </a:t>
            </a:r>
            <a:r>
              <a:rPr lang="en-US" dirty="0" smtClean="0"/>
              <a:t>Ha</a:t>
            </a:r>
            <a:r>
              <a:rPr lang="bg-BG" dirty="0" smtClean="0"/>
              <a:t>, 1987) в условията на отговаряне на подвойкови въпроси;</a:t>
            </a:r>
          </a:p>
        </p:txBody>
      </p:sp>
    </p:spTree>
    <p:extLst>
      <p:ext uri="{BB962C8B-B14F-4D97-AF65-F5344CB8AC3E}">
        <p14:creationId xmlns:p14="http://schemas.microsoft.com/office/powerpoint/2010/main" val="265770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Autofit/>
          </a:bodyPr>
          <a:lstStyle/>
          <a:p>
            <a:r>
              <a:rPr lang="bg-BG" sz="3200" dirty="0" smtClean="0"/>
              <a:t>Предположение...</a:t>
            </a:r>
            <a:endParaRPr lang="bg-BG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Ø"/>
            </a:pPr>
            <a:r>
              <a:rPr lang="bg-BG" dirty="0" smtClean="0"/>
              <a:t>„</a:t>
            </a:r>
            <a:r>
              <a:rPr lang="bg-BG" dirty="0"/>
              <a:t>З</a:t>
            </a:r>
            <a:r>
              <a:rPr lang="bg-BG" dirty="0" smtClean="0"/>
              <a:t>нанието </a:t>
            </a:r>
            <a:r>
              <a:rPr lang="bg-BG" dirty="0"/>
              <a:t>определя обхвата на реалистичните стойности – колкото по-малко знае човек, толкова по-широк е този обхват“ (</a:t>
            </a:r>
            <a:r>
              <a:rPr lang="en-US" dirty="0" err="1"/>
              <a:t>Strack</a:t>
            </a:r>
            <a:r>
              <a:rPr lang="bg-BG" dirty="0"/>
              <a:t> &amp; </a:t>
            </a:r>
            <a:r>
              <a:rPr lang="en-US" dirty="0" err="1"/>
              <a:t>Mussweiler</a:t>
            </a:r>
            <a:r>
              <a:rPr lang="bg-BG" dirty="0"/>
              <a:t>, 1997, </a:t>
            </a:r>
            <a:r>
              <a:rPr lang="en-US" dirty="0"/>
              <a:t>p</a:t>
            </a:r>
            <a:r>
              <a:rPr lang="bg-BG" dirty="0"/>
              <a:t>. 438</a:t>
            </a:r>
            <a:r>
              <a:rPr lang="bg-BG" dirty="0" smtClean="0"/>
              <a:t>);</a:t>
            </a:r>
          </a:p>
          <a:p>
            <a:pPr lvl="1">
              <a:spcAft>
                <a:spcPts val="1200"/>
              </a:spcAft>
              <a:buFontTx/>
              <a:buChar char="-"/>
            </a:pPr>
            <a:r>
              <a:rPr lang="bg-BG" dirty="0" smtClean="0"/>
              <a:t>авторите разглеждат обема и специфичността на априорното знание;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Субективно възприетата увереност в собствените знания като трета характеристика на индивидуалното знание;</a:t>
            </a:r>
          </a:p>
        </p:txBody>
      </p:sp>
    </p:spTree>
    <p:extLst>
      <p:ext uri="{BB962C8B-B14F-4D97-AF65-F5344CB8AC3E}">
        <p14:creationId xmlns:p14="http://schemas.microsoft.com/office/powerpoint/2010/main" val="242233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Autofit/>
          </a:bodyPr>
          <a:lstStyle/>
          <a:p>
            <a:r>
              <a:rPr lang="bg-BG" sz="3200" dirty="0" smtClean="0">
                <a:solidFill>
                  <a:schemeClr val="bg1">
                    <a:lumMod val="50000"/>
                  </a:schemeClr>
                </a:solidFill>
              </a:rPr>
              <a:t>Предположение...</a:t>
            </a:r>
            <a:endParaRPr lang="bg-BG" sz="3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9" y="1628800"/>
            <a:ext cx="9144000" cy="3213253"/>
          </a:xfrm>
        </p:spPr>
      </p:pic>
      <p:sp>
        <p:nvSpPr>
          <p:cNvPr id="5" name="Rectangle 4"/>
          <p:cNvSpPr/>
          <p:nvPr/>
        </p:nvSpPr>
        <p:spPr>
          <a:xfrm>
            <a:off x="467544" y="4941168"/>
            <a:ext cx="82809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i="1" dirty="0"/>
              <a:t>Фигура 1.</a:t>
            </a:r>
            <a:r>
              <a:rPr lang="bg-BG" sz="2000" dirty="0"/>
              <a:t> Предполагаемо влияние на негативната обратна информация за верността на собственото знание върху конструирането на субективни доверителни интервали.</a:t>
            </a:r>
          </a:p>
        </p:txBody>
      </p:sp>
    </p:spTree>
    <p:extLst>
      <p:ext uri="{BB962C8B-B14F-4D97-AF65-F5344CB8AC3E}">
        <p14:creationId xmlns:p14="http://schemas.microsoft.com/office/powerpoint/2010/main" val="242670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smtClean="0"/>
              <a:t>Цел и хипотези на изследването: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bg-BG" dirty="0" smtClean="0"/>
              <a:t>Цел: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r>
              <a:rPr lang="bg-BG" dirty="0" smtClean="0"/>
              <a:t>Експериментална проверка на влиянието на негативната обратна информация за верността на собствено знание върху прилагането на евристиката закотвяне и корекция</a:t>
            </a:r>
            <a:r>
              <a:rPr lang="en-US" dirty="0" smtClean="0"/>
              <a:t>;</a:t>
            </a:r>
          </a:p>
          <a:p>
            <a:pPr>
              <a:buFont typeface="Wingdings" pitchFamily="2" charset="2"/>
              <a:buChar char="Ø"/>
            </a:pPr>
            <a:r>
              <a:rPr lang="bg-BG" dirty="0" smtClean="0"/>
              <a:t>Хипотеза: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/>
              <a:t>Н</a:t>
            </a:r>
            <a:r>
              <a:rPr lang="bg-BG" dirty="0" smtClean="0"/>
              <a:t>аличието </a:t>
            </a:r>
            <a:r>
              <a:rPr lang="bg-BG" dirty="0"/>
              <a:t>на негативна обратна информация ще </a:t>
            </a:r>
            <a:r>
              <a:rPr lang="bg-BG" dirty="0" smtClean="0"/>
              <a:t>засили наблюдавания </a:t>
            </a:r>
            <a:r>
              <a:rPr lang="bg-BG" dirty="0"/>
              <a:t>ефект на </a:t>
            </a:r>
            <a:r>
              <a:rPr lang="en-US" i="1" dirty="0"/>
              <a:t>anchoring and </a:t>
            </a:r>
            <a:r>
              <a:rPr lang="en-US" i="1" dirty="0" smtClean="0"/>
              <a:t>adjustment</a:t>
            </a:r>
            <a:r>
              <a:rPr lang="bg-BG" dirty="0" smtClean="0"/>
              <a:t>;</a:t>
            </a:r>
            <a:endParaRPr lang="bg-BG" dirty="0"/>
          </a:p>
          <a:p>
            <a:pPr lvl="1">
              <a:buFont typeface="Wingdings" pitchFamily="2" charset="2"/>
              <a:buChar char="Ø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6836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smtClean="0"/>
              <a:t>Метод на изследването: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bg-BG" sz="2800" dirty="0" smtClean="0"/>
              <a:t>Дизайн: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r>
              <a:rPr lang="bg-BG" sz="2400" dirty="0" smtClean="0"/>
              <a:t>Двуфакторен смесен експериментален дизайн;</a:t>
            </a:r>
          </a:p>
          <a:p>
            <a:pPr marL="457200" lvl="1" indent="0">
              <a:buNone/>
            </a:pPr>
            <a:r>
              <a:rPr lang="bg-BG" sz="2000" i="1" dirty="0" smtClean="0"/>
              <a:t>Таблица </a:t>
            </a:r>
            <a:r>
              <a:rPr lang="bg-BG" sz="2000" i="1" dirty="0"/>
              <a:t>1.</a:t>
            </a:r>
            <a:r>
              <a:rPr lang="bg-BG" sz="2000" dirty="0"/>
              <a:t> Дизайн на експеримента. Фактор </a:t>
            </a:r>
            <a:r>
              <a:rPr lang="en-US" sz="2000" dirty="0"/>
              <a:t>I</a:t>
            </a:r>
            <a:r>
              <a:rPr lang="bg-BG" sz="2000" dirty="0"/>
              <a:t> е междугрупов, а фактор </a:t>
            </a:r>
            <a:r>
              <a:rPr lang="en-US" sz="2000" dirty="0"/>
              <a:t>II</a:t>
            </a:r>
            <a:r>
              <a:rPr lang="bg-BG" sz="2000" dirty="0"/>
              <a:t> – вътрегрупов.</a:t>
            </a:r>
          </a:p>
          <a:p>
            <a:pPr lvl="1">
              <a:buFont typeface="Wingdings" pitchFamily="2" charset="2"/>
              <a:buChar char="Ø"/>
            </a:pPr>
            <a:endParaRPr lang="bg-BG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70949"/>
              </p:ext>
            </p:extLst>
          </p:nvPr>
        </p:nvGraphicFramePr>
        <p:xfrm>
          <a:off x="971600" y="3068960"/>
          <a:ext cx="7389306" cy="3611741"/>
        </p:xfrm>
        <a:graphic>
          <a:graphicData uri="http://schemas.openxmlformats.org/drawingml/2006/table">
            <a:tbl>
              <a:tblPr firstRow="1" firstCol="1" bandRow="1"/>
              <a:tblGrid>
                <a:gridCol w="2929412"/>
                <a:gridCol w="1023530"/>
                <a:gridCol w="1136631"/>
                <a:gridCol w="1067647"/>
                <a:gridCol w="1232086"/>
              </a:tblGrid>
              <a:tr h="1527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 u="sng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Фактор </a:t>
                      </a:r>
                      <a:r>
                        <a:rPr lang="en-US" sz="1800" u="sng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I</a:t>
                      </a:r>
                      <a:endParaRPr lang="bg-BG" sz="1800" dirty="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Негативна обратна връзка за собственото знание</a:t>
                      </a:r>
                      <a:endParaRPr lang="bg-BG" sz="1800" dirty="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bg-BG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Да</a:t>
                      </a:r>
                      <a:endParaRPr lang="bg-BG" sz="1800" dirty="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bg-BG" sz="18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Не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</a:tr>
              <a:tr h="11133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 u="sng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Фактор </a:t>
                      </a:r>
                      <a:r>
                        <a:rPr lang="en-US" sz="1800" u="sng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II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Вид на котвата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Ниска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(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4 </a:t>
                      </a: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въпроса)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Висока</a:t>
                      </a:r>
                      <a:endParaRPr lang="bg-BG" sz="1800" dirty="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4 </a:t>
                      </a: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въпроса)</a:t>
                      </a:r>
                      <a:endParaRPr lang="bg-BG" sz="1800" dirty="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Ниска</a:t>
                      </a:r>
                      <a:endParaRPr lang="bg-BG" sz="1800" dirty="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4 </a:t>
                      </a: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въпроса)</a:t>
                      </a:r>
                      <a:endParaRPr lang="bg-BG" sz="1800" dirty="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Висока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(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4 </a:t>
                      </a: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въпроса)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088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bg-BG" sz="180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Брой участници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N=50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800" i="1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n=24</a:t>
                      </a:r>
                      <a:endParaRPr lang="bg-BG" sz="180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</a:pP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cs typeface="Times New Roman"/>
                        </a:rPr>
                        <a:t>n=26</a:t>
                      </a:r>
                      <a:endParaRPr lang="bg-BG" sz="1800" dirty="0">
                        <a:solidFill>
                          <a:srgbClr val="000000"/>
                        </a:solidFill>
                        <a:effectLst/>
                        <a:latin typeface="Arial Unicode MS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bg-BG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26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bg-BG" sz="2800" dirty="0" smtClean="0"/>
              <a:t>Стимули:</a:t>
            </a:r>
          </a:p>
          <a:p>
            <a:pPr lvl="1">
              <a:buFont typeface="Wingdings" pitchFamily="2" charset="2"/>
              <a:buChar char="Ø"/>
            </a:pPr>
            <a:r>
              <a:rPr lang="bg-BG" sz="2400" dirty="0"/>
              <a:t>В първата част на експеримента се задават следните въпроси:</a:t>
            </a:r>
          </a:p>
          <a:p>
            <a:pPr marL="0" lvl="0" indent="0">
              <a:buNone/>
            </a:pPr>
            <a:r>
              <a:rPr lang="bg-BG" sz="2400" i="1" dirty="0" smtClean="0"/>
              <a:t>	</a:t>
            </a:r>
            <a:r>
              <a:rPr lang="bg-BG" sz="2000" i="1" dirty="0" smtClean="0"/>
              <a:t>Колко </a:t>
            </a:r>
            <a:r>
              <a:rPr lang="bg-BG" sz="2000" i="1" dirty="0"/>
              <a:t>на брой са океаните на Земята?</a:t>
            </a:r>
            <a:endParaRPr lang="bg-BG" sz="2000" dirty="0"/>
          </a:p>
          <a:p>
            <a:pPr marL="0" lvl="0" indent="0">
              <a:buNone/>
            </a:pPr>
            <a:r>
              <a:rPr lang="bg-BG" sz="2000" i="1" dirty="0" smtClean="0"/>
              <a:t>	Доколко </a:t>
            </a:r>
            <a:r>
              <a:rPr lang="bg-BG" sz="2000" i="1" dirty="0"/>
              <a:t>сте сигурни в отговора си</a:t>
            </a:r>
            <a:r>
              <a:rPr lang="bg-BG" sz="2000" i="1" dirty="0" smtClean="0"/>
              <a:t>?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bg-BG" sz="2000" i="1" dirty="0"/>
              <a:t>	</a:t>
            </a:r>
            <a:r>
              <a:rPr lang="bg-BG" sz="2000" i="1" dirty="0" smtClean="0"/>
              <a:t>					/</a:t>
            </a:r>
            <a:r>
              <a:rPr lang="bg-BG" sz="2000" i="1" dirty="0"/>
              <a:t>в проценти/</a:t>
            </a:r>
            <a:endParaRPr lang="bg-BG" sz="2000" dirty="0"/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r>
              <a:rPr lang="bg-BG" sz="2400" dirty="0" smtClean="0"/>
              <a:t>За експерименталната група следва обяснение:</a:t>
            </a:r>
          </a:p>
          <a:p>
            <a:pPr marL="457200" lvl="1" indent="0">
              <a:buNone/>
            </a:pPr>
            <a:r>
              <a:rPr lang="bg-BG" sz="2000" i="1" dirty="0" smtClean="0"/>
              <a:t>	Още </a:t>
            </a:r>
            <a:r>
              <a:rPr lang="bg-BG" sz="2000" i="1" dirty="0"/>
              <a:t>преди 16 години – през 2000г. Международната </a:t>
            </a:r>
            <a:r>
              <a:rPr lang="bg-BG" sz="2000" i="1" dirty="0" smtClean="0"/>
              <a:t>	хидрографическа </a:t>
            </a:r>
            <a:r>
              <a:rPr lang="bg-BG" sz="2000" i="1" dirty="0"/>
              <a:t>организация (</a:t>
            </a:r>
            <a:r>
              <a:rPr lang="en-US" sz="2000" i="1" dirty="0"/>
              <a:t>IHO</a:t>
            </a:r>
            <a:r>
              <a:rPr lang="bg-BG" sz="2000" i="1" dirty="0"/>
              <a:t>) дефинира разделение на </a:t>
            </a:r>
            <a:r>
              <a:rPr lang="bg-BG" sz="2000" i="1" dirty="0" smtClean="0"/>
              <a:t>	Световния </a:t>
            </a:r>
            <a:r>
              <a:rPr lang="bg-BG" sz="2000" i="1" dirty="0"/>
              <a:t>океан на пет части: Тихи океан, Атлантически </a:t>
            </a:r>
            <a:r>
              <a:rPr lang="bg-BG" sz="2000" i="1" dirty="0" smtClean="0"/>
              <a:t>	океан</a:t>
            </a:r>
            <a:r>
              <a:rPr lang="bg-BG" sz="2000" i="1" dirty="0"/>
              <a:t>, Индийски океан, Северен ледовит океан и Южен океан.</a:t>
            </a:r>
            <a:endParaRPr lang="bg-BG" sz="2000" dirty="0" smtClean="0"/>
          </a:p>
        </p:txBody>
      </p:sp>
    </p:spTree>
    <p:extLst>
      <p:ext uri="{BB962C8B-B14F-4D97-AF65-F5344CB8AC3E}">
        <p14:creationId xmlns:p14="http://schemas.microsoft.com/office/powerpoint/2010/main" val="239818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bg-BG" sz="2800" dirty="0" smtClean="0"/>
              <a:t>Стимули:</a:t>
            </a:r>
          </a:p>
          <a:p>
            <a:pPr lvl="1">
              <a:buFont typeface="Wingdings" pitchFamily="2" charset="2"/>
              <a:buChar char="Ø"/>
            </a:pPr>
            <a:r>
              <a:rPr lang="bg-BG" sz="2400" dirty="0" smtClean="0"/>
              <a:t>Във втората част на експеримента се задават подвойкови въпроси във вида:</a:t>
            </a:r>
          </a:p>
          <a:p>
            <a:pPr marL="0" lvl="0" indent="0">
              <a:buNone/>
            </a:pPr>
            <a:r>
              <a:rPr lang="bg-BG" sz="2400" i="1" dirty="0" smtClean="0"/>
              <a:t>	</a:t>
            </a:r>
            <a:r>
              <a:rPr lang="bg-BG" sz="2000" i="1" dirty="0" smtClean="0"/>
              <a:t>Кога е роден Леонардо да Винчи – преди или след 1698г.?</a:t>
            </a:r>
            <a:endParaRPr lang="bg-BG" sz="2000" dirty="0" smtClean="0"/>
          </a:p>
          <a:p>
            <a:pPr marL="0" lvl="0" indent="0">
              <a:spcAft>
                <a:spcPts val="1200"/>
              </a:spcAft>
              <a:buNone/>
            </a:pPr>
            <a:r>
              <a:rPr lang="bg-BG" sz="2000" i="1" dirty="0" smtClean="0"/>
              <a:t>	Кога точно е роден Леонардо да Винчи?</a:t>
            </a:r>
            <a:endParaRPr lang="bg-BG" sz="2000" dirty="0" smtClean="0"/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r>
              <a:rPr lang="bg-BG" sz="2400" dirty="0" smtClean="0"/>
              <a:t>Използваните въпроси и котви са взети наготово от </a:t>
            </a:r>
            <a:r>
              <a:rPr lang="bg-BG" sz="2400" i="1" dirty="0"/>
              <a:t>експеримент </a:t>
            </a:r>
            <a:r>
              <a:rPr lang="bg-BG" sz="2400" i="1" dirty="0" smtClean="0"/>
              <a:t>3,</a:t>
            </a:r>
            <a:r>
              <a:rPr lang="bg-BG" sz="2400" dirty="0" smtClean="0"/>
              <a:t> </a:t>
            </a:r>
            <a:r>
              <a:rPr lang="en-US" sz="2400" dirty="0" err="1"/>
              <a:t>Strack</a:t>
            </a:r>
            <a:r>
              <a:rPr lang="en-US" sz="2400" dirty="0"/>
              <a:t> &amp; </a:t>
            </a:r>
            <a:r>
              <a:rPr lang="en-US" sz="2400" dirty="0" err="1"/>
              <a:t>Mussweiler</a:t>
            </a:r>
            <a:r>
              <a:rPr lang="bg-BG" sz="2400" dirty="0"/>
              <a:t> (</a:t>
            </a:r>
            <a:r>
              <a:rPr lang="en-US" sz="2400" dirty="0"/>
              <a:t>1997</a:t>
            </a:r>
            <a:r>
              <a:rPr lang="bg-BG" sz="2400" dirty="0" smtClean="0"/>
              <a:t>);</a:t>
            </a:r>
            <a:endParaRPr lang="bg-BG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9866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  <a:buFont typeface="Wingdings" pitchFamily="2" charset="2"/>
              <a:buChar char="Ø"/>
            </a:pPr>
            <a:r>
              <a:rPr lang="bg-BG" sz="3000" dirty="0" smtClean="0"/>
              <a:t>Процедура:</a:t>
            </a:r>
          </a:p>
          <a:p>
            <a:pPr lvl="1">
              <a:buFont typeface="Wingdings" pitchFamily="2" charset="2"/>
              <a:buChar char="Ø"/>
            </a:pPr>
            <a:r>
              <a:rPr lang="bg-BG" sz="2400" dirty="0" smtClean="0"/>
              <a:t>Съгласие за участие;</a:t>
            </a:r>
          </a:p>
          <a:p>
            <a:pPr lvl="1">
              <a:buFont typeface="Wingdings" pitchFamily="2" charset="2"/>
              <a:buChar char="Ø"/>
            </a:pPr>
            <a:r>
              <a:rPr lang="bg-BG" sz="2400" dirty="0" smtClean="0"/>
              <a:t>Случайно разпределение по фактора наличие/липса на негативна обратна връзка – чрез получаването на съответния експериментален материал, съдържащ:</a:t>
            </a:r>
          </a:p>
          <a:p>
            <a:pPr lvl="2">
              <a:buFont typeface="Wingdings" pitchFamily="2" charset="2"/>
              <a:buChar char="Ø"/>
            </a:pPr>
            <a:r>
              <a:rPr lang="bg-BG" dirty="0" smtClean="0"/>
              <a:t>Инструкции и примерен въпрос;</a:t>
            </a:r>
          </a:p>
          <a:p>
            <a:pPr lvl="2">
              <a:buFont typeface="Wingdings" pitchFamily="2" charset="2"/>
              <a:buChar char="Ø"/>
            </a:pPr>
            <a:r>
              <a:rPr lang="bg-BG" dirty="0" smtClean="0"/>
              <a:t>Стимулен материал;</a:t>
            </a:r>
          </a:p>
          <a:p>
            <a:pPr lvl="2">
              <a:buFont typeface="Wingdings" pitchFamily="2" charset="2"/>
              <a:buChar char="Ø"/>
            </a:pPr>
            <a:r>
              <a:rPr lang="bg-BG" dirty="0" smtClean="0"/>
              <a:t>Допълнение;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r>
              <a:rPr lang="bg-BG" sz="2400" dirty="0" smtClean="0"/>
              <a:t>Дебрифинг;</a:t>
            </a:r>
          </a:p>
          <a:p>
            <a:pPr>
              <a:spcAft>
                <a:spcPts val="600"/>
              </a:spcAft>
              <a:buFont typeface="Wingdings" pitchFamily="2" charset="2"/>
              <a:buChar char="Ø"/>
            </a:pPr>
            <a:r>
              <a:rPr lang="bg-BG" sz="3000" dirty="0" smtClean="0"/>
              <a:t>Начин на събиране на емпиричните данни:</a:t>
            </a:r>
          </a:p>
          <a:p>
            <a:pPr lvl="1">
              <a:spcAft>
                <a:spcPts val="600"/>
              </a:spcAft>
              <a:buFont typeface="Wingdings" pitchFamily="2" charset="2"/>
              <a:buChar char="Ø"/>
            </a:pPr>
            <a:r>
              <a:rPr lang="bg-BG" sz="2400" dirty="0" smtClean="0"/>
              <a:t>В присъствие на експериментатора;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Ø"/>
            </a:pPr>
            <a:r>
              <a:rPr lang="bg-BG" sz="2400" dirty="0" smtClean="0"/>
              <a:t>Индивидуално (</a:t>
            </a:r>
            <a:r>
              <a:rPr lang="en-US" sz="2400" i="1" dirty="0" smtClean="0"/>
              <a:t>n</a:t>
            </a:r>
            <a:r>
              <a:rPr lang="en-US" sz="2400" dirty="0" smtClean="0"/>
              <a:t>=10, </a:t>
            </a:r>
            <a:r>
              <a:rPr lang="bg-BG" sz="2400" dirty="0" smtClean="0"/>
              <a:t>или 20%) и в малки групи (</a:t>
            </a:r>
            <a:r>
              <a:rPr lang="en-US" sz="2400" i="1" dirty="0" smtClean="0"/>
              <a:t>n</a:t>
            </a:r>
            <a:r>
              <a:rPr lang="en-US" sz="2400" dirty="0" smtClean="0"/>
              <a:t>=40, </a:t>
            </a:r>
            <a:r>
              <a:rPr lang="bg-BG" sz="2400" dirty="0" smtClean="0"/>
              <a:t>или 80%);</a:t>
            </a:r>
          </a:p>
          <a:p>
            <a:pPr lvl="2">
              <a:buFont typeface="Wingdings" pitchFamily="2" charset="2"/>
              <a:buChar char="Ø"/>
            </a:pPr>
            <a:endParaRPr lang="bg-BG" sz="2000" dirty="0" smtClean="0"/>
          </a:p>
        </p:txBody>
      </p:sp>
    </p:spTree>
    <p:extLst>
      <p:ext uri="{BB962C8B-B14F-4D97-AF65-F5344CB8AC3E}">
        <p14:creationId xmlns:p14="http://schemas.microsoft.com/office/powerpoint/2010/main" val="46220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bg-BG" sz="2800" dirty="0" smtClean="0"/>
              <a:t>Участници:</a:t>
            </a:r>
          </a:p>
          <a:p>
            <a:pPr>
              <a:buFont typeface="Wingdings" pitchFamily="2" charset="2"/>
              <a:buChar char="Ø"/>
            </a:pPr>
            <a:r>
              <a:rPr lang="bg-BG" sz="2400" dirty="0" smtClean="0"/>
              <a:t>72 студенти на НБУ, от които:</a:t>
            </a:r>
          </a:p>
          <a:p>
            <a:pPr lvl="1">
              <a:buFont typeface="Wingdings" pitchFamily="2" charset="2"/>
              <a:buChar char="Ø"/>
            </a:pPr>
            <a:r>
              <a:rPr lang="bg-BG" sz="2400" dirty="0" smtClean="0"/>
              <a:t>22 отпаднали:</a:t>
            </a:r>
          </a:p>
          <a:p>
            <a:pPr lvl="2">
              <a:buFont typeface="Wingdings" pitchFamily="2" charset="2"/>
              <a:buChar char="Ø"/>
            </a:pPr>
            <a:r>
              <a:rPr lang="bg-BG" dirty="0" smtClean="0"/>
              <a:t> 1 заради невъведени данни;</a:t>
            </a:r>
          </a:p>
          <a:p>
            <a:pPr lvl="2">
              <a:buFont typeface="Wingdings" pitchFamily="2" charset="2"/>
              <a:buChar char="Ø"/>
            </a:pPr>
            <a:r>
              <a:rPr lang="bg-BG" dirty="0" smtClean="0"/>
              <a:t> 3 поради отказване;</a:t>
            </a:r>
          </a:p>
          <a:p>
            <a:pPr lvl="2">
              <a:buFont typeface="Wingdings" pitchFamily="2" charset="2"/>
              <a:buChar char="Ø"/>
            </a:pPr>
            <a:r>
              <a:rPr lang="bg-BG" dirty="0" smtClean="0"/>
              <a:t> 18 поради даване на верен отговор на задачата за океаните;</a:t>
            </a:r>
          </a:p>
          <a:p>
            <a:pPr lvl="1">
              <a:buFont typeface="Wingdings" pitchFamily="2" charset="2"/>
              <a:buChar char="Ø"/>
            </a:pPr>
            <a:r>
              <a:rPr lang="bg-BG" sz="2400" dirty="0" smtClean="0"/>
              <a:t>50 формират извадката:</a:t>
            </a:r>
          </a:p>
          <a:p>
            <a:pPr lvl="2">
              <a:buFont typeface="Wingdings" pitchFamily="2" charset="2"/>
              <a:buChar char="Ø"/>
            </a:pPr>
            <a:r>
              <a:rPr lang="bg-BG" sz="2000" dirty="0"/>
              <a:t> </a:t>
            </a:r>
            <a:r>
              <a:rPr lang="bg-BG" dirty="0" smtClean="0"/>
              <a:t>Хомогенна по възраст (</a:t>
            </a:r>
            <a:r>
              <a:rPr lang="bg-BG" i="1" dirty="0" smtClean="0"/>
              <a:t>М</a:t>
            </a:r>
            <a:r>
              <a:rPr lang="bg-BG" dirty="0" smtClean="0"/>
              <a:t> = 22.17, </a:t>
            </a:r>
            <a:r>
              <a:rPr lang="en-US" i="1" dirty="0" smtClean="0"/>
              <a:t>SD</a:t>
            </a:r>
            <a:r>
              <a:rPr lang="en-US" dirty="0" smtClean="0"/>
              <a:t> = 4.86);</a:t>
            </a:r>
          </a:p>
          <a:p>
            <a:pPr lvl="2">
              <a:buFont typeface="Wingdings" pitchFamily="2" charset="2"/>
              <a:buChar char="Ø"/>
            </a:pPr>
            <a:r>
              <a:rPr lang="bg-BG" dirty="0" smtClean="0"/>
              <a:t> Небалансирана по пол (24% мъже и 76% жени);</a:t>
            </a:r>
          </a:p>
          <a:p>
            <a:pPr lvl="2">
              <a:buFont typeface="Wingdings" pitchFamily="2" charset="2"/>
              <a:buChar char="Ø"/>
            </a:pPr>
            <a:r>
              <a:rPr lang="bg-BG" dirty="0"/>
              <a:t> </a:t>
            </a:r>
            <a:r>
              <a:rPr lang="bg-BG" dirty="0" smtClean="0"/>
              <a:t>Преобладаващо непсихолози (76%), както и психолози-първокурсници (24%)</a:t>
            </a:r>
          </a:p>
        </p:txBody>
      </p:sp>
    </p:spTree>
    <p:extLst>
      <p:ext uri="{BB962C8B-B14F-4D97-AF65-F5344CB8AC3E}">
        <p14:creationId xmlns:p14="http://schemas.microsoft.com/office/powerpoint/2010/main" val="120818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smtClean="0"/>
              <a:t>Резултати и дискусия. Забележки.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bg-BG" sz="2800" dirty="0" smtClean="0"/>
              <a:t>Забележки относно метода на изследването: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Забележки относно експерименталната манипулация;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Забележки относно участниците;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Забележки към Допълнението;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Забележки към процедурата на изследване;</a:t>
            </a:r>
          </a:p>
          <a:p>
            <a:pPr>
              <a:buFont typeface="Wingdings" pitchFamily="2" charset="2"/>
              <a:buChar char="Ø"/>
            </a:pPr>
            <a:r>
              <a:rPr lang="bg-BG" sz="2800" dirty="0" smtClean="0"/>
              <a:t>Забележки към стимулните въпроси: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Забележки относно използваните котви;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/>
              <a:t>Забележки относно въпроси </a:t>
            </a:r>
            <a:r>
              <a:rPr lang="bg-BG" dirty="0"/>
              <a:t>№7 и №</a:t>
            </a:r>
            <a:r>
              <a:rPr lang="bg-BG" dirty="0" smtClean="0"/>
              <a:t>8;</a:t>
            </a:r>
          </a:p>
          <a:p>
            <a:pPr lvl="1">
              <a:buFont typeface="Wingdings" pitchFamily="2" charset="2"/>
              <a:buChar char="Ø"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Забележки към събираните данни;</a:t>
            </a:r>
          </a:p>
        </p:txBody>
      </p:sp>
    </p:spTree>
    <p:extLst>
      <p:ext uri="{BB962C8B-B14F-4D97-AF65-F5344CB8AC3E}">
        <p14:creationId xmlns:p14="http://schemas.microsoft.com/office/powerpoint/2010/main" val="220969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9252520" cy="850106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bg-BG" sz="2800" dirty="0" smtClean="0">
                <a:latin typeface="+mn-lt"/>
              </a:rPr>
              <a:t>Забележки относно експерименталната манипулация:</a:t>
            </a:r>
            <a:endParaRPr lang="bg-BG" sz="2800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806" y="946390"/>
            <a:ext cx="4709020" cy="34560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79047"/>
            <a:ext cx="5070396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7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9252520" cy="850106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bg-BG" sz="2800" dirty="0" smtClean="0">
                <a:latin typeface="+mn-lt"/>
              </a:rPr>
              <a:t>Забележки относно използваните котви:</a:t>
            </a:r>
            <a:endParaRPr lang="bg-BG" sz="2800" dirty="0">
              <a:latin typeface="+mn-lt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96752"/>
            <a:ext cx="8856984" cy="3864285"/>
          </a:xfrm>
        </p:spPr>
      </p:pic>
    </p:spTree>
    <p:extLst>
      <p:ext uri="{BB962C8B-B14F-4D97-AF65-F5344CB8AC3E}">
        <p14:creationId xmlns:p14="http://schemas.microsoft.com/office/powerpoint/2010/main" val="407879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Резултати и дискусия. Забележки.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bg-BG" dirty="0" smtClean="0"/>
              <a:t>Заключения от забележките:</a:t>
            </a:r>
          </a:p>
          <a:p>
            <a:pPr>
              <a:buFont typeface="Wingdings" pitchFamily="2" charset="2"/>
              <a:buChar char="Ø"/>
            </a:pPr>
            <a:r>
              <a:rPr lang="bg-BG" sz="2800" dirty="0" smtClean="0"/>
              <a:t>Проблем </a:t>
            </a:r>
            <a:r>
              <a:rPr lang="bg-BG" sz="2800" dirty="0"/>
              <a:t>1</a:t>
            </a:r>
            <a:r>
              <a:rPr lang="bg-BG" sz="2800" dirty="0" smtClean="0"/>
              <a:t>: Слаба експериментална манипулация. Решение: Формиране на подизвадка на участниците с висока убеденост в погрешното знание (</a:t>
            </a:r>
            <a:r>
              <a:rPr lang="ru-RU" sz="2800" dirty="0" smtClean="0"/>
              <a:t>при </a:t>
            </a:r>
            <a:r>
              <a:rPr lang="ru-RU" sz="2800" dirty="0"/>
              <a:t>сигурност от 80% и повече, </a:t>
            </a:r>
            <a:r>
              <a:rPr lang="ru-RU" sz="2800" i="1" dirty="0"/>
              <a:t>n=23</a:t>
            </a:r>
            <a:r>
              <a:rPr lang="ru-RU" sz="2800" dirty="0"/>
              <a:t>, т.е. 46% от цялата извадка</a:t>
            </a:r>
            <a:r>
              <a:rPr lang="ru-RU" sz="2800" dirty="0" smtClean="0"/>
              <a:t>);</a:t>
            </a:r>
          </a:p>
          <a:p>
            <a:pPr>
              <a:buFont typeface="Wingdings" pitchFamily="2" charset="2"/>
              <a:buChar char="Ø"/>
            </a:pPr>
            <a:r>
              <a:rPr lang="ru-RU" sz="2800" dirty="0" smtClean="0"/>
              <a:t>Проблем 2: Силно разсейване на данните – проблем с посоката на действието на корекцията. Решение: Трансформация на отговорите в </a:t>
            </a:r>
            <a:r>
              <a:rPr lang="bg-BG" sz="2800" dirty="0" smtClean="0"/>
              <a:t>„отместване от котвата“;</a:t>
            </a:r>
            <a:endParaRPr lang="ru-RU" sz="2800" dirty="0" smtClean="0"/>
          </a:p>
          <a:p>
            <a:endParaRPr lang="ru-RU" dirty="0"/>
          </a:p>
          <a:p>
            <a:pPr>
              <a:buFont typeface="Wingdings" pitchFamily="2" charset="2"/>
              <a:buChar char="Ø"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68422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sz="3600" dirty="0" smtClean="0"/>
              <a:t>Резултати и дискусия. Прилагане на статистически анализи.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58924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bg-BG" sz="2400" dirty="0" smtClean="0"/>
              <a:t>Хипотеза: Наличието на негативна обратна информация ще засили наблюдавания ефект на </a:t>
            </a:r>
            <a:r>
              <a:rPr lang="en-US" sz="2400" i="1" dirty="0" smtClean="0"/>
              <a:t>anchoring and adjustment</a:t>
            </a:r>
            <a:r>
              <a:rPr lang="bg-BG" sz="2400" dirty="0" smtClean="0"/>
              <a:t>; Предпоставки:</a:t>
            </a:r>
          </a:p>
          <a:p>
            <a:pPr lvl="1">
              <a:buFont typeface="Wingdings" pitchFamily="2" charset="2"/>
              <a:buChar char="Ø"/>
            </a:pPr>
            <a:r>
              <a:rPr lang="bg-BG" sz="2000" dirty="0" smtClean="0"/>
              <a:t>Съществува </a:t>
            </a:r>
            <a:r>
              <a:rPr lang="en-US" sz="2000" dirty="0" smtClean="0"/>
              <a:t>anchor </a:t>
            </a:r>
            <a:r>
              <a:rPr lang="bg-BG" sz="2000" dirty="0" smtClean="0"/>
              <a:t>ефект (влияние на вътрегруповия фактор „посока на котвата“);</a:t>
            </a:r>
          </a:p>
          <a:p>
            <a:pPr lvl="1">
              <a:buFont typeface="Wingdings" pitchFamily="2" charset="2"/>
              <a:buChar char="Ø"/>
            </a:pPr>
            <a:r>
              <a:rPr lang="bg-BG" sz="2000" dirty="0" smtClean="0"/>
              <a:t>Самата експериментална манипулация не променя централната тенденция на даваните сурови отговори (липса на влияние на междугруповия фактор „негативна обратна връзка“);</a:t>
            </a:r>
          </a:p>
          <a:p>
            <a:pPr>
              <a:buFont typeface="Wingdings" pitchFamily="2" charset="2"/>
              <a:buChar char="Ø"/>
            </a:pPr>
            <a:endParaRPr lang="bg-BG" dirty="0" smtClean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4088254"/>
            <a:ext cx="8945533" cy="276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9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Резултати и дискусия. Прилагане на статистически анализи.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1872208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  <a:buFont typeface="Wingdings" pitchFamily="2" charset="2"/>
              <a:buChar char="Ø"/>
            </a:pPr>
            <a:r>
              <a:rPr lang="bg-BG" sz="2800" i="1" dirty="0" smtClean="0"/>
              <a:t>Дисперсионен </a:t>
            </a:r>
            <a:r>
              <a:rPr lang="bg-BG" sz="2800" i="1" dirty="0"/>
              <a:t>анализ с повторими измервания</a:t>
            </a:r>
            <a:r>
              <a:rPr lang="bg-BG" sz="2800" dirty="0"/>
              <a:t> (</a:t>
            </a:r>
            <a:r>
              <a:rPr lang="en-US" sz="2800" dirty="0"/>
              <a:t>Repeated measures ANOVA</a:t>
            </a:r>
            <a:r>
              <a:rPr lang="bg-BG" sz="2800" dirty="0"/>
              <a:t>) с един междугрупов фактор с две нива и един вътрегрупов фактор с две </a:t>
            </a:r>
            <a:r>
              <a:rPr lang="bg-BG" sz="2800" dirty="0" smtClean="0"/>
              <a:t>нива;</a:t>
            </a:r>
            <a:endParaRPr lang="ru-RU" sz="2800" dirty="0"/>
          </a:p>
          <a:p>
            <a:pPr>
              <a:buFont typeface="Wingdings" pitchFamily="2" charset="2"/>
              <a:buChar char="Ø"/>
            </a:pPr>
            <a:endParaRPr lang="bg-BG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49289" y="2996952"/>
            <a:ext cx="8229600" cy="3744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bg-BG" sz="2800" dirty="0"/>
              <a:t>Изхождайки от суровите данни и върху цялата </a:t>
            </a:r>
            <a:r>
              <a:rPr lang="bg-BG" sz="2800" dirty="0" smtClean="0"/>
              <a:t>извадка</a:t>
            </a:r>
            <a:r>
              <a:rPr lang="en-US" sz="2800" dirty="0" smtClean="0"/>
              <a:t>:</a:t>
            </a:r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/>
              <a:t>Вътрегруповият фактор </a:t>
            </a:r>
            <a:r>
              <a:rPr lang="bg-BG" dirty="0" smtClean="0"/>
              <a:t>„вид на </a:t>
            </a:r>
            <a:r>
              <a:rPr lang="bg-BG" dirty="0"/>
              <a:t>котвата“ проявява статистически значим главен ефект (</a:t>
            </a:r>
            <a:r>
              <a:rPr lang="en-US" i="1" dirty="0"/>
              <a:t>F</a:t>
            </a:r>
            <a:r>
              <a:rPr lang="bg-BG" dirty="0"/>
              <a:t>(1,48) = 85.11,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bg-BG" dirty="0"/>
              <a:t>&lt; .000, </a:t>
            </a:r>
            <a:r>
              <a:rPr lang="en-US" i="1" dirty="0"/>
              <a:t>partial η</a:t>
            </a:r>
            <a:r>
              <a:rPr lang="bg-BG" i="1" dirty="0"/>
              <a:t>²</a:t>
            </a:r>
            <a:r>
              <a:rPr lang="bg-BG" dirty="0"/>
              <a:t> = .639</a:t>
            </a:r>
            <a:r>
              <a:rPr lang="bg-BG" dirty="0" smtClean="0"/>
              <a:t>)</a:t>
            </a:r>
            <a:r>
              <a:rPr lang="en-US" dirty="0" smtClean="0"/>
              <a:t> </a:t>
            </a:r>
            <a:r>
              <a:rPr lang="bg-BG" dirty="0" smtClean="0"/>
              <a:t>в очакваната посока</a:t>
            </a:r>
            <a:r>
              <a:rPr lang="en-US" dirty="0" smtClean="0"/>
              <a:t>;</a:t>
            </a:r>
            <a:endParaRPr lang="bg-BG" dirty="0" smtClean="0"/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/>
              <a:t>Н</a:t>
            </a:r>
            <a:r>
              <a:rPr lang="bg-BG" dirty="0" smtClean="0"/>
              <a:t>е се открива </a:t>
            </a:r>
            <a:r>
              <a:rPr lang="bg-BG" dirty="0"/>
              <a:t>значим главен ефект на фактора „негативна обратна връзка“ (</a:t>
            </a:r>
            <a:r>
              <a:rPr lang="en-US" i="1" dirty="0"/>
              <a:t>F</a:t>
            </a:r>
            <a:r>
              <a:rPr lang="bg-BG" dirty="0"/>
              <a:t>(1,48) = 0.53, </a:t>
            </a:r>
            <a:r>
              <a:rPr lang="en-US" i="1" dirty="0"/>
              <a:t>p </a:t>
            </a:r>
            <a:r>
              <a:rPr lang="bg-BG" dirty="0"/>
              <a:t>= .472, </a:t>
            </a:r>
            <a:r>
              <a:rPr lang="en-US" i="1" dirty="0"/>
              <a:t>partial η</a:t>
            </a:r>
            <a:r>
              <a:rPr lang="bg-BG" i="1" dirty="0"/>
              <a:t>² </a:t>
            </a:r>
            <a:r>
              <a:rPr lang="bg-BG" dirty="0"/>
              <a:t>&lt; .000</a:t>
            </a:r>
            <a:r>
              <a:rPr lang="bg-BG" dirty="0" smtClean="0"/>
              <a:t>);</a:t>
            </a:r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 smtClean="0"/>
              <a:t>Не се </a:t>
            </a:r>
            <a:r>
              <a:rPr lang="bg-BG" dirty="0"/>
              <a:t>разкрива предполагаемото взаимодействие между двата фактора (</a:t>
            </a:r>
            <a:r>
              <a:rPr lang="en-US" i="1" dirty="0"/>
              <a:t>F</a:t>
            </a:r>
            <a:r>
              <a:rPr lang="bg-BG" dirty="0"/>
              <a:t>(1,48) = 0.17,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bg-BG" dirty="0"/>
              <a:t>= .683, </a:t>
            </a:r>
            <a:r>
              <a:rPr lang="en-US" i="1" dirty="0"/>
              <a:t>partial η</a:t>
            </a:r>
            <a:r>
              <a:rPr lang="bg-BG" i="1" dirty="0"/>
              <a:t>²</a:t>
            </a:r>
            <a:r>
              <a:rPr lang="bg-BG" dirty="0"/>
              <a:t> = .004</a:t>
            </a:r>
            <a:r>
              <a:rPr lang="bg-BG" dirty="0" smtClean="0"/>
              <a:t>)</a:t>
            </a:r>
            <a:r>
              <a:rPr lang="bg-BG" dirty="0"/>
              <a:t>;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6317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634082"/>
          </a:xfrm>
        </p:spPr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bg-BG" sz="2700" dirty="0">
                <a:latin typeface="+mn-lt"/>
              </a:rPr>
              <a:t>Изхождайки от суровите данни и върху цялата извадка</a:t>
            </a:r>
            <a:r>
              <a:rPr lang="en-US" sz="2700" dirty="0">
                <a:latin typeface="+mn-lt"/>
              </a:rPr>
              <a:t>:</a:t>
            </a:r>
            <a:r>
              <a:rPr lang="en-US" dirty="0"/>
              <a:t/>
            </a:r>
            <a:br>
              <a:rPr lang="en-US" dirty="0"/>
            </a:br>
            <a:endParaRPr lang="bg-B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692696"/>
            <a:ext cx="7275179" cy="6048672"/>
          </a:xfrm>
        </p:spPr>
      </p:pic>
    </p:spTree>
    <p:extLst>
      <p:ext uri="{BB962C8B-B14F-4D97-AF65-F5344CB8AC3E}">
        <p14:creationId xmlns:p14="http://schemas.microsoft.com/office/powerpoint/2010/main" val="367703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Резултати и дискусия. Прилагане на статистически анализи.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46719" y="1772816"/>
            <a:ext cx="8229600" cy="3744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bg-BG" sz="2400" dirty="0"/>
              <a:t>Изхождайки от суровите данни и върху </a:t>
            </a:r>
            <a:r>
              <a:rPr lang="bg-BG" sz="2400" dirty="0" smtClean="0"/>
              <a:t>участниците с висока убеденост в отговора си на въвеждащия въпрос 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dirty="0" smtClean="0"/>
              <a:t>=23):</a:t>
            </a:r>
          </a:p>
          <a:p>
            <a:pPr marL="914400" lvl="1" indent="-514350">
              <a:spcAft>
                <a:spcPts val="1200"/>
              </a:spcAft>
              <a:buFont typeface="+mj-lt"/>
              <a:buAutoNum type="arabicPeriod" startAt="3"/>
            </a:pPr>
            <a:r>
              <a:rPr lang="bg-BG" sz="2400" dirty="0"/>
              <a:t>В</a:t>
            </a:r>
            <a:r>
              <a:rPr lang="bg-BG" sz="2400" dirty="0" smtClean="0"/>
              <a:t>заимодействие (?) между </a:t>
            </a:r>
            <a:r>
              <a:rPr lang="bg-BG" sz="2400" dirty="0"/>
              <a:t>двата фактора </a:t>
            </a:r>
            <a:r>
              <a:rPr lang="bg-BG" sz="2400" dirty="0" smtClean="0"/>
              <a:t>– </a:t>
            </a:r>
            <a:r>
              <a:rPr lang="en-US" sz="2400" i="1" dirty="0" smtClean="0"/>
              <a:t>F</a:t>
            </a:r>
            <a:r>
              <a:rPr lang="bg-BG" sz="2400" dirty="0"/>
              <a:t>(1,21) = 2.05,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bg-BG" sz="2400" dirty="0"/>
              <a:t>= .167, </a:t>
            </a:r>
            <a:r>
              <a:rPr lang="en-US" sz="2400" i="1" dirty="0"/>
              <a:t>partial η</a:t>
            </a:r>
            <a:r>
              <a:rPr lang="bg-BG" sz="2400" i="1" dirty="0"/>
              <a:t>²</a:t>
            </a:r>
            <a:r>
              <a:rPr lang="bg-BG" sz="2400" dirty="0"/>
              <a:t> = .</a:t>
            </a:r>
            <a:r>
              <a:rPr lang="bg-BG" sz="2400" dirty="0" smtClean="0"/>
              <a:t>089 в очакваната посока;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6552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Резултати и дискусия. Прилагане на статистически анализи.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122413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bg-BG" sz="2400" dirty="0" smtClean="0"/>
              <a:t>Хипотеза: Наличието на негативна обратна информация ще засили наблюдавания ефект на </a:t>
            </a:r>
            <a:r>
              <a:rPr lang="en-US" sz="2400" i="1" dirty="0" smtClean="0"/>
              <a:t>anchoring and adjustment</a:t>
            </a:r>
            <a:r>
              <a:rPr lang="bg-BG" sz="2400" dirty="0" smtClean="0"/>
              <a:t>; Директно тестване:</a:t>
            </a:r>
            <a:endParaRPr lang="bg-BG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8329" y="2564904"/>
            <a:ext cx="8229600" cy="3744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1200"/>
              </a:spcAft>
              <a:buFont typeface="+mj-lt"/>
              <a:buAutoNum type="arabicPeriod" startAt="2"/>
            </a:pPr>
            <a:r>
              <a:rPr lang="bg-BG" sz="2800" dirty="0"/>
              <a:t>Изхождайки от </a:t>
            </a:r>
            <a:r>
              <a:rPr lang="bg-BG" sz="2800" dirty="0" smtClean="0"/>
              <a:t>преобразуваните като „отместване от котвата“ отговори и върху цялата извадка</a:t>
            </a:r>
            <a:r>
              <a:rPr lang="en-US" sz="2800" dirty="0" smtClean="0"/>
              <a:t>:</a:t>
            </a:r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 smtClean="0"/>
              <a:t>Не се открива </a:t>
            </a:r>
            <a:r>
              <a:rPr lang="bg-BG" dirty="0"/>
              <a:t>значим главен ефект на фактора „негативна обратна връзка“ (</a:t>
            </a:r>
            <a:r>
              <a:rPr lang="en-US" i="1" dirty="0"/>
              <a:t>F</a:t>
            </a:r>
            <a:r>
              <a:rPr lang="bg-BG" dirty="0"/>
              <a:t>(1,48) = 0.37,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bg-BG" dirty="0"/>
              <a:t>= .548, </a:t>
            </a:r>
            <a:r>
              <a:rPr lang="en-US" i="1" dirty="0"/>
              <a:t>partial η</a:t>
            </a:r>
            <a:r>
              <a:rPr lang="bg-BG" i="1" dirty="0"/>
              <a:t>²</a:t>
            </a:r>
            <a:r>
              <a:rPr lang="bg-BG" dirty="0"/>
              <a:t> = .008)</a:t>
            </a:r>
            <a:r>
              <a:rPr lang="en-US" dirty="0" smtClean="0"/>
              <a:t>;</a:t>
            </a:r>
            <a:endParaRPr lang="bg-BG" dirty="0" smtClean="0"/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„Посока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на котвата“ не проявява статистически значим главен ефект 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(1,48) = 0.47,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= .494,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partial η</a:t>
            </a:r>
            <a:r>
              <a:rPr lang="bg-BG" i="1" dirty="0">
                <a:solidFill>
                  <a:schemeClr val="bg1">
                    <a:lumMod val="50000"/>
                  </a:schemeClr>
                </a:solidFill>
              </a:rPr>
              <a:t>²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 = .010</a:t>
            </a: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Не се открива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взаимодействие между факторите 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(1,48) = 0.02,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= .889,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partial η</a:t>
            </a:r>
            <a:r>
              <a:rPr lang="bg-BG" i="1" dirty="0">
                <a:solidFill>
                  <a:schemeClr val="bg1">
                    <a:lumMod val="50000"/>
                  </a:schemeClr>
                </a:solidFill>
              </a:rPr>
              <a:t>²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 &lt; .000</a:t>
            </a: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);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92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sz="3600" dirty="0" smtClean="0">
                <a:solidFill>
                  <a:schemeClr val="bg1">
                    <a:lumMod val="50000"/>
                  </a:schemeClr>
                </a:solidFill>
              </a:rPr>
              <a:t>Резултати и дискусия. Прилагане на статистически анализи.</a:t>
            </a:r>
            <a:endParaRPr lang="bg-BG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8329" y="1556792"/>
            <a:ext cx="8229600" cy="410445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Aft>
                <a:spcPts val="1200"/>
              </a:spcAft>
              <a:buFont typeface="+mj-lt"/>
              <a:buAutoNum type="arabicPeriod" startAt="2"/>
            </a:pPr>
            <a:r>
              <a:rPr lang="bg-BG" sz="2800" dirty="0"/>
              <a:t>Изхождайки от </a:t>
            </a:r>
            <a:r>
              <a:rPr lang="bg-BG" sz="2800" dirty="0" smtClean="0"/>
              <a:t>преобразуваните като „отместване от котвата“ отговори и върху </a:t>
            </a:r>
            <a:r>
              <a:rPr lang="bg-BG" sz="2800" dirty="0"/>
              <a:t>участниците с висока убеденост в отговора си на въвеждащия въпрос 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=23):</a:t>
            </a:r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 smtClean="0"/>
              <a:t>Открива се главен </a:t>
            </a:r>
            <a:r>
              <a:rPr lang="bg-BG" dirty="0"/>
              <a:t>ефект на фактора „негативна обратна връзка“ (</a:t>
            </a:r>
            <a:r>
              <a:rPr lang="en-US" i="1" dirty="0"/>
              <a:t>F</a:t>
            </a:r>
            <a:r>
              <a:rPr lang="bg-BG" dirty="0"/>
              <a:t>(1,21) = 7.91,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bg-BG" dirty="0"/>
              <a:t>= .010, </a:t>
            </a:r>
            <a:r>
              <a:rPr lang="en-US" i="1" dirty="0"/>
              <a:t>partial η</a:t>
            </a:r>
            <a:r>
              <a:rPr lang="bg-BG" i="1" dirty="0"/>
              <a:t>²</a:t>
            </a:r>
            <a:r>
              <a:rPr lang="bg-BG" dirty="0"/>
              <a:t> = .274</a:t>
            </a:r>
            <a:r>
              <a:rPr lang="bg-BG" dirty="0" smtClean="0"/>
              <a:t>) в очакваната посока;</a:t>
            </a:r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Факторът „посока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на котвата“ не проявява статистически значим главен ефект 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(1,21) = 1.90,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= .183,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partial η</a:t>
            </a:r>
            <a:r>
              <a:rPr lang="bg-BG" i="1" dirty="0">
                <a:solidFill>
                  <a:schemeClr val="bg1">
                    <a:lumMod val="50000"/>
                  </a:schemeClr>
                </a:solidFill>
              </a:rPr>
              <a:t>²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 = .083</a:t>
            </a: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);</a:t>
            </a:r>
          </a:p>
          <a:p>
            <a:pPr marL="914400" lvl="1" indent="-514350">
              <a:spcAft>
                <a:spcPts val="1200"/>
              </a:spcAft>
              <a:buFont typeface="+mj-lt"/>
              <a:buAutoNum type="arabicPeriod"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Не се открива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взаимодействие между факторите 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F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(1,21) = 0.24,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= .629,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partial η</a:t>
            </a:r>
            <a:r>
              <a:rPr lang="bg-BG" i="1" dirty="0">
                <a:solidFill>
                  <a:schemeClr val="bg1">
                    <a:lumMod val="50000"/>
                  </a:schemeClr>
                </a:solidFill>
              </a:rPr>
              <a:t>²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 = .011</a:t>
            </a: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);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93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520" y="476672"/>
            <a:ext cx="9252520" cy="936104"/>
          </a:xfrm>
        </p:spPr>
        <p:txBody>
          <a:bodyPr>
            <a:noAutofit/>
          </a:bodyPr>
          <a:lstStyle/>
          <a:p>
            <a:pPr marL="514350" indent="-514350">
              <a:spcAft>
                <a:spcPts val="1200"/>
              </a:spcAft>
              <a:buFont typeface="+mj-lt"/>
              <a:buAutoNum type="arabicPeriod" startAt="2"/>
            </a:pPr>
            <a:r>
              <a:rPr lang="bg-BG" sz="2400" dirty="0">
                <a:latin typeface="+mn-lt"/>
              </a:rPr>
              <a:t>Изхождайки от преобразуваните като „отместване от котвата“ отговори и върху участниците с висока убеденост в отговора си на въвеждащия въпрос </a:t>
            </a:r>
            <a:r>
              <a:rPr lang="en-US" sz="2400" dirty="0">
                <a:latin typeface="+mn-lt"/>
              </a:rPr>
              <a:t>(</a:t>
            </a:r>
            <a:r>
              <a:rPr lang="en-US" sz="2400" i="1" dirty="0">
                <a:latin typeface="+mn-lt"/>
              </a:rPr>
              <a:t>n</a:t>
            </a:r>
            <a:r>
              <a:rPr lang="en-US" sz="2400" dirty="0">
                <a:latin typeface="+mn-lt"/>
              </a:rPr>
              <a:t>=23):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560497"/>
            <a:ext cx="8527504" cy="5284183"/>
          </a:xfrm>
        </p:spPr>
      </p:pic>
    </p:spTree>
    <p:extLst>
      <p:ext uri="{BB962C8B-B14F-4D97-AF65-F5344CB8AC3E}">
        <p14:creationId xmlns:p14="http://schemas.microsoft.com/office/powerpoint/2010/main" val="32710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Заключение.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bg-BG" dirty="0" smtClean="0"/>
              <a:t>Резултати:</a:t>
            </a:r>
          </a:p>
          <a:p>
            <a:pPr lvl="1"/>
            <a:r>
              <a:rPr lang="bg-BG" dirty="0" smtClean="0"/>
              <a:t>Репликиране на </a:t>
            </a:r>
            <a:r>
              <a:rPr lang="en-US" dirty="0" smtClean="0"/>
              <a:t>anchor </a:t>
            </a:r>
            <a:r>
              <a:rPr lang="bg-BG" dirty="0" smtClean="0"/>
              <a:t>ефекта;</a:t>
            </a:r>
          </a:p>
          <a:p>
            <a:pPr lvl="1"/>
            <a:r>
              <a:rPr lang="bg-BG" dirty="0" smtClean="0"/>
              <a:t>Представянето на единична негативна обратна информация за верността на знанието:</a:t>
            </a:r>
          </a:p>
          <a:p>
            <a:pPr lvl="3"/>
            <a:r>
              <a:rPr lang="bg-BG" sz="2800" dirty="0" smtClean="0"/>
              <a:t>не влияе еднозначно върху централната тенденция на последващи отговори;</a:t>
            </a:r>
          </a:p>
          <a:p>
            <a:pPr lvl="3"/>
            <a:r>
              <a:rPr lang="bg-BG" sz="2800" dirty="0"/>
              <a:t>к</a:t>
            </a:r>
            <a:r>
              <a:rPr lang="bg-BG" sz="2800" dirty="0" smtClean="0"/>
              <a:t>ато цяло не влияе на силата на </a:t>
            </a:r>
            <a:r>
              <a:rPr lang="en-US" sz="2800" dirty="0" smtClean="0"/>
              <a:t>anchor </a:t>
            </a:r>
            <a:r>
              <a:rPr lang="bg-BG" sz="2800" dirty="0" smtClean="0"/>
              <a:t>ефекта;</a:t>
            </a:r>
          </a:p>
          <a:p>
            <a:pPr lvl="3"/>
            <a:r>
              <a:rPr lang="bg-BG" sz="2800" dirty="0"/>
              <a:t>з</a:t>
            </a:r>
            <a:r>
              <a:rPr lang="bg-BG" sz="2800" dirty="0" smtClean="0"/>
              <a:t>а частта от извадката с висока увереност, обаче, засилва ефекта на закотвяне;</a:t>
            </a:r>
          </a:p>
        </p:txBody>
      </p:sp>
    </p:spTree>
    <p:extLst>
      <p:ext uri="{BB962C8B-B14F-4D97-AF65-F5344CB8AC3E}">
        <p14:creationId xmlns:p14="http://schemas.microsoft.com/office/powerpoint/2010/main" val="365406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Заключение.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bg-BG" dirty="0" smtClean="0"/>
              <a:t>Недостатъци на проведеното изследване:</a:t>
            </a:r>
          </a:p>
          <a:p>
            <a:pPr lvl="1"/>
            <a:r>
              <a:rPr lang="bg-BG" dirty="0" smtClean="0"/>
              <a:t>Слаба експериментална манипулация;</a:t>
            </a:r>
          </a:p>
          <a:p>
            <a:pPr lvl="1"/>
            <a:r>
              <a:rPr lang="bg-BG" dirty="0" smtClean="0"/>
              <a:t>Неподходящ за използваната извадка стимулен материал;</a:t>
            </a:r>
          </a:p>
          <a:p>
            <a:pPr lvl="1"/>
            <a:r>
              <a:rPr lang="bg-BG" dirty="0" smtClean="0"/>
              <a:t>Характеристики на извадката;</a:t>
            </a:r>
          </a:p>
          <a:p>
            <a:pPr lvl="1"/>
            <a:endParaRPr lang="bg-BG" sz="2400" dirty="0"/>
          </a:p>
          <a:p>
            <a:endParaRPr lang="bg-BG" dirty="0" smtClean="0"/>
          </a:p>
          <a:p>
            <a:pPr lvl="1"/>
            <a:endParaRPr lang="bg-BG" sz="2400" dirty="0" smtClean="0"/>
          </a:p>
        </p:txBody>
      </p:sp>
    </p:spTree>
    <p:extLst>
      <p:ext uri="{BB962C8B-B14F-4D97-AF65-F5344CB8AC3E}">
        <p14:creationId xmlns:p14="http://schemas.microsoft.com/office/powerpoint/2010/main" val="351625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Използвана литература.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Aft>
                <a:spcPts val="1200"/>
              </a:spcAft>
            </a:pPr>
            <a:r>
              <a:rPr lang="bg-BG" dirty="0"/>
              <a:t>Chapman, G. B., &amp; Johnson, E. J. (2002). Incorporating the irrelevant: Anchors in judgments of belief and value. In T. Gilovich, D. Griffin, &amp; D. Kahneman (Eds.), </a:t>
            </a:r>
            <a:r>
              <a:rPr lang="bg-BG" i="1" dirty="0"/>
              <a:t>Heuristics and biases: The psychology of intuitive judgement </a:t>
            </a:r>
            <a:r>
              <a:rPr lang="bg-BG" dirty="0"/>
              <a:t>(pp. 120-138). Cambridge: Cambridge University Press.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Klayman</a:t>
            </a:r>
            <a:r>
              <a:rPr lang="en-US" dirty="0"/>
              <a:t>, J., &amp; Ha, Y. W. (1987). Confirmation, disconfirmation, and information in hypothesis testing. </a:t>
            </a:r>
            <a:r>
              <a:rPr lang="en-US" i="1" dirty="0"/>
              <a:t>Psychological Review, 94,</a:t>
            </a:r>
            <a:r>
              <a:rPr lang="en-US" dirty="0"/>
              <a:t> 211-228.</a:t>
            </a:r>
            <a:endParaRPr lang="bg-BG" dirty="0"/>
          </a:p>
          <a:p>
            <a:pPr>
              <a:spcAft>
                <a:spcPts val="1200"/>
              </a:spcAft>
            </a:pPr>
            <a:r>
              <a:rPr lang="bg-BG" dirty="0"/>
              <a:t>Strack, F.</a:t>
            </a:r>
            <a:r>
              <a:rPr lang="en-US" dirty="0"/>
              <a:t>,</a:t>
            </a:r>
            <a:r>
              <a:rPr lang="bg-BG" dirty="0"/>
              <a:t> &amp; Mussweiler, T. (1997). Explaining the enigmatic anchoring effect: Mechanisms of selective accessibility. </a:t>
            </a:r>
            <a:r>
              <a:rPr lang="bg-BG" i="1" dirty="0"/>
              <a:t>Journal of Personality and Social Psychology, 73(3)</a:t>
            </a:r>
            <a:r>
              <a:rPr lang="bg-BG" dirty="0"/>
              <a:t>, 437-446.</a:t>
            </a:r>
          </a:p>
          <a:p>
            <a:pPr>
              <a:spcAft>
                <a:spcPts val="1200"/>
              </a:spcAft>
            </a:pPr>
            <a:r>
              <a:rPr lang="bg-BG" dirty="0"/>
              <a:t>Tversky, A.</a:t>
            </a:r>
            <a:r>
              <a:rPr lang="en-US" dirty="0"/>
              <a:t>,</a:t>
            </a:r>
            <a:r>
              <a:rPr lang="bg-BG" dirty="0"/>
              <a:t> &amp; Kahneman, D. (1974). Judgment under uncertainty: Heuristics and biases. </a:t>
            </a:r>
            <a:r>
              <a:rPr lang="bg-BG" i="1" dirty="0"/>
              <a:t>Science, 185</a:t>
            </a:r>
            <a:r>
              <a:rPr lang="bg-BG" dirty="0"/>
              <a:t>,</a:t>
            </a:r>
            <a:r>
              <a:rPr lang="bg-BG" i="1" dirty="0"/>
              <a:t> </a:t>
            </a:r>
            <a:r>
              <a:rPr lang="bg-BG" dirty="0"/>
              <a:t>1124-1131.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7897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564904"/>
            <a:ext cx="8229600" cy="1143000"/>
          </a:xfrm>
        </p:spPr>
        <p:txBody>
          <a:bodyPr/>
          <a:lstStyle/>
          <a:p>
            <a:r>
              <a:rPr lang="bg-BG" dirty="0" smtClean="0"/>
              <a:t>Благодаря за вниманието!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7035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8826172" cy="6264696"/>
          </a:xfrm>
        </p:spPr>
      </p:pic>
    </p:spTree>
    <p:extLst>
      <p:ext uri="{BB962C8B-B14F-4D97-AF65-F5344CB8AC3E}">
        <p14:creationId xmlns:p14="http://schemas.microsoft.com/office/powerpoint/2010/main" val="410782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0960"/>
            <a:ext cx="6256299" cy="6696744"/>
          </a:xfrm>
        </p:spPr>
      </p:pic>
    </p:spTree>
    <p:extLst>
      <p:ext uri="{BB962C8B-B14F-4D97-AF65-F5344CB8AC3E}">
        <p14:creationId xmlns:p14="http://schemas.microsoft.com/office/powerpoint/2010/main" val="117087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6177"/>
            <a:ext cx="8600458" cy="6733500"/>
          </a:xfrm>
        </p:spPr>
      </p:pic>
    </p:spTree>
    <p:extLst>
      <p:ext uri="{BB962C8B-B14F-4D97-AF65-F5344CB8AC3E}">
        <p14:creationId xmlns:p14="http://schemas.microsoft.com/office/powerpoint/2010/main" val="3946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25" y="332656"/>
            <a:ext cx="8945533" cy="276974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1" y="3356992"/>
            <a:ext cx="9029639" cy="27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8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0290"/>
            <a:ext cx="7868475" cy="6669360"/>
          </a:xfrm>
        </p:spPr>
      </p:pic>
    </p:spTree>
    <p:extLst>
      <p:ext uri="{BB962C8B-B14F-4D97-AF65-F5344CB8AC3E}">
        <p14:creationId xmlns:p14="http://schemas.microsoft.com/office/powerpoint/2010/main" val="104032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1519</Words>
  <Application>Microsoft Office PowerPoint</Application>
  <PresentationFormat>On-screen Show (4:3)</PresentationFormat>
  <Paragraphs>158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Влияние на негативната обратна информация за верността на знанието върху прилагането на евристиката Закотвяне и корекция    PSYB636 Практика: Емпирично изследване </vt:lpstr>
      <vt:lpstr>Закотвяне (anchoring): дефиниции и общи закономерности</vt:lpstr>
      <vt:lpstr>Евристиката закотвяне и приспособяване: експериментална парадигма и теоретични модели</vt:lpstr>
      <vt:lpstr>Модел на селективната достъпност (selective accessibility model) - Strack &amp; Mussweiler (1997) </vt:lpstr>
      <vt:lpstr>Предположение...</vt:lpstr>
      <vt:lpstr>Предположение...</vt:lpstr>
      <vt:lpstr>Цел и хипотези на изследването:</vt:lpstr>
      <vt:lpstr>Метод на изследването:</vt:lpstr>
      <vt:lpstr>Метод на изследването:</vt:lpstr>
      <vt:lpstr>Метод на изследването:</vt:lpstr>
      <vt:lpstr>Метод на изследването:</vt:lpstr>
      <vt:lpstr>Метод на изследването:</vt:lpstr>
      <vt:lpstr>Резултати и дискусия. Забележки.</vt:lpstr>
      <vt:lpstr>Забележки относно експерименталната манипулация:</vt:lpstr>
      <vt:lpstr>Забележки относно използваните котви:</vt:lpstr>
      <vt:lpstr>Резултати и дискусия. Забележки.</vt:lpstr>
      <vt:lpstr>Резултати и дискусия. Прилагане на статистически анализи.</vt:lpstr>
      <vt:lpstr>Резултати и дискусия. Прилагане на статистически анализи.</vt:lpstr>
      <vt:lpstr>Изхождайки от суровите данни и върху цялата извадка: </vt:lpstr>
      <vt:lpstr>Резултати и дискусия. Прилагане на статистически анализи.</vt:lpstr>
      <vt:lpstr>Резултати и дискусия. Прилагане на статистически анализи.</vt:lpstr>
      <vt:lpstr>Резултати и дискусия. Прилагане на статистически анализи.</vt:lpstr>
      <vt:lpstr>Изхождайки от преобразуваните като „отместване от котвата“ отговори и върху участниците с висока убеденост в отговора си на въвеждащия въпрос (n=23):</vt:lpstr>
      <vt:lpstr>Заключение.</vt:lpstr>
      <vt:lpstr>Заключение.</vt:lpstr>
      <vt:lpstr>Използвана литература.</vt:lpstr>
      <vt:lpstr>Благодаря за вниманието!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Asdasdz Asdasd</dc:title>
  <dc:creator>Balan</dc:creator>
  <cp:lastModifiedBy>Balan</cp:lastModifiedBy>
  <cp:revision>41</cp:revision>
  <dcterms:created xsi:type="dcterms:W3CDTF">2016-10-10T16:25:04Z</dcterms:created>
  <dcterms:modified xsi:type="dcterms:W3CDTF">2017-10-07T15:34:04Z</dcterms:modified>
</cp:coreProperties>
</file>