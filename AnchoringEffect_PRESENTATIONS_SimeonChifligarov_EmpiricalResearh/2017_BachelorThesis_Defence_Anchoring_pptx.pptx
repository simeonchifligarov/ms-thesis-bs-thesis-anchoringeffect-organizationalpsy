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9" r:id="rId4"/>
    <p:sldId id="265" r:id="rId5"/>
    <p:sldId id="264" r:id="rId6"/>
    <p:sldId id="260" r:id="rId7"/>
    <p:sldId id="261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9" r:id="rId16"/>
    <p:sldId id="282" r:id="rId17"/>
    <p:sldId id="280" r:id="rId18"/>
    <p:sldId id="281" r:id="rId19"/>
    <p:sldId id="278" r:id="rId20"/>
    <p:sldId id="277" r:id="rId21"/>
    <p:sldId id="284" r:id="rId22"/>
    <p:sldId id="285" r:id="rId23"/>
    <p:sldId id="286" r:id="rId24"/>
    <p:sldId id="335" r:id="rId25"/>
    <p:sldId id="336" r:id="rId26"/>
    <p:sldId id="337" r:id="rId27"/>
    <p:sldId id="289" r:id="rId28"/>
    <p:sldId id="299" r:id="rId29"/>
    <p:sldId id="306" r:id="rId30"/>
    <p:sldId id="288" r:id="rId31"/>
    <p:sldId id="309" r:id="rId32"/>
    <p:sldId id="334" r:id="rId33"/>
    <p:sldId id="292" r:id="rId34"/>
    <p:sldId id="296" r:id="rId35"/>
    <p:sldId id="297" r:id="rId36"/>
    <p:sldId id="301" r:id="rId37"/>
    <p:sldId id="302" r:id="rId38"/>
    <p:sldId id="303" r:id="rId39"/>
    <p:sldId id="304" r:id="rId40"/>
    <p:sldId id="307" r:id="rId41"/>
    <p:sldId id="305" r:id="rId42"/>
    <p:sldId id="300" r:id="rId43"/>
    <p:sldId id="308" r:id="rId44"/>
    <p:sldId id="310" r:id="rId45"/>
    <p:sldId id="311" r:id="rId46"/>
    <p:sldId id="312" r:id="rId47"/>
    <p:sldId id="313" r:id="rId48"/>
    <p:sldId id="314" r:id="rId49"/>
    <p:sldId id="317" r:id="rId50"/>
    <p:sldId id="315" r:id="rId51"/>
    <p:sldId id="316" r:id="rId52"/>
    <p:sldId id="318" r:id="rId53"/>
    <p:sldId id="319" r:id="rId54"/>
    <p:sldId id="320" r:id="rId55"/>
    <p:sldId id="321" r:id="rId56"/>
    <p:sldId id="322" r:id="rId57"/>
    <p:sldId id="325" r:id="rId58"/>
    <p:sldId id="326" r:id="rId59"/>
    <p:sldId id="323" r:id="rId60"/>
    <p:sldId id="327" r:id="rId61"/>
    <p:sldId id="328" r:id="rId62"/>
    <p:sldId id="329" r:id="rId63"/>
    <p:sldId id="331" r:id="rId64"/>
    <p:sldId id="332" r:id="rId65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668" y="-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7548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0142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902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179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324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6054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7229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415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615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1010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292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85017-2FBC-436A-857B-8B6683C0B298}" type="datetimeFigureOut">
              <a:rPr lang="bg-BG" smtClean="0"/>
              <a:t>9.10.2017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A658D-8161-4C5A-9E8A-BBA83E09AE6E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4745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28" y="1268760"/>
            <a:ext cx="8496944" cy="3168352"/>
          </a:xfrm>
        </p:spPr>
        <p:txBody>
          <a:bodyPr>
            <a:normAutofit fontScale="90000"/>
          </a:bodyPr>
          <a:lstStyle/>
          <a:p>
            <a:r>
              <a:rPr lang="bg-BG" sz="3200" dirty="0"/>
              <a:t/>
            </a:r>
            <a:br>
              <a:rPr lang="bg-BG" sz="3200" dirty="0"/>
            </a:br>
            <a:r>
              <a:rPr lang="ru-RU" sz="3200" spc="150" dirty="0"/>
              <a:t> </a:t>
            </a:r>
            <a:r>
              <a:rPr lang="ru-RU" sz="3600" b="1" spc="150" dirty="0"/>
              <a:t>ЕФЕКТЪТ ЗАКОТВЯНЕ – РЕЗУЛТАТ ОТ ДЕЙСТВИЕТО НА ОБЩ МЕХАНИЗЪМ ЗА ФОРМИРАНЕ НА </a:t>
            </a:r>
            <a:r>
              <a:rPr lang="ru-RU" sz="3600" b="1" cap="all" spc="150" dirty="0"/>
              <a:t>ПРЕЦЕНКА</a:t>
            </a:r>
            <a:r>
              <a:rPr lang="ru-RU" sz="3600" b="1" spc="150" dirty="0"/>
              <a:t> </a:t>
            </a:r>
            <a:r>
              <a:rPr lang="en-US" sz="3300" b="1" cap="all" spc="60" dirty="0" smtClean="0">
                <a:cs typeface="Arial" pitchFamily="34" charset="0"/>
              </a:rPr>
              <a:t/>
            </a:r>
            <a:br>
              <a:rPr lang="en-US" sz="3300" b="1" cap="all" spc="60" dirty="0" smtClean="0">
                <a:cs typeface="Arial" pitchFamily="34" charset="0"/>
              </a:rPr>
            </a:br>
            <a:r>
              <a:rPr lang="en-US" sz="1100" b="1" cap="all" spc="60" dirty="0" smtClean="0">
                <a:cs typeface="Arial" pitchFamily="34" charset="0"/>
              </a:rPr>
              <a:t> </a:t>
            </a:r>
            <a:r>
              <a:rPr lang="en-US" sz="2000" b="1" cap="all" spc="60" dirty="0" smtClean="0">
                <a:cs typeface="Arial" pitchFamily="34" charset="0"/>
              </a:rPr>
              <a:t> </a:t>
            </a:r>
            <a:r>
              <a:rPr lang="en-US" sz="3300" b="1" cap="all" dirty="0" smtClean="0">
                <a:cs typeface="Arial" pitchFamily="34" charset="0"/>
              </a:rPr>
              <a:t/>
            </a:r>
            <a:br>
              <a:rPr lang="en-US" sz="3300" b="1" cap="all" dirty="0" smtClean="0">
                <a:cs typeface="Arial" pitchFamily="34" charset="0"/>
              </a:rPr>
            </a:br>
            <a:r>
              <a:rPr lang="bg-BG" sz="2700" cap="small" spc="150" dirty="0"/>
              <a:t>б</a:t>
            </a:r>
            <a:r>
              <a:rPr lang="bg-BG" sz="2700" cap="small" spc="150" dirty="0" smtClean="0"/>
              <a:t>акалавърска теза</a:t>
            </a:r>
            <a:r>
              <a:rPr lang="bg-BG" spc="150" dirty="0"/>
              <a:t/>
            </a:r>
            <a:br>
              <a:rPr lang="bg-BG" spc="150" dirty="0"/>
            </a:br>
            <a:endParaRPr lang="bg-BG" spc="1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4437112"/>
            <a:ext cx="7632848" cy="1752600"/>
          </a:xfrm>
        </p:spPr>
        <p:txBody>
          <a:bodyPr>
            <a:normAutofit lnSpcReduction="10000"/>
          </a:bodyPr>
          <a:lstStyle/>
          <a:p>
            <a:pPr algn="r"/>
            <a:r>
              <a:rPr lang="bg-BG" sz="2400" i="1" dirty="0" smtClean="0">
                <a:solidFill>
                  <a:schemeClr val="bg1">
                    <a:lumMod val="65000"/>
                  </a:schemeClr>
                </a:solidFill>
              </a:rPr>
              <a:t>Симеон Чифлигаров</a:t>
            </a:r>
          </a:p>
          <a:p>
            <a:pPr algn="r">
              <a:spcAft>
                <a:spcPts val="600"/>
              </a:spcAft>
            </a:pPr>
            <a:r>
              <a:rPr lang="en-US" sz="2400" i="1" dirty="0">
                <a:solidFill>
                  <a:schemeClr val="bg1">
                    <a:lumMod val="65000"/>
                  </a:schemeClr>
                </a:solidFill>
              </a:rPr>
              <a:t>f</a:t>
            </a:r>
            <a:r>
              <a:rPr lang="en-US" sz="2400" i="1" dirty="0" smtClean="0">
                <a:solidFill>
                  <a:schemeClr val="bg1">
                    <a:lumMod val="65000"/>
                  </a:schemeClr>
                </a:solidFill>
              </a:rPr>
              <a:t>69916</a:t>
            </a:r>
          </a:p>
          <a:p>
            <a:pPr algn="r"/>
            <a:r>
              <a:rPr lang="bg-BG" sz="2400" i="1" dirty="0">
                <a:solidFill>
                  <a:schemeClr val="bg1">
                    <a:lumMod val="65000"/>
                  </a:schemeClr>
                </a:solidFill>
              </a:rPr>
              <a:t>Научен </a:t>
            </a:r>
            <a:r>
              <a:rPr lang="bg-BG" sz="2400" i="1" dirty="0" smtClean="0">
                <a:solidFill>
                  <a:schemeClr val="bg1">
                    <a:lumMod val="65000"/>
                  </a:schemeClr>
                </a:solidFill>
              </a:rPr>
              <a:t>р</a:t>
            </a:r>
            <a:r>
              <a:rPr lang="en-US" sz="2400" i="1" dirty="0" smtClean="0">
                <a:solidFill>
                  <a:schemeClr val="bg1">
                    <a:lumMod val="65000"/>
                  </a:schemeClr>
                </a:solidFill>
              </a:rPr>
              <a:t>-</a:t>
            </a:r>
            <a:r>
              <a:rPr lang="bg-BG" sz="2400" i="1" dirty="0" smtClean="0">
                <a:solidFill>
                  <a:schemeClr val="bg1">
                    <a:lumMod val="65000"/>
                  </a:schemeClr>
                </a:solidFill>
              </a:rPr>
              <a:t>л</a:t>
            </a:r>
            <a:r>
              <a:rPr lang="bg-BG" sz="2400" i="1" dirty="0">
                <a:solidFill>
                  <a:schemeClr val="bg1">
                    <a:lumMod val="65000"/>
                  </a:schemeClr>
                </a:solidFill>
              </a:rPr>
              <a:t>: гл. ас. д-р Георги </a:t>
            </a:r>
            <a:r>
              <a:rPr lang="bg-BG" sz="2400" i="1" dirty="0" smtClean="0">
                <a:solidFill>
                  <a:schemeClr val="bg1">
                    <a:lumMod val="65000"/>
                  </a:schemeClr>
                </a:solidFill>
              </a:rPr>
              <a:t>Петков</a:t>
            </a:r>
            <a:endParaRPr lang="en-US" sz="2400" i="1" dirty="0" smtClean="0">
              <a:solidFill>
                <a:schemeClr val="bg1">
                  <a:lumMod val="65000"/>
                </a:schemeClr>
              </a:solidFill>
            </a:endParaRPr>
          </a:p>
          <a:p>
            <a:pPr algn="r"/>
            <a:r>
              <a:rPr lang="bg-BG" sz="2400" i="1" dirty="0" smtClean="0">
                <a:solidFill>
                  <a:schemeClr val="bg1">
                    <a:lumMod val="65000"/>
                  </a:schemeClr>
                </a:solidFill>
              </a:rPr>
              <a:t>Рецензент: гл. ас. д-р Иван Ванков </a:t>
            </a:r>
            <a:endParaRPr lang="bg-BG" sz="2400" i="1" dirty="0">
              <a:solidFill>
                <a:schemeClr val="bg1">
                  <a:lumMod val="65000"/>
                </a:schemeClr>
              </a:solidFill>
            </a:endParaRPr>
          </a:p>
          <a:p>
            <a:endParaRPr lang="bg-BG" sz="2400" i="1" dirty="0"/>
          </a:p>
        </p:txBody>
      </p:sp>
    </p:spTree>
    <p:extLst>
      <p:ext uri="{BB962C8B-B14F-4D97-AF65-F5344CB8AC3E}">
        <p14:creationId xmlns:p14="http://schemas.microsoft.com/office/powerpoint/2010/main" val="220659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Autofit/>
          </a:bodyPr>
          <a:lstStyle/>
          <a:p>
            <a:r>
              <a:rPr lang="bg-BG" sz="3200" i="1" dirty="0" smtClean="0"/>
              <a:t>Закотвяне </a:t>
            </a:r>
            <a:r>
              <a:rPr lang="en-US" sz="3200" i="1" dirty="0" smtClean="0"/>
              <a:t>(anchoring)</a:t>
            </a:r>
            <a:r>
              <a:rPr lang="bg-BG" sz="3200" i="1" dirty="0" smtClean="0"/>
              <a:t>:</a:t>
            </a:r>
            <a:r>
              <a:rPr lang="bg-BG" sz="3200" dirty="0" smtClean="0"/>
              <a:t> дефиниции и общи закономерности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bg-BG" dirty="0" smtClean="0"/>
              <a:t>Закотвянето като:</a:t>
            </a:r>
            <a:endParaRPr lang="en-US" dirty="0" smtClean="0"/>
          </a:p>
          <a:p>
            <a:pPr lvl="1"/>
            <a:r>
              <a:rPr lang="bg-BG" dirty="0" smtClean="0"/>
              <a:t>Процедура;</a:t>
            </a:r>
            <a:endParaRPr lang="en-US" dirty="0" smtClean="0"/>
          </a:p>
          <a:p>
            <a:pPr lvl="1"/>
            <a:r>
              <a:rPr lang="bg-BG" dirty="0" smtClean="0"/>
              <a:t>Експериментален резултат;</a:t>
            </a:r>
            <a:endParaRPr lang="en-US" dirty="0" smtClean="0"/>
          </a:p>
          <a:p>
            <a:pPr lvl="1"/>
            <a:r>
              <a:rPr lang="bg-BG" dirty="0" smtClean="0"/>
              <a:t>Психологически процес.</a:t>
            </a:r>
          </a:p>
          <a:p>
            <a:r>
              <a:rPr lang="bg-BG" dirty="0" smtClean="0"/>
              <a:t>Недостатъчно отместване (дори при):</a:t>
            </a:r>
            <a:endParaRPr lang="en-US" dirty="0" smtClean="0"/>
          </a:p>
          <a:p>
            <a:pPr lvl="1"/>
            <a:r>
              <a:rPr lang="bg-BG" dirty="0" smtClean="0"/>
              <a:t>Нереалистични котви;</a:t>
            </a:r>
            <a:endParaRPr lang="en-US" dirty="0"/>
          </a:p>
          <a:p>
            <a:pPr lvl="1"/>
            <a:r>
              <a:rPr lang="bg-BG" dirty="0" smtClean="0"/>
              <a:t>Предупреждаване;</a:t>
            </a:r>
            <a:r>
              <a:rPr lang="en-US" dirty="0" smtClean="0"/>
              <a:t>	</a:t>
            </a:r>
          </a:p>
          <a:p>
            <a:pPr lvl="1"/>
            <a:r>
              <a:rPr lang="bg-BG" dirty="0" smtClean="0"/>
              <a:t>Поощрения за точност.</a:t>
            </a:r>
          </a:p>
          <a:p>
            <a:pPr marL="457200" lvl="1" indent="0" algn="r">
              <a:buNone/>
            </a:pPr>
            <a:r>
              <a:rPr lang="bg-BG" dirty="0"/>
              <a:t>(</a:t>
            </a:r>
            <a:r>
              <a:rPr lang="en-US" dirty="0"/>
              <a:t>Chapman</a:t>
            </a:r>
            <a:r>
              <a:rPr lang="bg-BG" dirty="0"/>
              <a:t> &amp; </a:t>
            </a:r>
            <a:r>
              <a:rPr lang="en-US" dirty="0"/>
              <a:t>Johnson</a:t>
            </a:r>
            <a:r>
              <a:rPr lang="bg-BG" dirty="0"/>
              <a:t>, 2002)</a:t>
            </a:r>
          </a:p>
        </p:txBody>
      </p:sp>
    </p:spTree>
    <p:extLst>
      <p:ext uri="{BB962C8B-B14F-4D97-AF65-F5344CB8AC3E}">
        <p14:creationId xmlns:p14="http://schemas.microsoft.com/office/powerpoint/2010/main" val="302967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bg-BG" sz="3200" dirty="0" smtClean="0"/>
              <a:t>Евристиката закотвяне и приспособяване: експериментална парадигма и теоретични модели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Експериментална парадигма – подвойкови въпроси за фактологическо знание:</a:t>
            </a:r>
            <a:endParaRPr lang="en-US" dirty="0" smtClean="0"/>
          </a:p>
          <a:p>
            <a:pPr lvl="1"/>
            <a:r>
              <a:rPr lang="bg-BG" dirty="0" smtClean="0"/>
              <a:t>Първи, сравнителен въпрос;</a:t>
            </a:r>
            <a:endParaRPr lang="en-US" dirty="0" smtClean="0"/>
          </a:p>
          <a:p>
            <a:pPr lvl="1"/>
            <a:r>
              <a:rPr lang="bg-BG" dirty="0" smtClean="0"/>
              <a:t>Втори, абсолютен въпрос.</a:t>
            </a:r>
          </a:p>
          <a:p>
            <a:r>
              <a:rPr lang="bg-BG" dirty="0" smtClean="0">
                <a:solidFill>
                  <a:schemeClr val="bg1"/>
                </a:solidFill>
              </a:rPr>
              <a:t>Две групи теоретични модели:</a:t>
            </a:r>
          </a:p>
          <a:p>
            <a:pPr lvl="1">
              <a:buFont typeface="Arial" pitchFamily="34" charset="0"/>
              <a:buChar char="•"/>
            </a:pPr>
            <a:r>
              <a:rPr lang="bg-BG" dirty="0" smtClean="0">
                <a:solidFill>
                  <a:schemeClr val="bg1"/>
                </a:solidFill>
              </a:rPr>
              <a:t>Свързани с несигурността на И.Л.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bg-BG" dirty="0">
                <a:solidFill>
                  <a:schemeClr val="bg1"/>
                </a:solidFill>
              </a:rPr>
              <a:t>з</a:t>
            </a:r>
            <a:r>
              <a:rPr lang="bg-BG" dirty="0" smtClean="0">
                <a:solidFill>
                  <a:schemeClr val="bg1"/>
                </a:solidFill>
              </a:rPr>
              <a:t>а отговора си;</a:t>
            </a:r>
          </a:p>
          <a:p>
            <a:pPr lvl="1">
              <a:spcAft>
                <a:spcPts val="600"/>
              </a:spcAft>
              <a:buFont typeface="Arial" pitchFamily="34" charset="0"/>
              <a:buChar char="•"/>
            </a:pPr>
            <a:r>
              <a:rPr lang="bg-BG" dirty="0" smtClean="0">
                <a:solidFill>
                  <a:schemeClr val="bg1"/>
                </a:solidFill>
              </a:rPr>
              <a:t>Свързани с ограничеността на когнитивните ресурси.</a:t>
            </a:r>
          </a:p>
          <a:p>
            <a:pPr marL="457200" lvl="1" indent="0" algn="r">
              <a:buNone/>
            </a:pPr>
            <a:r>
              <a:rPr lang="bg-BG" dirty="0" smtClean="0"/>
              <a:t>(</a:t>
            </a:r>
            <a:r>
              <a:rPr lang="en-US" dirty="0" smtClean="0"/>
              <a:t>Chapman</a:t>
            </a:r>
            <a:r>
              <a:rPr lang="bg-BG" dirty="0" smtClean="0"/>
              <a:t> &amp; </a:t>
            </a:r>
            <a:r>
              <a:rPr lang="en-US" dirty="0" smtClean="0"/>
              <a:t>Johnson</a:t>
            </a:r>
            <a:r>
              <a:rPr lang="bg-BG" dirty="0" smtClean="0"/>
              <a:t>, 2002)</a:t>
            </a:r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370139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0960"/>
            <a:ext cx="6256299" cy="6696744"/>
          </a:xfrm>
        </p:spPr>
      </p:pic>
      <p:sp>
        <p:nvSpPr>
          <p:cNvPr id="2" name="Rectangle 1"/>
          <p:cNvSpPr/>
          <p:nvPr/>
        </p:nvSpPr>
        <p:spPr>
          <a:xfrm>
            <a:off x="683568" y="116632"/>
            <a:ext cx="180020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99633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bg-BG" sz="3200" dirty="0" smtClean="0"/>
              <a:t>Евристиката закотвяне и приспособяване: експериментална парадигма и теоретични модели</a:t>
            </a:r>
            <a:endParaRPr lang="bg-BG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Експериментална парадигма – подвойкови въпроси за фактологическо знание: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Първи, сравнителен въпрос;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Втори, абсолютен въпрос.</a:t>
            </a:r>
          </a:p>
          <a:p>
            <a:r>
              <a:rPr lang="bg-BG" dirty="0" smtClean="0"/>
              <a:t>Две групи теоретични модели:</a:t>
            </a:r>
            <a:endParaRPr lang="en-US" dirty="0" smtClean="0"/>
          </a:p>
          <a:p>
            <a:pPr lvl="1"/>
            <a:r>
              <a:rPr lang="bg-BG" dirty="0" smtClean="0"/>
              <a:t>Свързани с несигурността на И.Л.</a:t>
            </a:r>
            <a:r>
              <a:rPr lang="en-US" dirty="0" smtClean="0"/>
              <a:t> </a:t>
            </a:r>
            <a:r>
              <a:rPr lang="bg-BG" dirty="0"/>
              <a:t>з</a:t>
            </a:r>
            <a:r>
              <a:rPr lang="bg-BG" dirty="0" smtClean="0"/>
              <a:t>а отговора си;</a:t>
            </a:r>
            <a:endParaRPr lang="en-US" dirty="0" smtClean="0"/>
          </a:p>
          <a:p>
            <a:pPr lvl="1"/>
            <a:r>
              <a:rPr lang="bg-BG" dirty="0" smtClean="0"/>
              <a:t>Свързани с ограничеността на когнитивните ресурси.</a:t>
            </a:r>
          </a:p>
          <a:p>
            <a:pPr marL="457200" lvl="1" indent="0" algn="r">
              <a:buNone/>
            </a:pPr>
            <a:r>
              <a:rPr lang="bg-BG" dirty="0" smtClean="0"/>
              <a:t>(</a:t>
            </a:r>
            <a:r>
              <a:rPr lang="en-US" dirty="0" smtClean="0"/>
              <a:t>Chapman</a:t>
            </a:r>
            <a:r>
              <a:rPr lang="bg-BG" dirty="0" smtClean="0"/>
              <a:t> &amp; </a:t>
            </a:r>
            <a:r>
              <a:rPr lang="en-US" dirty="0" smtClean="0"/>
              <a:t>Johnson</a:t>
            </a:r>
            <a:r>
              <a:rPr lang="bg-BG" dirty="0" smtClean="0"/>
              <a:t>, 2002)</a:t>
            </a:r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  <a:p>
            <a:pPr lvl="1">
              <a:buFont typeface="Arial" pitchFamily="34" charset="0"/>
              <a:buChar char="•"/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282263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2272" y="260648"/>
            <a:ext cx="9468544" cy="1143000"/>
          </a:xfrm>
        </p:spPr>
        <p:txBody>
          <a:bodyPr>
            <a:noAutofit/>
          </a:bodyPr>
          <a:lstStyle/>
          <a:p>
            <a:r>
              <a:rPr lang="bg-BG" sz="3200" i="1" dirty="0" smtClean="0"/>
              <a:t>Модел </a:t>
            </a:r>
            <a:r>
              <a:rPr lang="bg-BG" sz="3200" i="1" dirty="0"/>
              <a:t>на селективната достъпност </a:t>
            </a:r>
            <a:r>
              <a:rPr lang="bg-BG" sz="3200" i="1" dirty="0" smtClean="0"/>
              <a:t>(</a:t>
            </a:r>
            <a:r>
              <a:rPr lang="en-US" sz="3200" i="1" dirty="0"/>
              <a:t>S</a:t>
            </a:r>
            <a:r>
              <a:rPr lang="en-US" sz="3200" i="1" dirty="0" smtClean="0"/>
              <a:t>elective Accessibility Model</a:t>
            </a:r>
            <a:r>
              <a:rPr lang="bg-BG" sz="3200" i="1" dirty="0" smtClean="0"/>
              <a:t>) – </a:t>
            </a:r>
            <a:r>
              <a:rPr lang="en-US" sz="3200" dirty="0" err="1"/>
              <a:t>Strack</a:t>
            </a:r>
            <a:r>
              <a:rPr lang="bg-BG" sz="3200" dirty="0"/>
              <a:t> &amp; </a:t>
            </a:r>
            <a:r>
              <a:rPr lang="en-US" sz="3200" dirty="0" err="1"/>
              <a:t>Mussweiler</a:t>
            </a:r>
            <a:r>
              <a:rPr lang="bg-BG" sz="3200" dirty="0"/>
              <a:t> (1997) </a:t>
            </a:r>
            <a:endParaRPr lang="bg-BG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dirty="0" smtClean="0"/>
              <a:t>Anchor </a:t>
            </a:r>
            <a:r>
              <a:rPr lang="bg-BG" dirty="0" smtClean="0"/>
              <a:t>ефектът като специален случай на семантичен прайминг;</a:t>
            </a:r>
          </a:p>
          <a:p>
            <a:pPr lvl="1">
              <a:buFont typeface="Arial" pitchFamily="34" charset="0"/>
              <a:buChar char="•"/>
            </a:pPr>
            <a:r>
              <a:rPr lang="bg-BG" dirty="0" smtClean="0"/>
              <a:t>Приложение на </a:t>
            </a:r>
            <a:r>
              <a:rPr lang="bg-BG" i="1" dirty="0" smtClean="0"/>
              <a:t>стратегията на позитивния тест (</a:t>
            </a:r>
            <a:r>
              <a:rPr lang="en-US" i="1" dirty="0" smtClean="0"/>
              <a:t>positive test strategy</a:t>
            </a:r>
            <a:r>
              <a:rPr lang="bg-BG" i="1" dirty="0" smtClean="0"/>
              <a:t>)</a:t>
            </a:r>
            <a:r>
              <a:rPr lang="bg-BG" dirty="0" smtClean="0"/>
              <a:t> (</a:t>
            </a:r>
            <a:r>
              <a:rPr lang="en-US" dirty="0" err="1" smtClean="0"/>
              <a:t>Klayman</a:t>
            </a:r>
            <a:r>
              <a:rPr lang="bg-BG" dirty="0" smtClean="0"/>
              <a:t> &amp; </a:t>
            </a:r>
            <a:r>
              <a:rPr lang="en-US" dirty="0" smtClean="0"/>
              <a:t>Ha</a:t>
            </a:r>
            <a:r>
              <a:rPr lang="bg-BG" dirty="0" smtClean="0"/>
              <a:t>, 1987) в условията на отговаряне на подвойкови въпроси;</a:t>
            </a:r>
          </a:p>
          <a:p>
            <a:pPr lvl="1">
              <a:buFont typeface="Arial" pitchFamily="34" charset="0"/>
              <a:buChar char="•"/>
            </a:pPr>
            <a:r>
              <a:rPr lang="bg-BG" dirty="0" smtClean="0"/>
              <a:t>Не </a:t>
            </a:r>
            <a:r>
              <a:rPr lang="bg-BG" dirty="0"/>
              <a:t>е ригиден феномен, а се проявява по различен начин в зависимост от логическите връзки, в които влизат </a:t>
            </a:r>
            <a:r>
              <a:rPr lang="bg-BG" dirty="0" smtClean="0"/>
              <a:t>сравнителният </a:t>
            </a:r>
            <a:r>
              <a:rPr lang="bg-BG" dirty="0"/>
              <a:t>и абсолютният </a:t>
            </a:r>
            <a:r>
              <a:rPr lang="bg-BG" dirty="0" smtClean="0"/>
              <a:t>въпрос.</a:t>
            </a:r>
          </a:p>
        </p:txBody>
      </p:sp>
    </p:spTree>
    <p:extLst>
      <p:ext uri="{BB962C8B-B14F-4D97-AF65-F5344CB8AC3E}">
        <p14:creationId xmlns:p14="http://schemas.microsoft.com/office/powerpoint/2010/main" val="180513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 smtClean="0"/>
              <a:t>Ефектът закотвяне: обобщение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800" dirty="0" smtClean="0"/>
              <a:t>Демонстрация на нерационално поведение;</a:t>
            </a:r>
          </a:p>
          <a:p>
            <a:r>
              <a:rPr lang="bg-BG" sz="2800" dirty="0" smtClean="0"/>
              <a:t>Интерпретация като „ясен нежелан уклон“ </a:t>
            </a:r>
            <a:r>
              <a:rPr lang="en-US" sz="2800" dirty="0" smtClean="0"/>
              <a:t>(</a:t>
            </a:r>
            <a:r>
              <a:rPr lang="en-US" sz="2800" dirty="0"/>
              <a:t>Chapman &amp; Johnson, 2002, p. 4</a:t>
            </a:r>
            <a:r>
              <a:rPr lang="en-US" sz="2800" dirty="0" smtClean="0"/>
              <a:t>)</a:t>
            </a:r>
            <a:r>
              <a:rPr lang="bg-BG" sz="2800" dirty="0" smtClean="0"/>
              <a:t>;</a:t>
            </a:r>
          </a:p>
          <a:p>
            <a:r>
              <a:rPr lang="bg-BG" sz="2800" dirty="0" smtClean="0"/>
              <a:t>Аргумент: Най-добрата оценка на параметър на обект не би следвало да зависи от зададен преди това въпрос.</a:t>
            </a:r>
          </a:p>
          <a:p>
            <a:endParaRPr lang="bg-BG" sz="2800" dirty="0" smtClean="0"/>
          </a:p>
          <a:p>
            <a:r>
              <a:rPr lang="bg-BG" sz="2800" dirty="0" smtClean="0"/>
              <a:t>Допускане:</a:t>
            </a:r>
          </a:p>
          <a:p>
            <a:pPr lvl="1"/>
            <a:r>
              <a:rPr lang="bg-BG" sz="2400" dirty="0" smtClean="0"/>
              <a:t>Въпрос 1: Търси се най-добрият отговор на Въпрос 1.</a:t>
            </a:r>
          </a:p>
          <a:p>
            <a:pPr lvl="1"/>
            <a:r>
              <a:rPr lang="bg-BG" sz="2400" dirty="0" smtClean="0"/>
              <a:t>Въпрос 2: Търси се най-добрият отговор на Въпрос 2.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9320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Ефектът закотвяне: Алтернативно обяснение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Допускане:</a:t>
            </a:r>
          </a:p>
          <a:p>
            <a:pPr lvl="1"/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Въпрос 1: Търси се най-добрият отговор на Въпрос 1.</a:t>
            </a:r>
          </a:p>
          <a:p>
            <a:pPr lvl="1"/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Въпрос 2: Търси се най-добрият отговор на Въпрос 2.</a:t>
            </a:r>
          </a:p>
          <a:p>
            <a:pPr lvl="1"/>
            <a:endParaRPr lang="bg-BG" dirty="0" smtClean="0"/>
          </a:p>
          <a:p>
            <a:r>
              <a:rPr lang="bg-BG" dirty="0" smtClean="0"/>
              <a:t>Допускане:</a:t>
            </a:r>
          </a:p>
          <a:p>
            <a:pPr lvl="1"/>
            <a:r>
              <a:rPr lang="bg-BG" dirty="0" smtClean="0"/>
              <a:t>Въпрос 1: Търси се най-добрият отговор на Въпрос 1.</a:t>
            </a:r>
          </a:p>
          <a:p>
            <a:pPr lvl="1"/>
            <a:r>
              <a:rPr lang="bg-BG" dirty="0" smtClean="0"/>
              <a:t>Въпрос 2: Търси се най-добрият отговор на системата от Въпрос 1 и Въпрос 2.</a:t>
            </a:r>
          </a:p>
          <a:p>
            <a:pPr lvl="1"/>
            <a:endParaRPr lang="bg-BG" dirty="0" smtClean="0"/>
          </a:p>
          <a:p>
            <a:pPr marL="457200" lvl="1" indent="0">
              <a:buNone/>
            </a:pPr>
            <a:r>
              <a:rPr lang="bg-BG" i="1" dirty="0" smtClean="0"/>
              <a:t> „Кой е най-добрият отговор на Въпрос 2,</a:t>
            </a:r>
          </a:p>
          <a:p>
            <a:pPr marL="457200" lvl="1" indent="0">
              <a:buNone/>
            </a:pPr>
            <a:r>
              <a:rPr lang="bg-BG" i="1" dirty="0" smtClean="0"/>
              <a:t>при положение, че вече съм отговорил на Въпрос 1?“</a:t>
            </a:r>
          </a:p>
          <a:p>
            <a:pPr marL="457200" lvl="1" indent="0">
              <a:buNone/>
            </a:pPr>
            <a:endParaRPr lang="bg-BG" i="1" dirty="0" smtClean="0"/>
          </a:p>
          <a:p>
            <a:pPr marL="457200" lvl="1" indent="0">
              <a:buNone/>
            </a:pPr>
            <a:r>
              <a:rPr lang="bg-BG" dirty="0" smtClean="0"/>
              <a:t>Примери.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733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44" y="260648"/>
            <a:ext cx="8723312" cy="1143000"/>
          </a:xfrm>
        </p:spPr>
        <p:txBody>
          <a:bodyPr>
            <a:noAutofit/>
          </a:bodyPr>
          <a:lstStyle/>
          <a:p>
            <a:r>
              <a:rPr lang="bg-BG" sz="4000" dirty="0" smtClean="0"/>
              <a:t>Теоретична рамка: </a:t>
            </a:r>
            <a:r>
              <a:rPr lang="en-US" sz="4000" dirty="0" smtClean="0"/>
              <a:t>Reason-based choice </a:t>
            </a:r>
            <a:r>
              <a:rPr lang="bg-BG" sz="4000" dirty="0" smtClean="0"/>
              <a:t>приложен към Свързани събития</a:t>
            </a:r>
            <a:endParaRPr lang="bg-BG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Избор въз основа на аргументи (Reason-based choice</a:t>
            </a:r>
            <a:r>
              <a:rPr lang="ru-RU" i="1" dirty="0" smtClean="0"/>
              <a:t>)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en-US" dirty="0" err="1"/>
              <a:t>Shafir</a:t>
            </a:r>
            <a:r>
              <a:rPr lang="en-US" dirty="0"/>
              <a:t>, Simonson, &amp; </a:t>
            </a:r>
            <a:r>
              <a:rPr lang="en-US" dirty="0" err="1"/>
              <a:t>Tversky</a:t>
            </a:r>
            <a:r>
              <a:rPr lang="en-US" dirty="0"/>
              <a:t> (1993</a:t>
            </a:r>
            <a:r>
              <a:rPr lang="en-US" dirty="0" smtClean="0"/>
              <a:t>)</a:t>
            </a:r>
            <a:r>
              <a:rPr lang="bg-BG" dirty="0" smtClean="0"/>
              <a:t>:</a:t>
            </a:r>
          </a:p>
          <a:p>
            <a:pPr lvl="1"/>
            <a:r>
              <a:rPr lang="bg-BG" dirty="0"/>
              <a:t>Д</a:t>
            </a:r>
            <a:r>
              <a:rPr lang="ru-RU" dirty="0" smtClean="0"/>
              <a:t>ескриптивна </a:t>
            </a:r>
            <a:r>
              <a:rPr lang="ru-RU" dirty="0"/>
              <a:t>теория, която си поставя за цел да обясни как се взимат решения в реални </a:t>
            </a:r>
            <a:r>
              <a:rPr lang="ru-RU" dirty="0" smtClean="0"/>
              <a:t>ситуации;</a:t>
            </a:r>
          </a:p>
          <a:p>
            <a:pPr lvl="1"/>
            <a:r>
              <a:rPr lang="ru-RU" dirty="0"/>
              <a:t>И</a:t>
            </a:r>
            <a:r>
              <a:rPr lang="ru-RU" dirty="0" smtClean="0"/>
              <a:t>зправени </a:t>
            </a:r>
            <a:r>
              <a:rPr lang="ru-RU" dirty="0"/>
              <a:t>пред избор хората търсят и/или конструират причини и на тяхна база стигат до </a:t>
            </a:r>
            <a:r>
              <a:rPr lang="ru-RU" dirty="0" smtClean="0"/>
              <a:t>решение.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2455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По </a:t>
            </a:r>
            <a:r>
              <a:rPr lang="ru-RU" dirty="0"/>
              <a:t>време на отговор на </a:t>
            </a:r>
            <a:r>
              <a:rPr lang="ru-RU" dirty="0" smtClean="0"/>
              <a:t>Въпрос </a:t>
            </a:r>
            <a:r>
              <a:rPr lang="ru-RU" dirty="0"/>
              <a:t>2 се поставят две „психологически изменения“ на ситуацията: 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Стойностите </a:t>
            </a:r>
            <a:r>
              <a:rPr lang="ru-RU" dirty="0"/>
              <a:t>консистенти на първия отговор са много добри – съответстват на верен първи отговор. </a:t>
            </a:r>
            <a:endParaRPr lang="ru-RU" dirty="0" smtClean="0"/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Ако съм сбъркал, то стойностите близки до котвата са много добри – съответстват на малка грешка (по сбъркания първи въпрос).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996129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620688"/>
            <a:ext cx="9073009" cy="2175400"/>
          </a:xfrm>
        </p:spPr>
      </p:pic>
    </p:spTree>
    <p:extLst>
      <p:ext uri="{BB962C8B-B14F-4D97-AF65-F5344CB8AC3E}">
        <p14:creationId xmlns:p14="http://schemas.microsoft.com/office/powerpoint/2010/main" val="138709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760" y="3068960"/>
            <a:ext cx="4334480" cy="3458058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4525963"/>
          </a:xfrm>
        </p:spPr>
        <p:txBody>
          <a:bodyPr>
            <a:normAutofit/>
          </a:bodyPr>
          <a:lstStyle/>
          <a:p>
            <a:r>
              <a:rPr lang="ru-RU" sz="2800" dirty="0"/>
              <a:t>Репрезентацията на обекта сама по себе си не е променена. Тълкуването на смисъла на ефекта закотвяне не е като „нежелан уклон“, а като благоприятно решение на сложно събитие. 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51704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/>
              <a:t>Форсиран избор между зададени алтернативи </a:t>
            </a:r>
            <a:br>
              <a:rPr lang="ru-RU" dirty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85000" lnSpcReduction="20000"/>
          </a:bodyPr>
          <a:lstStyle/>
          <a:p>
            <a:r>
              <a:rPr lang="bg-BG" dirty="0" smtClean="0"/>
              <a:t>Мисловен експеримент: </a:t>
            </a:r>
            <a:r>
              <a:rPr lang="ru-RU" dirty="0"/>
              <a:t>Нека за човек А съществува (вероятностно) разпределение на реалистичните стойности (по континуум в метрична скала), такова че</a:t>
            </a:r>
            <a:r>
              <a:rPr lang="ru-RU" dirty="0" smtClean="0"/>
              <a:t>:</a:t>
            </a:r>
            <a:endParaRPr lang="en-US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 lvl="1"/>
            <a:r>
              <a:rPr lang="ru-RU" dirty="0"/>
              <a:t>средната на реалистичните стойности </a:t>
            </a:r>
            <a:r>
              <a:rPr lang="ru-RU" dirty="0" smtClean="0"/>
              <a:t>е </a:t>
            </a:r>
            <a:r>
              <a:rPr lang="ru-RU" dirty="0" smtClean="0">
                <a:sym typeface="Symbol"/>
              </a:rPr>
              <a:t></a:t>
            </a:r>
            <a:r>
              <a:rPr lang="ru-RU" dirty="0" smtClean="0"/>
              <a:t>;</a:t>
            </a:r>
          </a:p>
          <a:p>
            <a:pPr lvl="1"/>
            <a:r>
              <a:rPr lang="ru-RU" dirty="0" smtClean="0"/>
              <a:t>съществува </a:t>
            </a:r>
            <a:r>
              <a:rPr lang="ru-RU" dirty="0"/>
              <a:t>стойност наречена „1“, която е по-ниска </a:t>
            </a:r>
            <a:r>
              <a:rPr lang="ru-RU" dirty="0" smtClean="0"/>
              <a:t>от </a:t>
            </a:r>
            <a:r>
              <a:rPr lang="ru-RU" dirty="0" smtClean="0">
                <a:sym typeface="Symbol"/>
              </a:rPr>
              <a:t></a:t>
            </a:r>
            <a:r>
              <a:rPr lang="ru-RU" dirty="0" smtClean="0"/>
              <a:t>;</a:t>
            </a:r>
          </a:p>
          <a:p>
            <a:pPr lvl="1"/>
            <a:r>
              <a:rPr lang="ru-RU" dirty="0" smtClean="0"/>
              <a:t>съществува </a:t>
            </a:r>
            <a:r>
              <a:rPr lang="ru-RU" dirty="0"/>
              <a:t>стойност наречена „2“, която е по-висока </a:t>
            </a:r>
            <a:r>
              <a:rPr lang="ru-RU" dirty="0" smtClean="0"/>
              <a:t>от </a:t>
            </a:r>
            <a:r>
              <a:rPr lang="ru-RU" dirty="0" smtClean="0">
                <a:sym typeface="Symbol"/>
              </a:rPr>
              <a:t></a:t>
            </a:r>
            <a:r>
              <a:rPr lang="ru-RU" dirty="0" smtClean="0"/>
              <a:t>;</a:t>
            </a:r>
          </a:p>
          <a:p>
            <a:pPr lvl="1"/>
            <a:r>
              <a:rPr lang="ru-RU" dirty="0" smtClean="0"/>
              <a:t> </a:t>
            </a:r>
            <a:r>
              <a:rPr lang="ru-RU" dirty="0"/>
              <a:t>алтернативите „1“ и „2“ са абсолютно еднакво </a:t>
            </a:r>
            <a:r>
              <a:rPr lang="ru-RU" dirty="0" smtClean="0"/>
              <a:t>правдоподобни</a:t>
            </a:r>
            <a:r>
              <a:rPr lang="bg-BG" dirty="0" smtClean="0"/>
              <a:t>.</a:t>
            </a:r>
          </a:p>
          <a:p>
            <a:pPr lvl="1"/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129" y="2996952"/>
            <a:ext cx="4067743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br>
              <a:rPr lang="ru-RU" dirty="0">
                <a:solidFill>
                  <a:schemeClr val="bg1">
                    <a:lumMod val="50000"/>
                  </a:schemeClr>
                </a:solidFill>
              </a:rPr>
            </a:b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" y="1772816"/>
            <a:ext cx="9141573" cy="2628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4246306"/>
            <a:ext cx="3293636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4008" y="1484784"/>
            <a:ext cx="4320480" cy="5353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07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bg-BG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br>
              <a:rPr lang="ru-RU" dirty="0">
                <a:solidFill>
                  <a:schemeClr val="bg1">
                    <a:lumMod val="50000"/>
                  </a:schemeClr>
                </a:solidFill>
              </a:rPr>
            </a:b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" y="1772816"/>
            <a:ext cx="9141573" cy="2628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4246306"/>
            <a:ext cx="3293636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427984" y="2708921"/>
            <a:ext cx="4320480" cy="4129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12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br>
              <a:rPr lang="ru-RU" dirty="0">
                <a:solidFill>
                  <a:schemeClr val="bg1">
                    <a:lumMod val="50000"/>
                  </a:schemeClr>
                </a:solidFill>
              </a:rPr>
            </a:b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" y="1772816"/>
            <a:ext cx="9141573" cy="2628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4246306"/>
            <a:ext cx="3293636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427984" y="4269577"/>
            <a:ext cx="4320480" cy="25687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8825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br>
              <a:rPr lang="ru-RU" dirty="0">
                <a:solidFill>
                  <a:schemeClr val="bg1">
                    <a:lumMod val="50000"/>
                  </a:schemeClr>
                </a:solidFill>
              </a:rPr>
            </a:b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" y="1772816"/>
            <a:ext cx="9141573" cy="2628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4246306"/>
            <a:ext cx="3293636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44008" y="1484784"/>
            <a:ext cx="4320480" cy="27615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112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r>
              <a:rPr lang="ru-RU" dirty="0"/>
              <a:t/>
            </a:r>
            <a:br>
              <a:rPr lang="ru-RU" dirty="0"/>
            </a:b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" y="1772816"/>
            <a:ext cx="9141573" cy="2628000"/>
          </a:xfrm>
        </p:spPr>
      </p:pic>
      <p:pic>
        <p:nvPicPr>
          <p:cNvPr id="2050" name="Picture 2" descr="C:\Users\Balan\Desktop\00000_Diplomna Upload\Fig\Fig DIPLOMNA\fig6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601" y="4246306"/>
            <a:ext cx="3293636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2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61677" y="1952756"/>
            <a:ext cx="17340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3" name="Rectangle 52"/>
          <p:cNvSpPr/>
          <p:nvPr/>
        </p:nvSpPr>
        <p:spPr>
          <a:xfrm>
            <a:off x="2675668" y="1939614"/>
            <a:ext cx="16561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грешен първи отговор</a:t>
            </a:r>
            <a:endParaRPr lang="bg-BG" dirty="0"/>
          </a:p>
        </p:txBody>
      </p:sp>
      <p:sp>
        <p:nvSpPr>
          <p:cNvPr id="54" name="Rectangle 53"/>
          <p:cNvSpPr/>
          <p:nvPr/>
        </p:nvSpPr>
        <p:spPr>
          <a:xfrm>
            <a:off x="1763688" y="2339723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58" name="Rectangle 57"/>
          <p:cNvSpPr/>
          <p:nvPr/>
        </p:nvSpPr>
        <p:spPr>
          <a:xfrm>
            <a:off x="110793" y="4844683"/>
            <a:ext cx="18776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59" name="Rectangle 58"/>
          <p:cNvSpPr/>
          <p:nvPr/>
        </p:nvSpPr>
        <p:spPr>
          <a:xfrm>
            <a:off x="2724783" y="4831541"/>
            <a:ext cx="19279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50% за верен втори отговор, верен първи отговор</a:t>
            </a:r>
            <a:endParaRPr lang="bg-BG" dirty="0"/>
          </a:p>
        </p:txBody>
      </p:sp>
      <p:sp>
        <p:nvSpPr>
          <p:cNvPr id="60" name="Rectangle 59"/>
          <p:cNvSpPr/>
          <p:nvPr/>
        </p:nvSpPr>
        <p:spPr>
          <a:xfrm>
            <a:off x="1812804" y="5231650"/>
            <a:ext cx="9361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000" dirty="0" smtClean="0"/>
              <a:t>срещу</a:t>
            </a:r>
            <a:endParaRPr lang="bg-BG" sz="2000" dirty="0"/>
          </a:p>
        </p:txBody>
      </p:sp>
      <p:sp>
        <p:nvSpPr>
          <p:cNvPr id="9" name="Frame 8"/>
          <p:cNvSpPr/>
          <p:nvPr/>
        </p:nvSpPr>
        <p:spPr>
          <a:xfrm>
            <a:off x="47558" y="1876319"/>
            <a:ext cx="1716130" cy="1353202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622468" y="255292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8222868" y="230924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996" y="1886150"/>
            <a:ext cx="241743" cy="252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33" name="Straight Connector 32"/>
          <p:cNvCxnSpPr/>
          <p:nvPr/>
        </p:nvCxnSpPr>
        <p:spPr>
          <a:xfrm>
            <a:off x="4855042" y="2359759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8446577" y="2381252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727250" y="23008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539809" y="1512741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37" name="Up Arrow 36"/>
          <p:cNvSpPr/>
          <p:nvPr/>
        </p:nvSpPr>
        <p:spPr>
          <a:xfrm>
            <a:off x="4675022" y="2858746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8" name="Bent Arrow 37"/>
          <p:cNvSpPr/>
          <p:nvPr/>
        </p:nvSpPr>
        <p:spPr>
          <a:xfrm>
            <a:off x="4675022" y="2002741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4687433" y="5411670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287833" y="51679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961" y="4744899"/>
            <a:ext cx="241743" cy="252000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5" name="Straight Connector 54"/>
          <p:cNvCxnSpPr/>
          <p:nvPr/>
        </p:nvCxnSpPr>
        <p:spPr>
          <a:xfrm>
            <a:off x="5352055" y="5218508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6792215" y="5159642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604774" y="4442631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61" name="Bent Arrow 60"/>
          <p:cNvSpPr/>
          <p:nvPr/>
        </p:nvSpPr>
        <p:spPr>
          <a:xfrm>
            <a:off x="4751369" y="4874632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63" name="Straight Connector 62"/>
          <p:cNvCxnSpPr/>
          <p:nvPr/>
        </p:nvCxnSpPr>
        <p:spPr>
          <a:xfrm>
            <a:off x="8073325" y="5231650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Up Arrow 63"/>
          <p:cNvSpPr/>
          <p:nvPr/>
        </p:nvSpPr>
        <p:spPr>
          <a:xfrm>
            <a:off x="5172035" y="5711195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6" name="Up Arrow 65"/>
          <p:cNvSpPr/>
          <p:nvPr/>
        </p:nvSpPr>
        <p:spPr>
          <a:xfrm>
            <a:off x="7901757" y="5676858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7" name="Frame 66"/>
          <p:cNvSpPr/>
          <p:nvPr/>
        </p:nvSpPr>
        <p:spPr>
          <a:xfrm>
            <a:off x="47558" y="4814257"/>
            <a:ext cx="1716130" cy="1353202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68" name="Frame 67"/>
          <p:cNvSpPr/>
          <p:nvPr/>
        </p:nvSpPr>
        <p:spPr>
          <a:xfrm>
            <a:off x="2645695" y="4795340"/>
            <a:ext cx="1716130" cy="1353202"/>
          </a:xfrm>
          <a:prstGeom prst="frame">
            <a:avLst>
              <a:gd name="adj1" fmla="val 462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43" name="Up Arrow 42"/>
          <p:cNvSpPr/>
          <p:nvPr/>
        </p:nvSpPr>
        <p:spPr>
          <a:xfrm>
            <a:off x="8287833" y="2799831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5" name="Rectangle 44"/>
          <p:cNvSpPr/>
          <p:nvPr/>
        </p:nvSpPr>
        <p:spPr>
          <a:xfrm>
            <a:off x="7080212" y="3340782"/>
            <a:ext cx="20031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SAM: </a:t>
            </a:r>
            <a:r>
              <a:rPr lang="bg-BG" dirty="0" smtClean="0"/>
              <a:t>Семантично праймирани високи стойности</a:t>
            </a:r>
            <a:endParaRPr lang="bg-BG" dirty="0"/>
          </a:p>
        </p:txBody>
      </p:sp>
      <p:sp>
        <p:nvSpPr>
          <p:cNvPr id="46" name="Frame 45"/>
          <p:cNvSpPr/>
          <p:nvPr/>
        </p:nvSpPr>
        <p:spPr>
          <a:xfrm>
            <a:off x="6992577" y="3340782"/>
            <a:ext cx="2046164" cy="946373"/>
          </a:xfrm>
          <a:prstGeom prst="frame">
            <a:avLst>
              <a:gd name="adj1" fmla="val 462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50" name="Up Arrow 49"/>
          <p:cNvSpPr/>
          <p:nvPr/>
        </p:nvSpPr>
        <p:spPr>
          <a:xfrm rot="10800000">
            <a:off x="7900604" y="4359857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Форсиран избор между зададени алтернативи </a:t>
            </a:r>
            <a:br>
              <a:rPr lang="ru-RU" dirty="0">
                <a:solidFill>
                  <a:schemeClr val="bg1">
                    <a:lumMod val="50000"/>
                  </a:schemeClr>
                </a:solidFill>
              </a:rPr>
            </a:b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03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/>
              <a:t>Сравнение между Алтернативното обяснение и SAM 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4853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Емпирична проверка на предвижданията. Експеримент 1.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Цел и хипотези на изследването:</a:t>
            </a:r>
          </a:p>
          <a:p>
            <a:r>
              <a:rPr lang="bg-BG" dirty="0" smtClean="0"/>
              <a:t>Цел:</a:t>
            </a:r>
          </a:p>
          <a:p>
            <a:pPr lvl="1">
              <a:spcAft>
                <a:spcPts val="1200"/>
              </a:spcAft>
              <a:buFont typeface="Arial" pitchFamily="34" charset="0"/>
              <a:buChar char="•"/>
            </a:pPr>
            <a:r>
              <a:rPr lang="bg-BG" dirty="0" smtClean="0"/>
              <a:t>Експериментална проверка на предсказанията на Алтернативното обяснение на ефекта закотвяне при процедура на форсиран избор. Сравнение на реалните данни спрямо предвижданията по </a:t>
            </a:r>
            <a:r>
              <a:rPr lang="bg-BG" dirty="0" smtClean="0">
                <a:solidFill>
                  <a:srgbClr val="00B050"/>
                </a:solidFill>
              </a:rPr>
              <a:t>Алтернативното обяснение </a:t>
            </a:r>
            <a:r>
              <a:rPr lang="bg-BG" dirty="0" smtClean="0"/>
              <a:t>и </a:t>
            </a:r>
            <a:r>
              <a:rPr lang="en-US" dirty="0" smtClean="0">
                <a:solidFill>
                  <a:srgbClr val="FF0000"/>
                </a:solidFill>
              </a:rPr>
              <a:t>SAM</a:t>
            </a:r>
            <a:r>
              <a:rPr lang="en-US" dirty="0" smtClean="0"/>
              <a:t>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349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Емпирична проверка на предвижданията. Експеримент 1.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Цел и хипотези на изследването:</a:t>
            </a:r>
          </a:p>
          <a:p>
            <a:r>
              <a:rPr lang="bg-BG" dirty="0" smtClean="0"/>
              <a:t>Хипотези:</a:t>
            </a:r>
          </a:p>
          <a:p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43" y="2654891"/>
            <a:ext cx="6373115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2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Емпирична проверка на предвижданията. Експеримент 1.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Цел и хипотези на изследването:</a:t>
            </a:r>
          </a:p>
          <a:p>
            <a:r>
              <a:rPr lang="bg-BG" dirty="0" smtClean="0"/>
              <a:t>Хипотези:</a:t>
            </a:r>
          </a:p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128" y="2780928"/>
            <a:ext cx="6355744" cy="357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Метод на изследването: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Дизайн:</a:t>
            </a:r>
            <a:endParaRPr lang="en-US" dirty="0" smtClean="0"/>
          </a:p>
          <a:p>
            <a:pPr lvl="1"/>
            <a:r>
              <a:rPr lang="bg-BG" dirty="0" smtClean="0"/>
              <a:t>Двуфакторен вътрегрупов дизайн.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" y="2852936"/>
            <a:ext cx="9145016" cy="28552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594" y="1182618"/>
            <a:ext cx="2508941" cy="166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9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95" y="368660"/>
            <a:ext cx="820021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0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Инструментариум:</a:t>
            </a:r>
          </a:p>
          <a:p>
            <a:pPr lvl="1"/>
            <a:r>
              <a:rPr lang="ru-RU" dirty="0"/>
              <a:t>С</a:t>
            </a:r>
            <a:r>
              <a:rPr lang="ru-RU" dirty="0" smtClean="0"/>
              <a:t>тандартната </a:t>
            </a:r>
            <a:r>
              <a:rPr lang="ru-RU" dirty="0"/>
              <a:t>парадигма за отговаряне на подвойкови въпроси към един и същи </a:t>
            </a:r>
            <a:r>
              <a:rPr lang="ru-RU" dirty="0" smtClean="0"/>
              <a:t>обект;</a:t>
            </a:r>
          </a:p>
          <a:p>
            <a:pPr lvl="1"/>
            <a:r>
              <a:rPr lang="ru-RU" dirty="0"/>
              <a:t>В</a:t>
            </a:r>
            <a:r>
              <a:rPr lang="ru-RU" dirty="0" smtClean="0"/>
              <a:t>торият </a:t>
            </a:r>
            <a:r>
              <a:rPr lang="ru-RU" dirty="0"/>
              <a:t>въпрос е за форсиран избор на една измежду две фиксирани </a:t>
            </a:r>
            <a:r>
              <a:rPr lang="ru-RU" dirty="0" smtClean="0"/>
              <a:t>алтернативи.</a:t>
            </a:r>
          </a:p>
        </p:txBody>
      </p:sp>
    </p:spTree>
    <p:extLst>
      <p:ext uri="{BB962C8B-B14F-4D97-AF65-F5344CB8AC3E}">
        <p14:creationId xmlns:p14="http://schemas.microsoft.com/office/powerpoint/2010/main" val="331219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32855"/>
          </a:xfrm>
        </p:spPr>
        <p:txBody>
          <a:bodyPr>
            <a:normAutofit fontScale="92500" lnSpcReduction="10000"/>
          </a:bodyPr>
          <a:lstStyle/>
          <a:p>
            <a:r>
              <a:rPr lang="bg-BG" dirty="0" smtClean="0"/>
              <a:t>Стимули:</a:t>
            </a:r>
          </a:p>
          <a:p>
            <a:pPr lvl="1"/>
            <a:r>
              <a:rPr lang="bg-BG" dirty="0" smtClean="0"/>
              <a:t>8 подвойкови въпроси;</a:t>
            </a:r>
          </a:p>
          <a:p>
            <a:pPr lvl="1"/>
            <a:r>
              <a:rPr lang="ru-RU" dirty="0" smtClean="0"/>
              <a:t>Зададена по условие средна;</a:t>
            </a:r>
          </a:p>
          <a:p>
            <a:pPr lvl="1"/>
            <a:r>
              <a:rPr lang="ru-RU" dirty="0" smtClean="0"/>
              <a:t>Симетрични котви (относно средната);</a:t>
            </a:r>
          </a:p>
          <a:p>
            <a:pPr lvl="1"/>
            <a:r>
              <a:rPr lang="ru-RU" dirty="0" smtClean="0"/>
              <a:t>Симетрични алтернативи (относно средната).</a:t>
            </a: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199" y="3789040"/>
            <a:ext cx="4365603" cy="28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0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60" y="81000"/>
            <a:ext cx="8337481" cy="6696000"/>
          </a:xfrm>
        </p:spPr>
      </p:pic>
      <p:sp>
        <p:nvSpPr>
          <p:cNvPr id="3" name="Rectangle 2"/>
          <p:cNvSpPr/>
          <p:nvPr/>
        </p:nvSpPr>
        <p:spPr>
          <a:xfrm>
            <a:off x="3707904" y="908720"/>
            <a:ext cx="5112568" cy="2376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 4"/>
          <p:cNvSpPr/>
          <p:nvPr/>
        </p:nvSpPr>
        <p:spPr>
          <a:xfrm>
            <a:off x="1691680" y="1916832"/>
            <a:ext cx="309634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323528" y="3284984"/>
            <a:ext cx="8496944" cy="3312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724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60" y="81000"/>
            <a:ext cx="8337481" cy="6696000"/>
          </a:xfrm>
        </p:spPr>
      </p:pic>
      <p:sp>
        <p:nvSpPr>
          <p:cNvPr id="6" name="Rectangle 5"/>
          <p:cNvSpPr/>
          <p:nvPr/>
        </p:nvSpPr>
        <p:spPr>
          <a:xfrm>
            <a:off x="323528" y="3284984"/>
            <a:ext cx="8496944" cy="3312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599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60" y="81000"/>
            <a:ext cx="8337481" cy="6696000"/>
          </a:xfrm>
        </p:spPr>
      </p:pic>
    </p:spTree>
    <p:extLst>
      <p:ext uri="{BB962C8B-B14F-4D97-AF65-F5344CB8AC3E}">
        <p14:creationId xmlns:p14="http://schemas.microsoft.com/office/powerpoint/2010/main" val="205767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023" y="659456"/>
            <a:ext cx="414418" cy="432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059832" y="1628494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660232" y="1384817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724454" y="1435332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450224" y="1448474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92406" y="1435332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883941" y="1456825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64614" y="1376466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77173" y="678134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724454" y="1827670"/>
            <a:ext cx="216024" cy="8061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763688" y="1863285"/>
            <a:ext cx="1524344" cy="78240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867441" y="1856710"/>
            <a:ext cx="1809015" cy="77706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244734" y="1833019"/>
            <a:ext cx="209317" cy="812675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36" y="678134"/>
            <a:ext cx="414418" cy="432000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3517245" y="1403495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27093"/>
              </p:ext>
            </p:extLst>
          </p:nvPr>
        </p:nvGraphicFramePr>
        <p:xfrm>
          <a:off x="-2" y="2842955"/>
          <a:ext cx="9144002" cy="3115937"/>
        </p:xfrm>
        <a:graphic>
          <a:graphicData uri="http://schemas.openxmlformats.org/drawingml/2006/table">
            <a:tbl>
              <a:tblPr/>
              <a:tblGrid>
                <a:gridCol w="1012312"/>
                <a:gridCol w="1161670"/>
                <a:gridCol w="1161670"/>
                <a:gridCol w="1161670"/>
                <a:gridCol w="1161670"/>
                <a:gridCol w="1161670"/>
                <a:gridCol w="1161670"/>
                <a:gridCol w="1161670"/>
              </a:tblGrid>
              <a:tr h="435561"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Въпрос 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Ниска котва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Средна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Висока котва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 (в см)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 (в кг)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 (в лв)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 (в год)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5.(в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IQ)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97,5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122,5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 (в ч)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19,5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 (в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kcal)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 (в бр)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78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023" y="659456"/>
            <a:ext cx="414418" cy="43200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059832" y="1628494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660232" y="1384817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724454" y="1435332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450224" y="1448474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92406" y="1435332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883941" y="1456825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164614" y="1376466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77173" y="678134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724454" y="1827670"/>
            <a:ext cx="216024" cy="8061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763688" y="1863285"/>
            <a:ext cx="1524344" cy="78240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867441" y="1856710"/>
            <a:ext cx="1809015" cy="77706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244734" y="1833019"/>
            <a:ext cx="209317" cy="812675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036" y="678134"/>
            <a:ext cx="414418" cy="432000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3517245" y="1403495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39173"/>
              </p:ext>
            </p:extLst>
          </p:nvPr>
        </p:nvGraphicFramePr>
        <p:xfrm>
          <a:off x="-2" y="2842955"/>
          <a:ext cx="9144002" cy="3437841"/>
        </p:xfrm>
        <a:graphic>
          <a:graphicData uri="http://schemas.openxmlformats.org/drawingml/2006/table">
            <a:tbl>
              <a:tblPr/>
              <a:tblGrid>
                <a:gridCol w="1012312"/>
                <a:gridCol w="1161670"/>
                <a:gridCol w="1161670"/>
                <a:gridCol w="1161670"/>
                <a:gridCol w="1161670"/>
                <a:gridCol w="1161670"/>
                <a:gridCol w="1161670"/>
                <a:gridCol w="1161670"/>
              </a:tblGrid>
              <a:tr h="435561"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Въпрос 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Ниска котва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Средна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Висока котва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Алтернатива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 (в см)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115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165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 (в кг)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35,5</a:t>
                      </a:r>
                      <a:endParaRPr lang="bg-BG" sz="2400" b="0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44,5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 (в лв)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840</a:t>
                      </a:r>
                      <a:endParaRPr lang="bg-BG" sz="2400" b="0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 smtClean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1060</a:t>
                      </a:r>
                      <a:endParaRPr lang="bg-BG" sz="2400" b="0" i="0" u="none" strike="noStrike" dirty="0"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 (в год)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39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5.(в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IQ)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130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6. (в ч)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21,5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B050"/>
                          </a:solidFill>
                          <a:effectLst/>
                          <a:latin typeface="Calibri"/>
                        </a:rPr>
                        <a:t>26,5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 (в 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kcal)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2035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2965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5047">
                <a:tc>
                  <a:txBody>
                    <a:bodyPr/>
                    <a:lstStyle/>
                    <a:p>
                      <a:pPr algn="l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 (в бр)</a:t>
                      </a:r>
                    </a:p>
                  </a:txBody>
                  <a:tcPr marL="857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360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bg-BG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Calibri"/>
                        </a:rPr>
                        <a:t>520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itle 1"/>
          <p:cNvSpPr txBox="1">
            <a:spLocks/>
          </p:cNvSpPr>
          <p:nvPr/>
        </p:nvSpPr>
        <p:spPr>
          <a:xfrm>
            <a:off x="4283968" y="149333"/>
            <a:ext cx="1633554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bg-BG" sz="2400" u="sng" dirty="0" smtClean="0"/>
              <a:t>Вариант 1а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98330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35" y="99000"/>
            <a:ext cx="9168471" cy="6660000"/>
          </a:xfrm>
        </p:spPr>
      </p:pic>
    </p:spTree>
    <p:extLst>
      <p:ext uri="{BB962C8B-B14F-4D97-AF65-F5344CB8AC3E}">
        <p14:creationId xmlns:p14="http://schemas.microsoft.com/office/powerpoint/2010/main" val="265345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Процедура на изследването:</a:t>
            </a:r>
          </a:p>
          <a:p>
            <a:pPr lvl="1"/>
            <a:r>
              <a:rPr lang="bg-BG" dirty="0" smtClean="0"/>
              <a:t>Онлайн платформа за проучвания (</a:t>
            </a:r>
            <a:r>
              <a:rPr lang="en-US" dirty="0"/>
              <a:t>Google </a:t>
            </a:r>
            <a:r>
              <a:rPr lang="en-US" dirty="0" smtClean="0"/>
              <a:t>forms</a:t>
            </a:r>
            <a:r>
              <a:rPr lang="bg-BG" dirty="0" smtClean="0"/>
              <a:t>);</a:t>
            </a:r>
          </a:p>
          <a:p>
            <a:pPr lvl="1"/>
            <a:r>
              <a:rPr lang="ru-RU" dirty="0" smtClean="0"/>
              <a:t>Началната </a:t>
            </a:r>
            <a:r>
              <a:rPr lang="ru-RU" dirty="0"/>
              <a:t>страница (озаглавена „Отгатване в условия на непълна информация</a:t>
            </a:r>
            <a:r>
              <a:rPr lang="ru-RU" dirty="0" smtClean="0"/>
              <a:t>“):</a:t>
            </a:r>
          </a:p>
          <a:p>
            <a:pPr lvl="2"/>
            <a:r>
              <a:rPr lang="ru-RU" dirty="0" smtClean="0"/>
              <a:t>Неформално информирано съгласие;</a:t>
            </a:r>
          </a:p>
          <a:p>
            <a:pPr lvl="2"/>
            <a:r>
              <a:rPr lang="ru-RU" dirty="0" smtClean="0"/>
              <a:t>Инструкции;</a:t>
            </a:r>
          </a:p>
          <a:p>
            <a:pPr lvl="2"/>
            <a:r>
              <a:rPr lang="ru-RU" dirty="0" smtClean="0"/>
              <a:t>Рандомизация (спрямо рожденната дата).</a:t>
            </a:r>
          </a:p>
          <a:p>
            <a:pPr lvl="2"/>
            <a:endParaRPr lang="bg-BG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Метод на изследването: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49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75" y="-81000"/>
            <a:ext cx="6735050" cy="7020000"/>
          </a:xfrm>
        </p:spPr>
      </p:pic>
    </p:spTree>
    <p:extLst>
      <p:ext uri="{BB962C8B-B14F-4D97-AF65-F5344CB8AC3E}">
        <p14:creationId xmlns:p14="http://schemas.microsoft.com/office/powerpoint/2010/main" val="184605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363272" cy="6336704"/>
          </a:xfrm>
        </p:spPr>
        <p:txBody>
          <a:bodyPr>
            <a:normAutofit fontScale="92500" lnSpcReduction="10000"/>
          </a:bodyPr>
          <a:lstStyle/>
          <a:p>
            <a:r>
              <a:rPr lang="bg-BG" dirty="0" smtClean="0"/>
              <a:t>Участници:</a:t>
            </a:r>
          </a:p>
          <a:p>
            <a:pPr lvl="1"/>
            <a:r>
              <a:rPr lang="en-US" dirty="0" smtClean="0"/>
              <a:t>8 </a:t>
            </a:r>
            <a:r>
              <a:rPr lang="bg-BG" dirty="0" smtClean="0"/>
              <a:t>подвойкови въпроси за всяко ИЛ.</a:t>
            </a:r>
            <a:endParaRPr lang="en-US" dirty="0" smtClean="0"/>
          </a:p>
          <a:p>
            <a:pPr lvl="1"/>
            <a:r>
              <a:rPr lang="en-US" dirty="0" smtClean="0"/>
              <a:t>Google forms.</a:t>
            </a:r>
            <a:endParaRPr lang="bg-BG" dirty="0" smtClean="0"/>
          </a:p>
          <a:p>
            <a:pPr lvl="1"/>
            <a:r>
              <a:rPr lang="bg-BG" dirty="0" smtClean="0"/>
              <a:t>Извадка – 219 ИЛ (61, 54, 53, 51); 219х8=1752 </a:t>
            </a:r>
            <a:r>
              <a:rPr lang="en-US" dirty="0" smtClean="0"/>
              <a:t>item-</a:t>
            </a:r>
            <a:r>
              <a:rPr lang="bg-BG" dirty="0" smtClean="0"/>
              <a:t>а:</a:t>
            </a:r>
          </a:p>
          <a:p>
            <a:pPr lvl="2"/>
            <a:r>
              <a:rPr lang="bg-BG" dirty="0" smtClean="0"/>
              <a:t>31% М, 69% Ж;</a:t>
            </a:r>
          </a:p>
          <a:p>
            <a:pPr lvl="2"/>
            <a:r>
              <a:rPr lang="bg-BG" dirty="0"/>
              <a:t>Възрастови характеристики на извадката </a:t>
            </a:r>
            <a:r>
              <a:rPr lang="bg-BG" i="1" dirty="0"/>
              <a:t>(</a:t>
            </a:r>
            <a:r>
              <a:rPr lang="en-US" i="1" dirty="0" smtClean="0"/>
              <a:t>N=</a:t>
            </a:r>
            <a:r>
              <a:rPr lang="bg-BG" i="1" dirty="0" smtClean="0"/>
              <a:t>219</a:t>
            </a:r>
            <a:r>
              <a:rPr lang="en-US" i="1" dirty="0" smtClean="0"/>
              <a:t>)</a:t>
            </a:r>
            <a:r>
              <a:rPr lang="bg-BG" dirty="0"/>
              <a:t>.</a:t>
            </a:r>
          </a:p>
          <a:p>
            <a:pPr lvl="2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marL="457200" lvl="1" indent="0">
              <a:buNone/>
            </a:pPr>
            <a:endParaRPr lang="bg-BG" dirty="0"/>
          </a:p>
          <a:p>
            <a:pPr lvl="1"/>
            <a:endParaRPr lang="bg-BG" dirty="0" smtClean="0"/>
          </a:p>
          <a:p>
            <a:pPr lvl="1"/>
            <a:r>
              <a:rPr lang="bg-BG" dirty="0" smtClean="0"/>
              <a:t>Данните се обработват поотделно за Типични и за Нетипични отговори (спрямо първия въпрос).</a:t>
            </a:r>
            <a:endParaRPr lang="bg-BG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18264"/>
              </p:ext>
            </p:extLst>
          </p:nvPr>
        </p:nvGraphicFramePr>
        <p:xfrm>
          <a:off x="539550" y="2852936"/>
          <a:ext cx="8208913" cy="2145760"/>
        </p:xfrm>
        <a:graphic>
          <a:graphicData uri="http://schemas.openxmlformats.org/drawingml/2006/table">
            <a:tbl>
              <a:tblPr bandRow="1"/>
              <a:tblGrid>
                <a:gridCol w="960745"/>
                <a:gridCol w="1007365"/>
                <a:gridCol w="964801"/>
                <a:gridCol w="900955"/>
                <a:gridCol w="931356"/>
                <a:gridCol w="1041823"/>
                <a:gridCol w="1200934"/>
                <a:gridCol w="1200934"/>
              </a:tblGrid>
              <a:tr h="7555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Брой въведени данни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Средна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Медиана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Мода</a:t>
                      </a:r>
                      <a:endParaRPr lang="bg-BG" sz="18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Честота на модата</a:t>
                      </a:r>
                      <a:endParaRPr lang="bg-BG" sz="18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Дисперсия</a:t>
                      </a:r>
                      <a:endParaRPr lang="bg-BG" sz="18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Стандартно отклонение</a:t>
                      </a:r>
                      <a:endParaRPr lang="bg-BG" sz="18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Стандартна грешка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3270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Calibri"/>
                          <a:cs typeface="Arial" pitchFamily="34" charset="0"/>
                        </a:rPr>
                        <a:t>219</a:t>
                      </a:r>
                      <a:endParaRPr lang="bg-BG" sz="140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29,47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99,25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9,96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0,67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18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Минимум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Максимум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Долен квартил</a:t>
                      </a:r>
                      <a:endParaRPr lang="bg-BG" sz="180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Горен квартил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Размах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Квартилен размах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Коефициент на скосеност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/>
                          <a:cs typeface="Times New Roman"/>
                        </a:rPr>
                        <a:t>Коефициент на асиметрия</a:t>
                      </a:r>
                      <a:endParaRPr lang="bg-BG" sz="1800" dirty="0">
                        <a:solidFill>
                          <a:srgbClr val="365F9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327043"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</a:t>
                      </a:r>
                      <a:endParaRPr lang="bg-BG" sz="14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1,49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213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363272" cy="6336704"/>
          </a:xfrm>
        </p:spPr>
        <p:txBody>
          <a:bodyPr>
            <a:normAutofit fontScale="92500" lnSpcReduction="10000"/>
          </a:bodyPr>
          <a:lstStyle/>
          <a:p>
            <a:r>
              <a:rPr lang="bg-BG" dirty="0" smtClean="0"/>
              <a:t>Участници:</a:t>
            </a:r>
          </a:p>
          <a:p>
            <a:pPr lvl="1"/>
            <a:r>
              <a:rPr lang="en-US" dirty="0" smtClean="0"/>
              <a:t>8 </a:t>
            </a:r>
            <a:r>
              <a:rPr lang="bg-BG" dirty="0" smtClean="0"/>
              <a:t>подвойкови въпроси за всяко ИЛ.</a:t>
            </a:r>
            <a:endParaRPr lang="en-US" dirty="0" smtClean="0"/>
          </a:p>
          <a:p>
            <a:pPr lvl="1"/>
            <a:r>
              <a:rPr lang="en-US" dirty="0" smtClean="0"/>
              <a:t>Google forms.</a:t>
            </a:r>
            <a:endParaRPr lang="bg-BG" dirty="0" smtClean="0"/>
          </a:p>
          <a:p>
            <a:pPr lvl="1"/>
            <a:r>
              <a:rPr lang="bg-BG" dirty="0" smtClean="0"/>
              <a:t>Извадка – 219 ИЛ (61, 54, 53, 51); 219х8=1752 </a:t>
            </a:r>
            <a:r>
              <a:rPr lang="en-US" dirty="0" smtClean="0"/>
              <a:t>item-</a:t>
            </a:r>
            <a:r>
              <a:rPr lang="bg-BG" dirty="0" smtClean="0"/>
              <a:t>а:</a:t>
            </a:r>
          </a:p>
          <a:p>
            <a:pPr lvl="2"/>
            <a:r>
              <a:rPr lang="bg-BG" dirty="0" smtClean="0"/>
              <a:t>31% М, 69% Ж;</a:t>
            </a:r>
          </a:p>
          <a:p>
            <a:pPr lvl="2"/>
            <a:r>
              <a:rPr lang="bg-BG" dirty="0"/>
              <a:t>Възрастови характеристики на извадката </a:t>
            </a:r>
            <a:r>
              <a:rPr lang="bg-BG" i="1" dirty="0"/>
              <a:t>(</a:t>
            </a:r>
            <a:r>
              <a:rPr lang="en-US" i="1" dirty="0" smtClean="0"/>
              <a:t>N=</a:t>
            </a:r>
            <a:r>
              <a:rPr lang="bg-BG" i="1" dirty="0" smtClean="0"/>
              <a:t>219</a:t>
            </a:r>
            <a:r>
              <a:rPr lang="en-US" i="1" dirty="0" smtClean="0"/>
              <a:t>)</a:t>
            </a:r>
            <a:r>
              <a:rPr lang="bg-BG" dirty="0"/>
              <a:t>.</a:t>
            </a:r>
          </a:p>
          <a:p>
            <a:pPr lvl="2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 smtClean="0"/>
          </a:p>
          <a:p>
            <a:pPr lvl="1"/>
            <a:endParaRPr lang="bg-BG" dirty="0"/>
          </a:p>
          <a:p>
            <a:pPr lvl="1"/>
            <a:endParaRPr lang="bg-BG" dirty="0" smtClean="0"/>
          </a:p>
          <a:p>
            <a:pPr marL="457200" lvl="1" indent="0">
              <a:buNone/>
            </a:pPr>
            <a:endParaRPr lang="bg-BG" dirty="0"/>
          </a:p>
          <a:p>
            <a:pPr lvl="1"/>
            <a:endParaRPr lang="bg-BG" dirty="0" smtClean="0"/>
          </a:p>
          <a:p>
            <a:pPr lvl="1"/>
            <a:r>
              <a:rPr lang="bg-BG" dirty="0" smtClean="0"/>
              <a:t>Данните се обработват поотделно за Типични и за Нетипични отговори (спрямо първия въпрос).</a:t>
            </a: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628" y="2780928"/>
            <a:ext cx="4148745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8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006" y="260648"/>
            <a:ext cx="4855042" cy="1143000"/>
          </a:xfrm>
        </p:spPr>
        <p:txBody>
          <a:bodyPr>
            <a:noAutofit/>
          </a:bodyPr>
          <a:lstStyle/>
          <a:p>
            <a:r>
              <a:rPr lang="bg-BG" sz="3000" dirty="0" smtClean="0"/>
              <a:t>Модел на данните при Нетипични отговори (28%)</a:t>
            </a:r>
            <a:endParaRPr lang="bg-BG" sz="3000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659" y="1583883"/>
            <a:ext cx="414418" cy="432000"/>
          </a:xfrm>
          <a:prstGeom prst="rect">
            <a:avLst/>
          </a:prstGeom>
        </p:spPr>
      </p:pic>
      <p:cxnSp>
        <p:nvCxnSpPr>
          <p:cNvPr id="43" name="Straight Arrow Connector 42"/>
          <p:cNvCxnSpPr/>
          <p:nvPr/>
        </p:nvCxnSpPr>
        <p:spPr>
          <a:xfrm>
            <a:off x="4622468" y="255292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8222868" y="230924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4855042" y="2359759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446577" y="2381252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6727250" y="23008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539809" y="1512741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65" name="Bent Arrow 64"/>
          <p:cNvSpPr/>
          <p:nvPr/>
        </p:nvSpPr>
        <p:spPr>
          <a:xfrm>
            <a:off x="8286104" y="2153776"/>
            <a:ext cx="801391" cy="328816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69" name="Up Arrow 68"/>
          <p:cNvSpPr/>
          <p:nvPr/>
        </p:nvSpPr>
        <p:spPr>
          <a:xfrm rot="-2100000">
            <a:off x="8506779" y="2818350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0" name="Up Arrow 69"/>
          <p:cNvSpPr/>
          <p:nvPr/>
        </p:nvSpPr>
        <p:spPr>
          <a:xfrm rot="2100000">
            <a:off x="8063986" y="2826701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71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624" y="4442632"/>
            <a:ext cx="414418" cy="432000"/>
          </a:xfrm>
          <a:prstGeom prst="rect">
            <a:avLst/>
          </a:prstGeom>
        </p:spPr>
      </p:pic>
      <p:cxnSp>
        <p:nvCxnSpPr>
          <p:cNvPr id="72" name="Straight Arrow Connector 71"/>
          <p:cNvCxnSpPr/>
          <p:nvPr/>
        </p:nvCxnSpPr>
        <p:spPr>
          <a:xfrm>
            <a:off x="4687433" y="5411670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8287833" y="51679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5352055" y="5218508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8077825" y="5231650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792215" y="5159642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604774" y="4461310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85" name="Bent Arrow 84"/>
          <p:cNvSpPr/>
          <p:nvPr/>
        </p:nvSpPr>
        <p:spPr>
          <a:xfrm>
            <a:off x="8350538" y="5011936"/>
            <a:ext cx="801391" cy="328816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87" name="Up Arrow 86"/>
          <p:cNvSpPr/>
          <p:nvPr/>
        </p:nvSpPr>
        <p:spPr>
          <a:xfrm rot="-2100000">
            <a:off x="8170518" y="5639153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8" name="Up Arrow 87"/>
          <p:cNvSpPr/>
          <p:nvPr/>
        </p:nvSpPr>
        <p:spPr>
          <a:xfrm rot="2100000">
            <a:off x="7727725" y="5647504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91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458" y="1577674"/>
            <a:ext cx="414418" cy="432000"/>
          </a:xfrm>
          <a:prstGeom prst="rect">
            <a:avLst/>
          </a:prstGeom>
        </p:spPr>
      </p:pic>
      <p:cxnSp>
        <p:nvCxnSpPr>
          <p:cNvPr id="92" name="Straight Arrow Connector 91"/>
          <p:cNvCxnSpPr/>
          <p:nvPr/>
        </p:nvCxnSpPr>
        <p:spPr>
          <a:xfrm>
            <a:off x="65267" y="2546712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3665667" y="2303035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/>
          <p:nvPr/>
        </p:nvCxnSpPr>
        <p:spPr>
          <a:xfrm>
            <a:off x="297841" y="2353550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3889376" y="2375043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2170049" y="229468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982608" y="1506532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98" name="Bent Arrow 97"/>
          <p:cNvSpPr/>
          <p:nvPr/>
        </p:nvSpPr>
        <p:spPr>
          <a:xfrm>
            <a:off x="3728903" y="2147567"/>
            <a:ext cx="801391" cy="328816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pic>
        <p:nvPicPr>
          <p:cNvPr id="101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423" y="4436423"/>
            <a:ext cx="414418" cy="432000"/>
          </a:xfrm>
          <a:prstGeom prst="rect">
            <a:avLst/>
          </a:prstGeom>
        </p:spPr>
      </p:pic>
      <p:cxnSp>
        <p:nvCxnSpPr>
          <p:cNvPr id="102" name="Straight Arrow Connector 101"/>
          <p:cNvCxnSpPr/>
          <p:nvPr/>
        </p:nvCxnSpPr>
        <p:spPr>
          <a:xfrm>
            <a:off x="130232" y="540546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3730632" y="516178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794854" y="5212299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3520624" y="5225441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2235014" y="515343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2047573" y="4455101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108" name="Bent Arrow 107"/>
          <p:cNvSpPr/>
          <p:nvPr/>
        </p:nvSpPr>
        <p:spPr>
          <a:xfrm>
            <a:off x="3793337" y="5005727"/>
            <a:ext cx="801391" cy="328816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4" name="Up Arrow 3"/>
          <p:cNvSpPr/>
          <p:nvPr/>
        </p:nvSpPr>
        <p:spPr>
          <a:xfrm>
            <a:off x="3689028" y="2912173"/>
            <a:ext cx="400695" cy="44681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1" name="Up Arrow 110"/>
          <p:cNvSpPr/>
          <p:nvPr/>
        </p:nvSpPr>
        <p:spPr>
          <a:xfrm>
            <a:off x="3329937" y="5716513"/>
            <a:ext cx="400695" cy="44681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2" name="Title 1"/>
          <p:cNvSpPr txBox="1">
            <a:spLocks/>
          </p:cNvSpPr>
          <p:nvPr/>
        </p:nvSpPr>
        <p:spPr>
          <a:xfrm>
            <a:off x="4530294" y="260648"/>
            <a:ext cx="47930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3000" dirty="0" smtClean="0"/>
              <a:t>Очаквания</a:t>
            </a:r>
            <a:r>
              <a:rPr lang="en-US" sz="3000" dirty="0" smtClean="0"/>
              <a:t> </a:t>
            </a:r>
            <a:r>
              <a:rPr lang="bg-BG" sz="3000" dirty="0" smtClean="0"/>
              <a:t>по </a:t>
            </a:r>
            <a:r>
              <a:rPr lang="en-US" sz="3000" i="1" dirty="0" smtClean="0">
                <a:solidFill>
                  <a:srgbClr val="FF0000"/>
                </a:solidFill>
              </a:rPr>
              <a:t>SAM </a:t>
            </a:r>
            <a:r>
              <a:rPr lang="bg-BG" sz="3000" dirty="0" smtClean="0"/>
              <a:t>и по </a:t>
            </a:r>
            <a:r>
              <a:rPr lang="bg-BG" sz="3000" dirty="0" smtClean="0">
                <a:solidFill>
                  <a:srgbClr val="00B050"/>
                </a:solidFill>
              </a:rPr>
              <a:t>Алтернативното обяснение</a:t>
            </a:r>
            <a:endParaRPr lang="bg-BG" sz="3000" i="1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70049" y="2912173"/>
            <a:ext cx="1403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92% (67/73)</a:t>
            </a:r>
          </a:p>
          <a:p>
            <a:r>
              <a:rPr lang="bg-BG" dirty="0" smtClean="0"/>
              <a:t>92% (</a:t>
            </a:r>
            <a:r>
              <a:rPr lang="en-US" dirty="0" smtClean="0"/>
              <a:t>5</a:t>
            </a:r>
            <a:r>
              <a:rPr lang="bg-BG" dirty="0" smtClean="0"/>
              <a:t>8/63) </a:t>
            </a:r>
          </a:p>
          <a:p>
            <a:r>
              <a:rPr lang="bg-BG" dirty="0" smtClean="0"/>
              <a:t>85% (51/60) </a:t>
            </a:r>
          </a:p>
          <a:p>
            <a:r>
              <a:rPr lang="bg-BG" dirty="0" smtClean="0"/>
              <a:t>92% (80/87) 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8032" y="5672625"/>
            <a:ext cx="14219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94% (50/53)</a:t>
            </a:r>
          </a:p>
          <a:p>
            <a:r>
              <a:rPr lang="bg-BG" dirty="0" smtClean="0"/>
              <a:t>92% (46/50)</a:t>
            </a:r>
          </a:p>
          <a:p>
            <a:r>
              <a:rPr lang="bg-BG" dirty="0" smtClean="0"/>
              <a:t>96% (52/54)</a:t>
            </a:r>
          </a:p>
          <a:p>
            <a:pPr lvl="0"/>
            <a:r>
              <a:rPr lang="bg-BG" dirty="0" smtClean="0"/>
              <a:t>88% (49/56)</a:t>
            </a:r>
            <a:endParaRPr lang="bg-BG" dirty="0"/>
          </a:p>
        </p:txBody>
      </p:sp>
      <p:sp>
        <p:nvSpPr>
          <p:cNvPr id="10" name="Rectangle 9"/>
          <p:cNvSpPr/>
          <p:nvPr/>
        </p:nvSpPr>
        <p:spPr>
          <a:xfrm>
            <a:off x="3530284" y="3493849"/>
            <a:ext cx="153708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bg-BG" dirty="0" smtClean="0"/>
              <a:t>Консистентни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8718" y="6202040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/>
              <a:t>Близки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6440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1" grpId="0" animBg="1"/>
      <p:bldP spid="6" grpId="0"/>
      <p:bldP spid="8" grpId="0"/>
      <p:bldP spid="10" grpId="0" animBg="1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Модел на данните при Нетипични отговори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Първа изненада – високият относителен дял на Нетипични отговори (28%)</a:t>
            </a:r>
          </a:p>
          <a:p>
            <a:endParaRPr lang="bg-BG" dirty="0" smtClean="0"/>
          </a:p>
          <a:p>
            <a:endParaRPr lang="bg-BG" dirty="0" smtClean="0"/>
          </a:p>
          <a:p>
            <a:endParaRPr lang="bg-BG" dirty="0" smtClean="0"/>
          </a:p>
          <a:p>
            <a:r>
              <a:rPr lang="bg-BG" dirty="0" smtClean="0"/>
              <a:t>Контент-зависимост при различните въпроси (хората имат различна априорна информация и следователно различна неопределеност по темите).</a:t>
            </a:r>
            <a:endParaRPr lang="bg-BG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73288"/>
              </p:ext>
            </p:extLst>
          </p:nvPr>
        </p:nvGraphicFramePr>
        <p:xfrm>
          <a:off x="971600" y="2708920"/>
          <a:ext cx="5907730" cy="1382292"/>
        </p:xfrm>
        <a:graphic>
          <a:graphicData uri="http://schemas.openxmlformats.org/drawingml/2006/table">
            <a:tbl>
              <a:tblPr/>
              <a:tblGrid>
                <a:gridCol w="1170399"/>
                <a:gridCol w="1170399"/>
                <a:gridCol w="891733"/>
                <a:gridCol w="891733"/>
                <a:gridCol w="891733"/>
                <a:gridCol w="891733"/>
              </a:tblGrid>
              <a:tr h="460764">
                <a:tc>
                  <a:txBody>
                    <a:bodyPr/>
                    <a:lstStyle/>
                    <a:p>
                      <a:pPr algn="l" fontAlgn="b"/>
                      <a:endParaRPr lang="bg-BG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Общо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Вар. 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Вар. 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Вар.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Вар. 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64">
                <a:tc>
                  <a:txBody>
                    <a:bodyPr/>
                    <a:lstStyle/>
                    <a:p>
                      <a:pPr algn="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Брой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64">
                <a:tc>
                  <a:txBody>
                    <a:bodyPr/>
                    <a:lstStyle/>
                    <a:p>
                      <a:pPr algn="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Отн. дял</a:t>
                      </a:r>
                    </a:p>
                  </a:txBody>
                  <a:tcPr marL="9525" marR="857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bg-BG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35%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4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085184"/>
            <a:ext cx="9036496" cy="1584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600" dirty="0" smtClean="0"/>
              <a:t>Хистрограма</a:t>
            </a:r>
            <a:r>
              <a:rPr lang="ru-RU" sz="2600" dirty="0"/>
              <a:t>: Честотно разпределение на ИЛ по броя на дадените от тях Нетипични отговори </a:t>
            </a:r>
            <a:r>
              <a:rPr lang="ru-RU" sz="2600" i="1" dirty="0"/>
              <a:t>(N=219)</a:t>
            </a:r>
            <a:r>
              <a:rPr lang="ru-RU" sz="2600" dirty="0"/>
              <a:t>. Нито едно ИЛ не е дало 8 Нетипични отговора на 8-те представени въпроса</a:t>
            </a:r>
            <a:r>
              <a:rPr lang="ru-RU" sz="2600" dirty="0" smtClean="0"/>
              <a:t>.</a:t>
            </a:r>
            <a:endParaRPr lang="bg-BG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19" y="263808"/>
            <a:ext cx="6347563" cy="47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4687433" cy="1143000"/>
          </a:xfrm>
        </p:spPr>
        <p:txBody>
          <a:bodyPr>
            <a:noAutofit/>
          </a:bodyPr>
          <a:lstStyle/>
          <a:p>
            <a:r>
              <a:rPr lang="bg-BG" sz="3200" dirty="0" smtClean="0"/>
              <a:t>Модел на данните при Типични отговори (72%)</a:t>
            </a:r>
            <a:endParaRPr lang="bg-BG" sz="3200" i="1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572000" y="1600200"/>
            <a:ext cx="0" cy="452596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659" y="1583883"/>
            <a:ext cx="414418" cy="432000"/>
          </a:xfrm>
          <a:prstGeom prst="rect">
            <a:avLst/>
          </a:prstGeom>
        </p:spPr>
      </p:pic>
      <p:cxnSp>
        <p:nvCxnSpPr>
          <p:cNvPr id="59" name="Straight Arrow Connector 58"/>
          <p:cNvCxnSpPr/>
          <p:nvPr/>
        </p:nvCxnSpPr>
        <p:spPr>
          <a:xfrm>
            <a:off x="4622468" y="2552921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222868" y="2309244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855042" y="2359759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8446577" y="2381252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6727250" y="23008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539809" y="1512741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66" name="Up Arrow 65"/>
          <p:cNvSpPr/>
          <p:nvPr/>
        </p:nvSpPr>
        <p:spPr>
          <a:xfrm>
            <a:off x="8266557" y="2858746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7" name="Up Arrow 66"/>
          <p:cNvSpPr/>
          <p:nvPr/>
        </p:nvSpPr>
        <p:spPr>
          <a:xfrm>
            <a:off x="4675022" y="2858746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8" name="Bent Arrow 67"/>
          <p:cNvSpPr/>
          <p:nvPr/>
        </p:nvSpPr>
        <p:spPr>
          <a:xfrm>
            <a:off x="4675022" y="2002741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pic>
        <p:nvPicPr>
          <p:cNvPr id="78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624" y="4442632"/>
            <a:ext cx="414418" cy="432000"/>
          </a:xfrm>
          <a:prstGeom prst="rect">
            <a:avLst/>
          </a:prstGeom>
        </p:spPr>
      </p:pic>
      <p:cxnSp>
        <p:nvCxnSpPr>
          <p:cNvPr id="79" name="Straight Arrow Connector 78"/>
          <p:cNvCxnSpPr/>
          <p:nvPr/>
        </p:nvCxnSpPr>
        <p:spPr>
          <a:xfrm>
            <a:off x="4687433" y="5411670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8287833" y="5167993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5352055" y="5218508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6792215" y="5159642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604774" y="4461310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84" name="Up Arrow 83"/>
          <p:cNvSpPr/>
          <p:nvPr/>
        </p:nvSpPr>
        <p:spPr>
          <a:xfrm>
            <a:off x="7897805" y="5703412"/>
            <a:ext cx="360040" cy="471684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6" name="Bent Arrow 85"/>
          <p:cNvSpPr/>
          <p:nvPr/>
        </p:nvSpPr>
        <p:spPr>
          <a:xfrm>
            <a:off x="4751369" y="4874632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sp>
        <p:nvSpPr>
          <p:cNvPr id="89" name="Up Arrow 88"/>
          <p:cNvSpPr/>
          <p:nvPr/>
        </p:nvSpPr>
        <p:spPr>
          <a:xfrm rot="-2100000">
            <a:off x="5616964" y="5680205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0" name="Up Arrow 89"/>
          <p:cNvSpPr/>
          <p:nvPr/>
        </p:nvSpPr>
        <p:spPr>
          <a:xfrm rot="2100000">
            <a:off x="7435049" y="5680205"/>
            <a:ext cx="360040" cy="471684"/>
          </a:xfrm>
          <a:prstGeom prst="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99" name="Straight Connector 98"/>
          <p:cNvCxnSpPr/>
          <p:nvPr/>
        </p:nvCxnSpPr>
        <p:spPr>
          <a:xfrm>
            <a:off x="8073325" y="5231650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91" y="1570741"/>
            <a:ext cx="414418" cy="432000"/>
          </a:xfrm>
          <a:prstGeom prst="rect">
            <a:avLst/>
          </a:prstGeom>
        </p:spPr>
      </p:pic>
      <p:cxnSp>
        <p:nvCxnSpPr>
          <p:cNvPr id="133" name="Straight Arrow Connector 132"/>
          <p:cNvCxnSpPr/>
          <p:nvPr/>
        </p:nvCxnSpPr>
        <p:spPr>
          <a:xfrm>
            <a:off x="0" y="2539779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/>
          <p:nvPr/>
        </p:nvCxnSpPr>
        <p:spPr>
          <a:xfrm>
            <a:off x="3600400" y="2296102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>
            <a:off x="232574" y="2346617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824109" y="2368110"/>
            <a:ext cx="0" cy="36004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2104782" y="2287751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1917341" y="1499599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139" name="Bent Arrow 138"/>
          <p:cNvSpPr/>
          <p:nvPr/>
        </p:nvSpPr>
        <p:spPr>
          <a:xfrm>
            <a:off x="52554" y="1989599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pic>
        <p:nvPicPr>
          <p:cNvPr id="140" name="Content Placeholder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156" y="4429490"/>
            <a:ext cx="414418" cy="432000"/>
          </a:xfrm>
          <a:prstGeom prst="rect">
            <a:avLst/>
          </a:prstGeom>
        </p:spPr>
      </p:pic>
      <p:cxnSp>
        <p:nvCxnSpPr>
          <p:cNvPr id="141" name="Straight Arrow Connector 140"/>
          <p:cNvCxnSpPr/>
          <p:nvPr/>
        </p:nvCxnSpPr>
        <p:spPr>
          <a:xfrm>
            <a:off x="64965" y="5398528"/>
            <a:ext cx="4464496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3665365" y="5154851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/>
          <p:cNvCxnSpPr/>
          <p:nvPr/>
        </p:nvCxnSpPr>
        <p:spPr>
          <a:xfrm>
            <a:off x="729587" y="5205366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2169747" y="5146500"/>
            <a:ext cx="0" cy="5040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1982306" y="4448168"/>
            <a:ext cx="3748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200" i="1" dirty="0">
                <a:solidFill>
                  <a:srgbClr val="FF0000"/>
                </a:solidFill>
                <a:sym typeface="Symbol"/>
              </a:rPr>
              <a:t></a:t>
            </a:r>
            <a:endParaRPr lang="bg-BG" sz="3200" i="1" dirty="0">
              <a:solidFill>
                <a:srgbClr val="FF0000"/>
              </a:solidFill>
            </a:endParaRPr>
          </a:p>
        </p:txBody>
      </p:sp>
      <p:sp>
        <p:nvSpPr>
          <p:cNvPr id="146" name="Bent Arrow 145"/>
          <p:cNvSpPr/>
          <p:nvPr/>
        </p:nvSpPr>
        <p:spPr>
          <a:xfrm>
            <a:off x="128901" y="4861490"/>
            <a:ext cx="3492733" cy="479851"/>
          </a:xfrm>
          <a:prstGeom prst="bentArrow">
            <a:avLst>
              <a:gd name="adj1" fmla="val 10277"/>
              <a:gd name="adj2" fmla="val 12117"/>
              <a:gd name="adj3" fmla="val 25000"/>
              <a:gd name="adj4" fmla="val 34548"/>
            </a:avLst>
          </a:prstGeom>
          <a:solidFill>
            <a:srgbClr val="0070C0"/>
          </a:solidFill>
          <a:ln w="6350">
            <a:noFill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tx1"/>
              </a:solidFill>
            </a:endParaRPr>
          </a:p>
        </p:txBody>
      </p:sp>
      <p:cxnSp>
        <p:nvCxnSpPr>
          <p:cNvPr id="147" name="Straight Connector 146"/>
          <p:cNvCxnSpPr/>
          <p:nvPr/>
        </p:nvCxnSpPr>
        <p:spPr>
          <a:xfrm>
            <a:off x="3450857" y="5218508"/>
            <a:ext cx="0" cy="36004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Up Arrow 147"/>
          <p:cNvSpPr/>
          <p:nvPr/>
        </p:nvSpPr>
        <p:spPr>
          <a:xfrm>
            <a:off x="32226" y="2883614"/>
            <a:ext cx="400695" cy="44681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9" name="Up Arrow 148"/>
          <p:cNvSpPr/>
          <p:nvPr/>
        </p:nvSpPr>
        <p:spPr>
          <a:xfrm>
            <a:off x="529239" y="5728280"/>
            <a:ext cx="400695" cy="44681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529239" y="2828836"/>
            <a:ext cx="1781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85% (146/171)</a:t>
            </a:r>
          </a:p>
          <a:p>
            <a:r>
              <a:rPr lang="bg-BG" dirty="0" smtClean="0"/>
              <a:t>88% (135/153)</a:t>
            </a:r>
          </a:p>
          <a:p>
            <a:r>
              <a:rPr lang="bg-BG" dirty="0" smtClean="0"/>
              <a:t>82% (124/152)</a:t>
            </a:r>
          </a:p>
          <a:p>
            <a:r>
              <a:rPr lang="bg-BG" dirty="0" smtClean="0"/>
              <a:t>87% (102/117)</a:t>
            </a:r>
          </a:p>
        </p:txBody>
      </p:sp>
      <p:sp>
        <p:nvSpPr>
          <p:cNvPr id="7" name="Rectangle 6"/>
          <p:cNvSpPr/>
          <p:nvPr/>
        </p:nvSpPr>
        <p:spPr>
          <a:xfrm>
            <a:off x="943952" y="5650555"/>
            <a:ext cx="17099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58% (110/191)</a:t>
            </a:r>
          </a:p>
          <a:p>
            <a:r>
              <a:rPr lang="bg-BG" dirty="0" smtClean="0"/>
              <a:t>57% (94/166)</a:t>
            </a:r>
          </a:p>
          <a:p>
            <a:r>
              <a:rPr lang="bg-BG" dirty="0" smtClean="0"/>
              <a:t>55% (87/158)</a:t>
            </a:r>
          </a:p>
          <a:p>
            <a:r>
              <a:rPr lang="bg-BG" dirty="0" smtClean="0"/>
              <a:t>45% (66/148)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2267" y="5650556"/>
            <a:ext cx="1516732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bg-BG" dirty="0" smtClean="0"/>
              <a:t>42% (81/191)</a:t>
            </a:r>
          </a:p>
          <a:p>
            <a:r>
              <a:rPr lang="bg-BG" dirty="0" smtClean="0"/>
              <a:t>43% (72/166)</a:t>
            </a:r>
          </a:p>
          <a:p>
            <a:r>
              <a:rPr lang="bg-BG" dirty="0" smtClean="0"/>
              <a:t>45% (71/158)</a:t>
            </a:r>
          </a:p>
          <a:p>
            <a:r>
              <a:rPr lang="bg-BG" dirty="0" smtClean="0"/>
              <a:t>55% (82/148)</a:t>
            </a:r>
          </a:p>
        </p:txBody>
      </p:sp>
      <p:sp>
        <p:nvSpPr>
          <p:cNvPr id="150" name="Up Arrow 149"/>
          <p:cNvSpPr/>
          <p:nvPr/>
        </p:nvSpPr>
        <p:spPr>
          <a:xfrm>
            <a:off x="3250509" y="5728280"/>
            <a:ext cx="400695" cy="44681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8" name="Title 1"/>
          <p:cNvSpPr txBox="1">
            <a:spLocks/>
          </p:cNvSpPr>
          <p:nvPr/>
        </p:nvSpPr>
        <p:spPr>
          <a:xfrm>
            <a:off x="4530294" y="260648"/>
            <a:ext cx="47930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3000" dirty="0" smtClean="0"/>
              <a:t>Очаквания</a:t>
            </a:r>
            <a:r>
              <a:rPr lang="en-US" sz="3000" dirty="0" smtClean="0"/>
              <a:t> </a:t>
            </a:r>
            <a:r>
              <a:rPr lang="bg-BG" sz="3000" dirty="0" smtClean="0"/>
              <a:t>по </a:t>
            </a:r>
            <a:r>
              <a:rPr lang="en-US" sz="3000" i="1" dirty="0" smtClean="0">
                <a:solidFill>
                  <a:srgbClr val="FF0000"/>
                </a:solidFill>
              </a:rPr>
              <a:t>SAM </a:t>
            </a:r>
            <a:r>
              <a:rPr lang="bg-BG" sz="3000" dirty="0" smtClean="0"/>
              <a:t>и по </a:t>
            </a:r>
            <a:r>
              <a:rPr lang="bg-BG" sz="3000" dirty="0" smtClean="0">
                <a:solidFill>
                  <a:srgbClr val="00B050"/>
                </a:solidFill>
              </a:rPr>
              <a:t>Алтернативното обяснение</a:t>
            </a:r>
            <a:endParaRPr lang="bg-BG" sz="30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38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6" grpId="0"/>
      <p:bldP spid="7" grpId="0"/>
      <p:bldP spid="8" grpId="0" animBg="1"/>
      <p:bldP spid="15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Две възможни критики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bg-BG" dirty="0" smtClean="0"/>
              <a:t>Така конструираният стимулен материал не е адекватен за изследване на </a:t>
            </a:r>
            <a:r>
              <a:rPr lang="en-US" dirty="0" smtClean="0"/>
              <a:t>anchor </a:t>
            </a:r>
            <a:r>
              <a:rPr lang="bg-BG" dirty="0" smtClean="0"/>
              <a:t>ефекта?</a:t>
            </a:r>
          </a:p>
          <a:p>
            <a:pPr marL="514350" indent="-514350">
              <a:buFont typeface="+mj-lt"/>
              <a:buAutoNum type="arabicPeriod"/>
            </a:pPr>
            <a:r>
              <a:rPr lang="bg-BG" dirty="0" smtClean="0"/>
              <a:t>Задаването на средна се намесва значително в поведението на участниците?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078428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Експеримент 2.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Така конструираният стимулен материал не е адекватен за изследване на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anchor </a:t>
            </a: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ефект?</a:t>
            </a:r>
          </a:p>
          <a:p>
            <a:r>
              <a:rPr lang="bg-BG" dirty="0"/>
              <a:t>Със същия стимулен материал, но „свободен от ограничения отговор“ на втория въпрос – проверка дали точно при тези въпроси се наблюдаван </a:t>
            </a:r>
            <a:r>
              <a:rPr lang="en-US" dirty="0"/>
              <a:t>anchor effect </a:t>
            </a:r>
            <a:r>
              <a:rPr lang="bg-BG" dirty="0"/>
              <a:t>по стандартната изследователска парадигма</a:t>
            </a:r>
            <a:r>
              <a:rPr lang="bg-BG" dirty="0" smtClean="0"/>
              <a:t>.</a:t>
            </a: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410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Дизайн: Еднофакторен вътрегрупов (Посока на котвата).</a:t>
            </a:r>
          </a:p>
          <a:p>
            <a:r>
              <a:rPr lang="bg-BG" dirty="0" smtClean="0"/>
              <a:t>Участници:</a:t>
            </a:r>
          </a:p>
          <a:p>
            <a:pPr lvl="1"/>
            <a:r>
              <a:rPr lang="bg-BG" dirty="0" smtClean="0"/>
              <a:t>71 ИЛ.</a:t>
            </a:r>
          </a:p>
          <a:p>
            <a:pPr lvl="1"/>
            <a:r>
              <a:rPr lang="ru-RU" dirty="0" smtClean="0"/>
              <a:t>Балансираност </a:t>
            </a:r>
            <a:r>
              <a:rPr lang="ru-RU" dirty="0"/>
              <a:t>по пол (55% жени и 45% мъже</a:t>
            </a:r>
            <a:r>
              <a:rPr lang="ru-RU" dirty="0" smtClean="0"/>
              <a:t>);</a:t>
            </a:r>
          </a:p>
          <a:p>
            <a:pPr lvl="1"/>
            <a:r>
              <a:rPr lang="ru-RU" dirty="0" smtClean="0"/>
              <a:t>Хетерогенност </a:t>
            </a:r>
            <a:r>
              <a:rPr lang="ru-RU" dirty="0"/>
              <a:t>по възраст (M = 29.45, SD = 8.84</a:t>
            </a:r>
            <a:r>
              <a:rPr lang="ru-RU" dirty="0" smtClean="0"/>
              <a:t>). 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8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278" y="1340768"/>
            <a:ext cx="6753444" cy="5040000"/>
          </a:xfrm>
        </p:spPr>
      </p:pic>
    </p:spTree>
    <p:extLst>
      <p:ext uri="{BB962C8B-B14F-4D97-AF65-F5344CB8AC3E}">
        <p14:creationId xmlns:p14="http://schemas.microsoft.com/office/powerpoint/2010/main" val="231633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1700808"/>
            <a:ext cx="9036496" cy="3530652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08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679" y="1340766"/>
            <a:ext cx="9217359" cy="4140000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26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21" y="1340769"/>
            <a:ext cx="8966559" cy="5184575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26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Н</a:t>
            </a:r>
            <a:r>
              <a:rPr lang="ru-RU" dirty="0" smtClean="0"/>
              <a:t>аправеният </a:t>
            </a:r>
            <a:r>
              <a:rPr lang="ru-RU" i="1" dirty="0"/>
              <a:t>дисперсионен анализ с повторими измервания </a:t>
            </a:r>
            <a:r>
              <a:rPr lang="ru-RU" dirty="0"/>
              <a:t>(Repeated measures ANOVA) с един вътрегрупов фактор (Посока на котвата) с две нива </a:t>
            </a:r>
            <a:r>
              <a:rPr lang="ru-RU" dirty="0" smtClean="0"/>
              <a:t>откри </a:t>
            </a:r>
            <a:r>
              <a:rPr lang="ru-RU" dirty="0"/>
              <a:t>значим ефект на фактора „Посока на котвата“ </a:t>
            </a:r>
            <a:r>
              <a:rPr lang="ru-RU" dirty="0" smtClean="0"/>
              <a:t>в очакваната посока (</a:t>
            </a:r>
            <a:r>
              <a:rPr lang="ru-RU" i="1" dirty="0" smtClean="0"/>
              <a:t>F</a:t>
            </a:r>
            <a:r>
              <a:rPr lang="ru-RU" dirty="0" smtClean="0"/>
              <a:t>(1,70</a:t>
            </a:r>
            <a:r>
              <a:rPr lang="ru-RU" dirty="0"/>
              <a:t>) = 38.91, </a:t>
            </a:r>
            <a:r>
              <a:rPr lang="ru-RU" i="1" dirty="0"/>
              <a:t>p </a:t>
            </a:r>
            <a:r>
              <a:rPr lang="ru-RU" dirty="0"/>
              <a:t>&lt; .001, </a:t>
            </a:r>
            <a:r>
              <a:rPr lang="ru-RU" i="1" dirty="0"/>
              <a:t>partial η² </a:t>
            </a:r>
            <a:r>
              <a:rPr lang="ru-RU" dirty="0"/>
              <a:t>= .357</a:t>
            </a:r>
            <a:r>
              <a:rPr lang="ru-RU" dirty="0" smtClean="0"/>
              <a:t>).</a:t>
            </a:r>
            <a:endParaRPr lang="bg-BG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29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32" y="1600200"/>
            <a:ext cx="6083736" cy="4525963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26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230633"/>
            <a:ext cx="7344816" cy="5510735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2.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26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/>
              <a:t>Експеримент 3.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bg-BG" dirty="0">
                <a:solidFill>
                  <a:schemeClr val="bg1">
                    <a:lumMod val="50000"/>
                  </a:schemeClr>
                </a:solidFill>
              </a:rPr>
              <a:t>Задаването на средна се намесва значително в поведението на участниците?</a:t>
            </a:r>
          </a:p>
          <a:p>
            <a:r>
              <a:rPr lang="bg-BG" dirty="0" smtClean="0"/>
              <a:t>Репликация на Експеримент 1, с единствена разлика – липса на задаване на средна на популацията.</a:t>
            </a:r>
          </a:p>
        </p:txBody>
      </p:sp>
    </p:spTree>
    <p:extLst>
      <p:ext uri="{BB962C8B-B14F-4D97-AF65-F5344CB8AC3E}">
        <p14:creationId xmlns:p14="http://schemas.microsoft.com/office/powerpoint/2010/main" val="364715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Дизайн: Двуфакторен вътрегрупов (Посока на котвата; Представени алтернативи).</a:t>
            </a:r>
          </a:p>
          <a:p>
            <a:r>
              <a:rPr lang="bg-BG" dirty="0" smtClean="0"/>
              <a:t>Участници:</a:t>
            </a:r>
          </a:p>
          <a:p>
            <a:pPr lvl="1"/>
            <a:r>
              <a:rPr lang="bg-BG" dirty="0"/>
              <a:t>119 </a:t>
            </a:r>
            <a:r>
              <a:rPr lang="bg-BG" dirty="0" smtClean="0"/>
              <a:t>ИЛ.</a:t>
            </a:r>
          </a:p>
          <a:p>
            <a:pPr lvl="1"/>
            <a:r>
              <a:rPr lang="ru-RU" dirty="0"/>
              <a:t>Н</a:t>
            </a:r>
            <a:r>
              <a:rPr lang="ru-RU" dirty="0" smtClean="0"/>
              <a:t>ебалансираност </a:t>
            </a:r>
            <a:r>
              <a:rPr lang="ru-RU" dirty="0"/>
              <a:t>по пол (67% жени и 33% мъже</a:t>
            </a:r>
            <a:r>
              <a:rPr lang="ru-RU" dirty="0" smtClean="0"/>
              <a:t>);</a:t>
            </a:r>
          </a:p>
          <a:p>
            <a:pPr lvl="1"/>
            <a:r>
              <a:rPr lang="ru-RU" dirty="0" smtClean="0"/>
              <a:t>Хетерогенност </a:t>
            </a:r>
            <a:r>
              <a:rPr lang="ru-RU" dirty="0"/>
              <a:t>по възраст (</a:t>
            </a:r>
            <a:r>
              <a:rPr lang="ru-RU" i="1" dirty="0"/>
              <a:t>M </a:t>
            </a:r>
            <a:r>
              <a:rPr lang="ru-RU" dirty="0"/>
              <a:t>= 28.16, </a:t>
            </a:r>
            <a:r>
              <a:rPr lang="ru-RU" i="1" dirty="0"/>
              <a:t>SD </a:t>
            </a:r>
            <a:r>
              <a:rPr lang="ru-RU" dirty="0"/>
              <a:t>= 8.53</a:t>
            </a:r>
            <a:r>
              <a:rPr lang="ru-RU" dirty="0" smtClean="0"/>
              <a:t>). 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3.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28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23" y="1412776"/>
            <a:ext cx="6805954" cy="5040000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3.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1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03" y="1196752"/>
            <a:ext cx="7454594" cy="5580000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3.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1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14" y="1161368"/>
            <a:ext cx="7508173" cy="5580000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Експеримент 3.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1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1407293"/>
            <a:ext cx="4040188" cy="1914227"/>
          </a:xfrm>
        </p:spPr>
        <p:txBody>
          <a:bodyPr>
            <a:normAutofit/>
          </a:bodyPr>
          <a:lstStyle/>
          <a:p>
            <a:r>
              <a:rPr lang="bg-BG" b="0" i="1" dirty="0" smtClean="0"/>
              <a:t>Модел на селективната достъпност (</a:t>
            </a:r>
            <a:r>
              <a:rPr lang="en-US" b="0" i="1" dirty="0" smtClean="0"/>
              <a:t>Selective Accessibility Model</a:t>
            </a:r>
            <a:r>
              <a:rPr lang="bg-BG" b="0" i="1" dirty="0" smtClean="0"/>
              <a:t>)</a:t>
            </a:r>
            <a:r>
              <a:rPr lang="bg-BG" b="0" dirty="0" smtClean="0"/>
              <a:t> на </a:t>
            </a:r>
            <a:r>
              <a:rPr lang="en-ZW" b="0" dirty="0" err="1" smtClean="0"/>
              <a:t>Strack</a:t>
            </a:r>
            <a:r>
              <a:rPr lang="bg-BG" b="0" dirty="0" smtClean="0"/>
              <a:t> &amp; </a:t>
            </a:r>
            <a:r>
              <a:rPr lang="en-US" b="0" dirty="0" err="1" smtClean="0"/>
              <a:t>Mussweiler</a:t>
            </a:r>
            <a:r>
              <a:rPr lang="bg-BG" b="0" dirty="0" smtClean="0"/>
              <a:t> (1997)</a:t>
            </a:r>
            <a:endParaRPr lang="en-US" b="0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540150"/>
            <a:ext cx="4040188" cy="3993306"/>
          </a:xfrm>
        </p:spPr>
        <p:txBody>
          <a:bodyPr/>
          <a:lstStyle/>
          <a:p>
            <a:r>
              <a:rPr lang="en-US" sz="2000" dirty="0" smtClean="0"/>
              <a:t>Anchor effect</a:t>
            </a:r>
            <a:r>
              <a:rPr lang="bg-BG" sz="2000" dirty="0" smtClean="0"/>
              <a:t>-а като резултат от семантичен прайминг.</a:t>
            </a:r>
            <a:endParaRPr lang="en-US" sz="2000" dirty="0" smtClean="0"/>
          </a:p>
          <a:p>
            <a:endParaRPr lang="bg-B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1859" y="1451917"/>
            <a:ext cx="4041775" cy="1842219"/>
          </a:xfrm>
        </p:spPr>
        <p:txBody>
          <a:bodyPr>
            <a:normAutofit/>
          </a:bodyPr>
          <a:lstStyle/>
          <a:p>
            <a:r>
              <a:rPr lang="bg-BG" b="0" dirty="0" smtClean="0"/>
              <a:t>Алтернативно обяснение: Общ механизъм за формиране на преценка в условия на неопределеност</a:t>
            </a:r>
            <a:endParaRPr lang="bg-BG" b="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540149"/>
            <a:ext cx="4319463" cy="3993307"/>
          </a:xfrm>
        </p:spPr>
        <p:txBody>
          <a:bodyPr/>
          <a:lstStyle/>
          <a:p>
            <a:r>
              <a:rPr lang="bg-BG" sz="2000" b="0" dirty="0" smtClean="0"/>
              <a:t>Отговорът на втория въпрос се повлиява от котвата, защото се търси благоприятно решение не само на него, а на системата от „свързани събития“.</a:t>
            </a:r>
          </a:p>
          <a:p>
            <a:r>
              <a:rPr lang="bg-BG" sz="2000" dirty="0"/>
              <a:t>Хипотетичната възможност за даден „грешен“ отговор на първия въпрос е причина за приближението към котвата при отговора на втория въпрос.</a:t>
            </a:r>
          </a:p>
          <a:p>
            <a:endParaRPr lang="bg-BG" sz="2000" b="0" dirty="0" smtClean="0"/>
          </a:p>
          <a:p>
            <a:endParaRPr lang="bg-BG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491779" y="1811957"/>
            <a:ext cx="0" cy="48245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bg-BG" dirty="0"/>
              <a:t/>
            </a:r>
            <a:br>
              <a:rPr lang="bg-BG" dirty="0"/>
            </a:br>
            <a:r>
              <a:rPr lang="ru-RU" dirty="0"/>
              <a:t>Сравнение между Алтернативното обяснение и SAM </a:t>
            </a:r>
            <a:br>
              <a:rPr lang="ru-RU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7189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Заключение.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Алтернативното обяснение се базира на по-малко допускания – съществуващ общ механизъм за формиране на преценка (използващ „психологически причини“, </a:t>
            </a:r>
            <a:r>
              <a:rPr lang="en-US" dirty="0" smtClean="0"/>
              <a:t>Reason-based choice).</a:t>
            </a:r>
          </a:p>
          <a:p>
            <a:r>
              <a:rPr lang="bg-BG" dirty="0" smtClean="0"/>
              <a:t>Смисълът на процеса е да се намери „най-добро“ решение 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(докато според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SAM </a:t>
            </a:r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се намира „най-лесно“ решение)</a:t>
            </a:r>
            <a:r>
              <a:rPr lang="bg-BG" dirty="0" smtClean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7519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Алтернативното обяснение прави интересни (на места контраинтуитивни) предсказания за поведение в изкуствени условия.</a:t>
            </a:r>
          </a:p>
          <a:p>
            <a:r>
              <a:rPr lang="bg-BG" dirty="0" smtClean="0"/>
              <a:t>Тези предвиждания се реализират на практика във всички условия на проведените три експеримента.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Заключение.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1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/>
          </a:bodyPr>
          <a:lstStyle/>
          <a:p>
            <a:r>
              <a:rPr lang="bg-BG" dirty="0" smtClean="0"/>
              <a:t>Резултати:</a:t>
            </a:r>
          </a:p>
          <a:p>
            <a:pPr lvl="1"/>
            <a:r>
              <a:rPr lang="bg-BG" dirty="0" smtClean="0"/>
              <a:t>Експеримент 1: Моделът на данните при използване на задачи за форсиран избор следва предвижданията на Алтернативното обяснение.</a:t>
            </a:r>
          </a:p>
          <a:p>
            <a:pPr lvl="1"/>
            <a:r>
              <a:rPr lang="bg-BG" dirty="0" smtClean="0"/>
              <a:t>Експеримент 2: Използваният стимулен материал е адекватен инструмент за изследване на ефекта на закотвяне.</a:t>
            </a:r>
          </a:p>
          <a:p>
            <a:pPr lvl="1"/>
            <a:r>
              <a:rPr lang="bg-BG" dirty="0" smtClean="0"/>
              <a:t>Експеримент 3: При незадаване на популационната средна в условието на задачата моделът на данните продължава да следва Алтернативното </a:t>
            </a:r>
            <a:r>
              <a:rPr lang="bg-BG" dirty="0" smtClean="0"/>
              <a:t>обяснение</a:t>
            </a:r>
            <a:r>
              <a:rPr lang="en-US" dirty="0" smtClean="0"/>
              <a:t> (</a:t>
            </a:r>
            <a:r>
              <a:rPr lang="bg-BG" dirty="0" smtClean="0"/>
              <a:t>в задача за форсиран избор).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Заключение.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964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 smtClean="0"/>
              <a:t>Недостатъци на проведените експерименти:</a:t>
            </a:r>
          </a:p>
          <a:p>
            <a:pPr lvl="1"/>
            <a:r>
              <a:rPr lang="bg-BG" dirty="0"/>
              <a:t>Р</a:t>
            </a:r>
            <a:r>
              <a:rPr lang="bg-BG" dirty="0" smtClean="0"/>
              <a:t>азбиването на данните по сечението „Типични“/„Нетипични“ отговори води до сравняване на подизвадки от двата края на разпределението.</a:t>
            </a:r>
          </a:p>
          <a:p>
            <a:pPr lvl="1"/>
            <a:r>
              <a:rPr lang="bg-BG" dirty="0" smtClean="0"/>
              <a:t>Фиксираният ред на задаване на въпросите – </a:t>
            </a:r>
            <a:r>
              <a:rPr lang="ru-RU" dirty="0" smtClean="0"/>
              <a:t>може </a:t>
            </a:r>
            <a:r>
              <a:rPr lang="ru-RU" dirty="0"/>
              <a:t>да се предполага влияние на изборите на участниците в предходните задачи върху настоящето </a:t>
            </a:r>
            <a:r>
              <a:rPr lang="ru-RU" dirty="0" smtClean="0"/>
              <a:t>решение.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Заключение.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Необходимост от допълнителни изследвания.</a:t>
            </a:r>
            <a:endParaRPr lang="bg-BG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bg-BG" dirty="0" smtClean="0">
                <a:solidFill>
                  <a:schemeClr val="bg1">
                    <a:lumMod val="50000"/>
                  </a:schemeClr>
                </a:solidFill>
              </a:rPr>
              <a:t>Заключение.</a:t>
            </a:r>
            <a:endParaRPr lang="bg-BG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97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Използвана литература.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340768"/>
            <a:ext cx="9036496" cy="452596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bg-BG" sz="8000" dirty="0"/>
              <a:t>Chapman, G. B., &amp; Johnson, E. J. (2002). Incorporating the irrelevant: Anchors in judgments of belief and value. In T. Gilovich, D. Griffin, &amp; D. Kahneman (Eds.), </a:t>
            </a:r>
            <a:r>
              <a:rPr lang="bg-BG" sz="8000" i="1" dirty="0"/>
              <a:t>Heuristics and biases: The psychology of intuitive judgement </a:t>
            </a:r>
            <a:r>
              <a:rPr lang="bg-BG" sz="8000" dirty="0"/>
              <a:t>(pp. 120-138). Cambridge: Cambridge University Press.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8000" dirty="0" err="1"/>
              <a:t>Klayman</a:t>
            </a:r>
            <a:r>
              <a:rPr lang="en-US" sz="8000" dirty="0"/>
              <a:t>, J., &amp; Ha, Y. W. (1987). Confirmation, disconfirmation, and information in hypothesis testing. </a:t>
            </a:r>
            <a:r>
              <a:rPr lang="en-US" sz="8000" i="1" dirty="0"/>
              <a:t>Psychological Review, 94,</a:t>
            </a:r>
            <a:r>
              <a:rPr lang="en-US" sz="8000" dirty="0"/>
              <a:t> 211-228</a:t>
            </a:r>
            <a:r>
              <a:rPr lang="en-US" sz="8000" dirty="0" smtClean="0"/>
              <a:t>.</a:t>
            </a:r>
            <a:endParaRPr lang="bg-BG" sz="8000" dirty="0" smtClean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8000" dirty="0"/>
              <a:t>Russo, J.E., &amp; Shoemaker, P.J.H. (1989). </a:t>
            </a:r>
            <a:r>
              <a:rPr lang="en-US" sz="8000" i="1" dirty="0"/>
              <a:t>Decision Traps. </a:t>
            </a:r>
            <a:r>
              <a:rPr lang="en-US" sz="8000" dirty="0"/>
              <a:t>New York: Simon and Schuster.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8000" dirty="0" err="1"/>
              <a:t>Shafir</a:t>
            </a:r>
            <a:r>
              <a:rPr lang="en-US" sz="8000" dirty="0"/>
              <a:t>, E., Simonson, I., &amp; </a:t>
            </a:r>
            <a:r>
              <a:rPr lang="en-US" sz="8000" dirty="0" err="1"/>
              <a:t>Tversky</a:t>
            </a:r>
            <a:r>
              <a:rPr lang="en-US" sz="8000" dirty="0"/>
              <a:t>, A. (1993). Reason-based choice. </a:t>
            </a:r>
            <a:r>
              <a:rPr lang="en-US" sz="8000" i="1" dirty="0"/>
              <a:t>Cognition, 49, </a:t>
            </a:r>
            <a:r>
              <a:rPr lang="en-US" sz="8000" dirty="0"/>
              <a:t>11-36. </a:t>
            </a:r>
            <a:endParaRPr lang="bg-BG" sz="80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bg-BG" sz="8000" dirty="0"/>
              <a:t>Strack, F.</a:t>
            </a:r>
            <a:r>
              <a:rPr lang="en-US" sz="8000" dirty="0"/>
              <a:t>,</a:t>
            </a:r>
            <a:r>
              <a:rPr lang="bg-BG" sz="8000" dirty="0"/>
              <a:t> &amp; Mussweiler, T. (1997). Explaining the enigmatic anchoring effect: Mechanisms of selective accessibility. </a:t>
            </a:r>
            <a:r>
              <a:rPr lang="bg-BG" sz="8000" i="1" dirty="0"/>
              <a:t>Journal of Personality and Social Psychology, 73(3)</a:t>
            </a:r>
            <a:r>
              <a:rPr lang="bg-BG" sz="8000" dirty="0"/>
              <a:t>, 437-446.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bg-BG" sz="8000" dirty="0"/>
              <a:t>Tversky, A.</a:t>
            </a:r>
            <a:r>
              <a:rPr lang="en-US" sz="8000" dirty="0"/>
              <a:t>,</a:t>
            </a:r>
            <a:r>
              <a:rPr lang="bg-BG" sz="8000" dirty="0"/>
              <a:t> &amp; Kahneman, D. (1974). Judgment under uncertainty: Heuristics and biases. </a:t>
            </a:r>
            <a:r>
              <a:rPr lang="bg-BG" sz="8000" i="1" dirty="0"/>
              <a:t>Science, 185</a:t>
            </a:r>
            <a:r>
              <a:rPr lang="bg-BG" sz="8000" dirty="0"/>
              <a:t>,</a:t>
            </a:r>
            <a:r>
              <a:rPr lang="bg-BG" sz="8000" i="1" dirty="0"/>
              <a:t> </a:t>
            </a:r>
            <a:r>
              <a:rPr lang="bg-BG" sz="8000" dirty="0"/>
              <a:t>1124-1131.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664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564904"/>
            <a:ext cx="8229600" cy="1143000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0052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2261</Words>
  <Application>Microsoft Office PowerPoint</Application>
  <PresentationFormat>On-screen Show (4:3)</PresentationFormat>
  <Paragraphs>428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Office Theme</vt:lpstr>
      <vt:lpstr>  ЕФЕКТЪТ ЗАКОТВЯНЕ – РЕЗУЛТАТ ОТ ДЕЙСТВИЕТО НА ОБЩ МЕХАНИЗЪМ ЗА ФОРМИРАНЕ НА ПРЕЦЕНКА     бакалавърска теза </vt:lpstr>
      <vt:lpstr>Закотвяне (anchoring): дефиниции и общи закономерности</vt:lpstr>
      <vt:lpstr>Евристиката закотвяне и приспособяване: експериментална парадигма и теоретични модели</vt:lpstr>
      <vt:lpstr>PowerPoint Presentation</vt:lpstr>
      <vt:lpstr>Евристиката закотвяне и приспособяване: експериментална парадигма и теоретични модели</vt:lpstr>
      <vt:lpstr>Модел на селективната достъпност (Selective Accessibility Model) – Strack &amp; Mussweiler (1997) </vt:lpstr>
      <vt:lpstr>Ефектът закотвяне: обобщение</vt:lpstr>
      <vt:lpstr>Ефектът закотвяне: Алтернативно обяснение</vt:lpstr>
      <vt:lpstr>Теоретична рамка: Reason-based choice приложен към Свързани събития</vt:lpstr>
      <vt:lpstr>PowerPoint Presentation</vt:lpstr>
      <vt:lpstr>PowerPoint Presentation</vt:lpstr>
      <vt:lpstr>PowerPoint Presentation</vt:lpstr>
      <vt:lpstr> Форсиран избор между зададени алтернативи  </vt:lpstr>
      <vt:lpstr> Форсиран избор между зададени алтернативи  </vt:lpstr>
      <vt:lpstr> Форсиран избор между зададени алтернативи  </vt:lpstr>
      <vt:lpstr> Форсиран избор между зададени алтернативи  </vt:lpstr>
      <vt:lpstr> Форсиран избор между зададени алтернативи  </vt:lpstr>
      <vt:lpstr> Форсиран избор между зададени алтернативи  </vt:lpstr>
      <vt:lpstr> Форсиран избор между зададени алтернативи  </vt:lpstr>
      <vt:lpstr> Сравнение между Алтернативното обяснение и SAM  </vt:lpstr>
      <vt:lpstr>Емпирична проверка на предвижданията. Експеримент 1.</vt:lpstr>
      <vt:lpstr>Емпирична проверка на предвижданията. Експеримент 1.</vt:lpstr>
      <vt:lpstr>Емпирична проверка на предвижданията. Експеримент 1.</vt:lpstr>
      <vt:lpstr>Метод на изследването:</vt:lpstr>
      <vt:lpstr>PowerPoint Presentation</vt:lpstr>
      <vt:lpstr>Метод на изследването:</vt:lpstr>
      <vt:lpstr>Метод на изследването:</vt:lpstr>
      <vt:lpstr>Метод на изследването:</vt:lpstr>
      <vt:lpstr>Метод на изследването:</vt:lpstr>
      <vt:lpstr>Метод на изследването:</vt:lpstr>
      <vt:lpstr>PowerPoint Presentation</vt:lpstr>
      <vt:lpstr>PowerPoint Presentation</vt:lpstr>
      <vt:lpstr>PowerPoint Presentation</vt:lpstr>
      <vt:lpstr>Метод на изследването:</vt:lpstr>
      <vt:lpstr>PowerPoint Presentation</vt:lpstr>
      <vt:lpstr>PowerPoint Presentation</vt:lpstr>
      <vt:lpstr>PowerPoint Presentation</vt:lpstr>
      <vt:lpstr>Модел на данните при Нетипични отговори (28%)</vt:lpstr>
      <vt:lpstr>Модел на данните при Нетипични отговори</vt:lpstr>
      <vt:lpstr>PowerPoint Presentation</vt:lpstr>
      <vt:lpstr>Модел на данните при Типични отговори (72%)</vt:lpstr>
      <vt:lpstr>Две възможни критики</vt:lpstr>
      <vt:lpstr>Експеримент 2.</vt:lpstr>
      <vt:lpstr>Експеримент 2.</vt:lpstr>
      <vt:lpstr>Експеримент 2.</vt:lpstr>
      <vt:lpstr>Експеримент 2.</vt:lpstr>
      <vt:lpstr>Експеримент 2.</vt:lpstr>
      <vt:lpstr>Експеримент 2.</vt:lpstr>
      <vt:lpstr>Експеримент 2.</vt:lpstr>
      <vt:lpstr>Експеримент 2.</vt:lpstr>
      <vt:lpstr>Експеримент 2.</vt:lpstr>
      <vt:lpstr>Експеримент 3.</vt:lpstr>
      <vt:lpstr>Експеримент 3.</vt:lpstr>
      <vt:lpstr>Експеримент 3.</vt:lpstr>
      <vt:lpstr>Експеримент 3.</vt:lpstr>
      <vt:lpstr>Експеримент 3.</vt:lpstr>
      <vt:lpstr> Сравнение между Алтернативното обяснение и SAM  </vt:lpstr>
      <vt:lpstr>Заключение.</vt:lpstr>
      <vt:lpstr>Заключение.</vt:lpstr>
      <vt:lpstr>Заключение.</vt:lpstr>
      <vt:lpstr>Заключение.</vt:lpstr>
      <vt:lpstr>Заключение.</vt:lpstr>
      <vt:lpstr>Използвана литература.</vt:lpstr>
      <vt:lpstr>Благодаря за вниманието!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ЕФЕКТЪТ ЗАКОТВЯНЕ – РЕЗУЛТАТ ОТ ДЕЙСТВИЕТО НА ОБЩ МЕХАНИЗЪМ ЗА ФОРМИРАНЕ НА ПРЕЦЕНКА     бакалавърска теза</dc:title>
  <dc:creator>Balan</dc:creator>
  <cp:lastModifiedBy>Balan</cp:lastModifiedBy>
  <cp:revision>47</cp:revision>
  <dcterms:created xsi:type="dcterms:W3CDTF">2017-10-07T10:53:28Z</dcterms:created>
  <dcterms:modified xsi:type="dcterms:W3CDTF">2017-10-09T17:08:47Z</dcterms:modified>
</cp:coreProperties>
</file>