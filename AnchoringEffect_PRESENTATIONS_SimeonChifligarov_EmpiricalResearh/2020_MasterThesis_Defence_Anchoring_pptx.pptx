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2" r:id="rId5"/>
    <p:sldId id="260" r:id="rId6"/>
    <p:sldId id="263" r:id="rId7"/>
    <p:sldId id="264" r:id="rId8"/>
    <p:sldId id="282" r:id="rId9"/>
    <p:sldId id="266" r:id="rId10"/>
    <p:sldId id="267" r:id="rId11"/>
    <p:sldId id="268" r:id="rId12"/>
    <p:sldId id="283" r:id="rId13"/>
    <p:sldId id="269" r:id="rId14"/>
    <p:sldId id="270" r:id="rId15"/>
    <p:sldId id="271" r:id="rId16"/>
    <p:sldId id="272" r:id="rId17"/>
    <p:sldId id="284" r:id="rId18"/>
    <p:sldId id="287" r:id="rId19"/>
    <p:sldId id="288" r:id="rId20"/>
    <p:sldId id="289" r:id="rId21"/>
    <p:sldId id="290" r:id="rId22"/>
    <p:sldId id="274" r:id="rId23"/>
    <p:sldId id="291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373" r:id="rId32"/>
    <p:sldId id="259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300" r:id="rId41"/>
    <p:sldId id="299" r:id="rId42"/>
    <p:sldId id="303" r:id="rId43"/>
    <p:sldId id="301" r:id="rId44"/>
    <p:sldId id="375" r:id="rId45"/>
    <p:sldId id="376" r:id="rId46"/>
    <p:sldId id="306" r:id="rId47"/>
    <p:sldId id="307" r:id="rId48"/>
    <p:sldId id="308" r:id="rId49"/>
    <p:sldId id="309" r:id="rId50"/>
    <p:sldId id="310" r:id="rId51"/>
    <p:sldId id="311" r:id="rId52"/>
    <p:sldId id="315" r:id="rId53"/>
    <p:sldId id="318" r:id="rId54"/>
    <p:sldId id="319" r:id="rId55"/>
    <p:sldId id="316" r:id="rId56"/>
    <p:sldId id="320" r:id="rId57"/>
    <p:sldId id="322" r:id="rId58"/>
    <p:sldId id="323" r:id="rId59"/>
    <p:sldId id="324" r:id="rId60"/>
    <p:sldId id="325" r:id="rId61"/>
    <p:sldId id="327" r:id="rId62"/>
    <p:sldId id="328" r:id="rId63"/>
    <p:sldId id="329" r:id="rId64"/>
    <p:sldId id="330" r:id="rId65"/>
    <p:sldId id="331" r:id="rId66"/>
    <p:sldId id="332" r:id="rId67"/>
    <p:sldId id="333" r:id="rId68"/>
    <p:sldId id="335" r:id="rId69"/>
    <p:sldId id="334" r:id="rId70"/>
    <p:sldId id="338" r:id="rId71"/>
    <p:sldId id="339" r:id="rId72"/>
    <p:sldId id="340" r:id="rId73"/>
    <p:sldId id="342" r:id="rId74"/>
    <p:sldId id="343" r:id="rId75"/>
    <p:sldId id="344" r:id="rId76"/>
    <p:sldId id="345" r:id="rId77"/>
    <p:sldId id="346" r:id="rId78"/>
    <p:sldId id="347" r:id="rId79"/>
    <p:sldId id="351" r:id="rId80"/>
    <p:sldId id="348" r:id="rId81"/>
    <p:sldId id="350" r:id="rId82"/>
    <p:sldId id="354" r:id="rId83"/>
    <p:sldId id="353" r:id="rId84"/>
    <p:sldId id="355" r:id="rId85"/>
    <p:sldId id="356" r:id="rId86"/>
    <p:sldId id="357" r:id="rId87"/>
    <p:sldId id="374" r:id="rId88"/>
    <p:sldId id="365" r:id="rId89"/>
    <p:sldId id="359" r:id="rId90"/>
    <p:sldId id="368" r:id="rId91"/>
    <p:sldId id="369" r:id="rId92"/>
    <p:sldId id="370" r:id="rId93"/>
    <p:sldId id="371" r:id="rId94"/>
    <p:sldId id="364" r:id="rId95"/>
    <p:sldId id="366" r:id="rId96"/>
    <p:sldId id="367" r:id="rId97"/>
    <p:sldId id="372" r:id="rId98"/>
  </p:sldIdLst>
  <p:sldSz cx="9144000" cy="5143500" type="screen16x9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104" y="-3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AD59-ABFD-4180-A906-2F7D0FD88E74}" type="datetimeFigureOut">
              <a:rPr lang="bg-BG" smtClean="0"/>
              <a:t>30.6.2020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F0441-637E-4063-8009-965C3F1ED23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70397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AD59-ABFD-4180-A906-2F7D0FD88E74}" type="datetimeFigureOut">
              <a:rPr lang="bg-BG" smtClean="0"/>
              <a:t>30.6.2020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F0441-637E-4063-8009-965C3F1ED23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12020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AD59-ABFD-4180-A906-2F7D0FD88E74}" type="datetimeFigureOut">
              <a:rPr lang="bg-BG" smtClean="0"/>
              <a:t>30.6.2020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F0441-637E-4063-8009-965C3F1ED23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0264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AD59-ABFD-4180-A906-2F7D0FD88E74}" type="datetimeFigureOut">
              <a:rPr lang="bg-BG" smtClean="0"/>
              <a:t>30.6.2020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F0441-637E-4063-8009-965C3F1ED23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1549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AD59-ABFD-4180-A906-2F7D0FD88E74}" type="datetimeFigureOut">
              <a:rPr lang="bg-BG" smtClean="0"/>
              <a:t>30.6.2020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F0441-637E-4063-8009-965C3F1ED23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87295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AD59-ABFD-4180-A906-2F7D0FD88E74}" type="datetimeFigureOut">
              <a:rPr lang="bg-BG" smtClean="0"/>
              <a:t>30.6.2020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F0441-637E-4063-8009-965C3F1ED23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51951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AD59-ABFD-4180-A906-2F7D0FD88E74}" type="datetimeFigureOut">
              <a:rPr lang="bg-BG" smtClean="0"/>
              <a:t>30.6.2020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F0441-637E-4063-8009-965C3F1ED23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556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AD59-ABFD-4180-A906-2F7D0FD88E74}" type="datetimeFigureOut">
              <a:rPr lang="bg-BG" smtClean="0"/>
              <a:t>30.6.2020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F0441-637E-4063-8009-965C3F1ED23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8349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AD59-ABFD-4180-A906-2F7D0FD88E74}" type="datetimeFigureOut">
              <a:rPr lang="bg-BG" smtClean="0"/>
              <a:t>30.6.2020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F0441-637E-4063-8009-965C3F1ED23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62341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AD59-ABFD-4180-A906-2F7D0FD88E74}" type="datetimeFigureOut">
              <a:rPr lang="bg-BG" smtClean="0"/>
              <a:t>30.6.2020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F0441-637E-4063-8009-965C3F1ED23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90739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AD59-ABFD-4180-A906-2F7D0FD88E74}" type="datetimeFigureOut">
              <a:rPr lang="bg-BG" smtClean="0"/>
              <a:t>30.6.2020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F0441-637E-4063-8009-965C3F1ED23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3652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0AD59-ABFD-4180-A906-2F7D0FD88E74}" type="datetimeFigureOut">
              <a:rPr lang="bg-BG" smtClean="0"/>
              <a:t>30.6.2020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F0441-637E-4063-8009-965C3F1ED23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41718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627535"/>
            <a:ext cx="8784976" cy="2072804"/>
          </a:xfrm>
        </p:spPr>
        <p:txBody>
          <a:bodyPr>
            <a:noAutofit/>
          </a:bodyPr>
          <a:lstStyle/>
          <a:p>
            <a:r>
              <a:rPr lang="ru-RU" sz="2400" dirty="0" smtClean="0"/>
              <a:t> </a:t>
            </a:r>
            <a:r>
              <a:rPr lang="ru-RU" sz="2400" b="1" dirty="0"/>
              <a:t>ЗАКОТВЯНЕТО – ЕМЕРДЖЕНТЕН ЕФЕКТ ПРИ РЕШАВАНЕТО НА СВЪРЗАНИ ПРОБЛЕМИ, А НЕ НЕЖЕЛАНО ИЗКРИВЯВАНЕ В РЕЗУЛТАТ НА ПСИХОЛОГИЧЕСКИ </a:t>
            </a:r>
            <a:r>
              <a:rPr lang="ru-RU" sz="2400" b="1" dirty="0" smtClean="0"/>
              <a:t>МЕХАНИЗЪМ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1800" b="1" dirty="0"/>
              <a:t/>
            </a:r>
            <a:br>
              <a:rPr lang="en-US" sz="1800" b="1" dirty="0"/>
            </a:br>
            <a:r>
              <a:rPr lang="bg-BG" sz="1800" cap="all" dirty="0" smtClean="0"/>
              <a:t>магистърска теза</a:t>
            </a:r>
            <a:r>
              <a:rPr lang="en-US" sz="1800" cap="all" dirty="0" smtClean="0"/>
              <a:t/>
            </a:r>
            <a:br>
              <a:rPr lang="en-US" sz="1800" cap="all" dirty="0" smtClean="0"/>
            </a:br>
            <a:r>
              <a:rPr lang="bg-BG" sz="1800" cap="all" dirty="0" smtClean="0">
                <a:solidFill>
                  <a:schemeClr val="bg1">
                    <a:lumMod val="75000"/>
                  </a:schemeClr>
                </a:solidFill>
              </a:rPr>
              <a:t>МП ОСП</a:t>
            </a:r>
            <a:endParaRPr lang="bg-BG" sz="2400" cap="all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485546" y="3003798"/>
            <a:ext cx="8172908" cy="1512168"/>
          </a:xfrm>
        </p:spPr>
        <p:txBody>
          <a:bodyPr>
            <a:normAutofit/>
          </a:bodyPr>
          <a:lstStyle/>
          <a:p>
            <a:pPr algn="r"/>
            <a:r>
              <a:rPr lang="bg-BG" sz="1800" i="1" dirty="0" smtClean="0">
                <a:solidFill>
                  <a:schemeClr val="bg1">
                    <a:lumMod val="65000"/>
                  </a:schemeClr>
                </a:solidFill>
              </a:rPr>
              <a:t>Симеон Чифлигаров</a:t>
            </a:r>
          </a:p>
          <a:p>
            <a:pPr algn="r">
              <a:spcAft>
                <a:spcPts val="600"/>
              </a:spcAft>
            </a:pPr>
            <a:r>
              <a:rPr lang="en-US" sz="1800" i="1" dirty="0">
                <a:solidFill>
                  <a:schemeClr val="bg1">
                    <a:lumMod val="65000"/>
                  </a:schemeClr>
                </a:solidFill>
              </a:rPr>
              <a:t>f</a:t>
            </a:r>
            <a:r>
              <a:rPr lang="en-US" sz="1800" i="1" dirty="0" smtClean="0">
                <a:solidFill>
                  <a:schemeClr val="bg1">
                    <a:lumMod val="65000"/>
                  </a:schemeClr>
                </a:solidFill>
              </a:rPr>
              <a:t>69916</a:t>
            </a:r>
          </a:p>
          <a:p>
            <a:pPr algn="r"/>
            <a:r>
              <a:rPr lang="bg-BG" sz="1800" i="1" dirty="0">
                <a:solidFill>
                  <a:schemeClr val="bg1">
                    <a:lumMod val="65000"/>
                  </a:schemeClr>
                </a:solidFill>
              </a:rPr>
              <a:t>Научен </a:t>
            </a:r>
            <a:r>
              <a:rPr lang="bg-BG" sz="1800" i="1" dirty="0" smtClean="0">
                <a:solidFill>
                  <a:schemeClr val="bg1">
                    <a:lumMod val="65000"/>
                  </a:schemeClr>
                </a:solidFill>
              </a:rPr>
              <a:t>р</a:t>
            </a:r>
            <a:r>
              <a:rPr lang="en-US" sz="1800" i="1" dirty="0" smtClean="0">
                <a:solidFill>
                  <a:schemeClr val="bg1">
                    <a:lumMod val="65000"/>
                  </a:schemeClr>
                </a:solidFill>
              </a:rPr>
              <a:t>-</a:t>
            </a:r>
            <a:r>
              <a:rPr lang="bg-BG" sz="1800" i="1" dirty="0" smtClean="0">
                <a:solidFill>
                  <a:schemeClr val="bg1">
                    <a:lumMod val="65000"/>
                  </a:schemeClr>
                </a:solidFill>
              </a:rPr>
              <a:t>л</a:t>
            </a:r>
            <a:r>
              <a:rPr lang="bg-BG" sz="1800" i="1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bg-BG" sz="1800" i="1" dirty="0" smtClean="0">
                <a:solidFill>
                  <a:schemeClr val="bg1">
                    <a:lumMod val="65000"/>
                  </a:schemeClr>
                </a:solidFill>
              </a:rPr>
              <a:t>доц. </a:t>
            </a:r>
            <a:r>
              <a:rPr lang="bg-BG" sz="1800" i="1" dirty="0">
                <a:solidFill>
                  <a:schemeClr val="bg1">
                    <a:lumMod val="65000"/>
                  </a:schemeClr>
                </a:solidFill>
              </a:rPr>
              <a:t>д-р Георги </a:t>
            </a:r>
            <a:r>
              <a:rPr lang="bg-BG" sz="1800" i="1" dirty="0" smtClean="0">
                <a:solidFill>
                  <a:schemeClr val="bg1">
                    <a:lumMod val="65000"/>
                  </a:schemeClr>
                </a:solidFill>
              </a:rPr>
              <a:t>Петков</a:t>
            </a:r>
            <a:endParaRPr lang="en-US" sz="1800" i="1" dirty="0" smtClean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bg-BG" sz="1800" i="1" dirty="0" smtClean="0">
                <a:solidFill>
                  <a:schemeClr val="bg1">
                    <a:lumMod val="65000"/>
                  </a:schemeClr>
                </a:solidFill>
              </a:rPr>
              <a:t>Рецензент: доц. д-р Пенка Христова</a:t>
            </a:r>
            <a:endParaRPr lang="bg-BG" sz="1800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bg-BG" sz="2400" i="1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54" y="3220442"/>
            <a:ext cx="88011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40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27" y="123825"/>
            <a:ext cx="3240372" cy="4895850"/>
          </a:xfr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411510"/>
            <a:ext cx="3388290" cy="4536505"/>
          </a:xfrm>
        </p:spPr>
      </p:pic>
      <p:cxnSp>
        <p:nvCxnSpPr>
          <p:cNvPr id="3" name="Straight Connector 2"/>
          <p:cNvCxnSpPr/>
          <p:nvPr/>
        </p:nvCxnSpPr>
        <p:spPr>
          <a:xfrm>
            <a:off x="1115616" y="781100"/>
            <a:ext cx="86409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115616" y="3139678"/>
            <a:ext cx="86409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15616" y="4486112"/>
            <a:ext cx="86409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076056" y="1207788"/>
            <a:ext cx="1224136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403648" y="4299942"/>
            <a:ext cx="1944216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788024" y="1401763"/>
            <a:ext cx="86409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788024" y="1948433"/>
            <a:ext cx="86409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37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0538"/>
            <a:ext cx="8229600" cy="85725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1.8. Практическо значение на Закотвянето в социален </a:t>
            </a:r>
            <a:r>
              <a:rPr lang="ru-RU" sz="2400" dirty="0" smtClean="0">
                <a:solidFill>
                  <a:schemeClr val="bg1">
                    <a:lumMod val="75000"/>
                  </a:schemeClr>
                </a:solidFill>
              </a:rPr>
              <a:t>и организационен план</a:t>
            </a:r>
            <a:endParaRPr lang="bg-BG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926" y="1200150"/>
            <a:ext cx="8790148" cy="3891880"/>
          </a:xfrm>
        </p:spPr>
        <p:txBody>
          <a:bodyPr>
            <a:normAutofit lnSpcReduction="1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ru-RU" sz="1900" dirty="0" smtClean="0"/>
              <a:t>Закотвянето </a:t>
            </a:r>
            <a:r>
              <a:rPr lang="ru-RU" sz="1900" dirty="0"/>
              <a:t>има съществено значение при </a:t>
            </a:r>
            <a:r>
              <a:rPr lang="ru-RU" sz="1900" dirty="0" smtClean="0"/>
              <a:t>процесите на:</a:t>
            </a:r>
          </a:p>
          <a:p>
            <a:r>
              <a:rPr lang="bg-BG" sz="1900" dirty="0" smtClean="0"/>
              <a:t>Възприемане на самия себе си </a:t>
            </a:r>
            <a:r>
              <a:rPr lang="en-US" sz="1900" dirty="0" smtClean="0"/>
              <a:t>(</a:t>
            </a:r>
            <a:r>
              <a:rPr lang="en-US" sz="1900" dirty="0"/>
              <a:t>self evaluation</a:t>
            </a:r>
            <a:r>
              <a:rPr lang="en-US" sz="1900" dirty="0" smtClean="0"/>
              <a:t>) </a:t>
            </a:r>
            <a:endParaRPr lang="bg-BG" sz="1900" dirty="0" smtClean="0"/>
          </a:p>
          <a:p>
            <a:pPr lvl="1">
              <a:spcAft>
                <a:spcPts val="600"/>
              </a:spcAft>
            </a:pPr>
            <a:r>
              <a:rPr lang="bg-BG" sz="1700" dirty="0"/>
              <a:t>лична </a:t>
            </a:r>
            <a:r>
              <a:rPr lang="bg-BG" sz="1700" dirty="0" smtClean="0"/>
              <a:t>ефикасност (</a:t>
            </a:r>
            <a:r>
              <a:rPr lang="en-US" sz="1700" dirty="0" smtClean="0"/>
              <a:t>self-efficacy)</a:t>
            </a:r>
            <a:r>
              <a:rPr lang="bg-BG" sz="1700" dirty="0"/>
              <a:t>, егоцентричния уклон (</a:t>
            </a:r>
            <a:r>
              <a:rPr lang="en-US" sz="1700" dirty="0"/>
              <a:t>egocentric biases), </a:t>
            </a:r>
            <a:r>
              <a:rPr lang="bg-BG" sz="1700" dirty="0"/>
              <a:t>атрибуцията (</a:t>
            </a:r>
            <a:r>
              <a:rPr lang="en-US" sz="1700" dirty="0"/>
              <a:t>attribution), </a:t>
            </a:r>
            <a:r>
              <a:rPr lang="bg-BG" sz="1700" dirty="0"/>
              <a:t>свръхувереността (</a:t>
            </a:r>
            <a:r>
              <a:rPr lang="en-US" sz="1700" dirty="0"/>
              <a:t>overconfidence), </a:t>
            </a:r>
            <a:r>
              <a:rPr lang="bg-BG" sz="1700" dirty="0"/>
              <a:t>обновяване на вярвания (</a:t>
            </a:r>
            <a:r>
              <a:rPr lang="en-US" sz="1700" dirty="0"/>
              <a:t>belief updating), </a:t>
            </a:r>
            <a:r>
              <a:rPr lang="bg-BG" sz="1700" dirty="0"/>
              <a:t>изразяването на ценности (</a:t>
            </a:r>
            <a:r>
              <a:rPr lang="en-US" sz="1700" dirty="0"/>
              <a:t>expression of </a:t>
            </a:r>
            <a:r>
              <a:rPr lang="en-US" sz="1700" dirty="0" smtClean="0"/>
              <a:t>values)</a:t>
            </a:r>
            <a:endParaRPr lang="bg-BG" sz="2000" dirty="0" smtClean="0"/>
          </a:p>
          <a:p>
            <a:r>
              <a:rPr lang="bg-BG" sz="1900" dirty="0"/>
              <a:t>С</a:t>
            </a:r>
            <a:r>
              <a:rPr lang="bg-BG" sz="1900" dirty="0" smtClean="0"/>
              <a:t>оциално сравнение</a:t>
            </a:r>
          </a:p>
          <a:p>
            <a:pPr lvl="1">
              <a:spcAft>
                <a:spcPts val="600"/>
              </a:spcAft>
            </a:pPr>
            <a:r>
              <a:rPr lang="ru-RU" sz="1700" dirty="0"/>
              <a:t>е</a:t>
            </a:r>
            <a:r>
              <a:rPr lang="ru-RU" sz="1700" dirty="0" smtClean="0"/>
              <a:t>моционално състояние </a:t>
            </a:r>
            <a:r>
              <a:rPr lang="ru-RU" sz="1700" dirty="0"/>
              <a:t>(affect), мотивиция за самоусъвършенстване (</a:t>
            </a:r>
            <a:r>
              <a:rPr lang="en-US" sz="1700" dirty="0"/>
              <a:t>self-improvement)</a:t>
            </a:r>
            <a:r>
              <a:rPr lang="bg-BG" sz="1700" dirty="0"/>
              <a:t>,</a:t>
            </a:r>
            <a:r>
              <a:rPr lang="ru-RU" sz="1700" dirty="0"/>
              <a:t> поведението (</a:t>
            </a:r>
            <a:r>
              <a:rPr lang="en-US" sz="1700" dirty="0"/>
              <a:t>automatic behavior activation</a:t>
            </a:r>
            <a:r>
              <a:rPr lang="ru-RU" sz="1700" dirty="0" smtClean="0"/>
              <a:t>), </a:t>
            </a:r>
            <a:r>
              <a:rPr lang="bg-BG" sz="1700" dirty="0" smtClean="0"/>
              <a:t>ефекта </a:t>
            </a:r>
            <a:r>
              <a:rPr lang="bg-BG" sz="1700" dirty="0"/>
              <a:t>„над средното“ </a:t>
            </a:r>
            <a:r>
              <a:rPr lang="bg-BG" sz="1700" dirty="0" smtClean="0"/>
              <a:t>(</a:t>
            </a:r>
            <a:r>
              <a:rPr lang="en-US" sz="1700" dirty="0" smtClean="0"/>
              <a:t>better-than-average </a:t>
            </a:r>
            <a:r>
              <a:rPr lang="en-US" sz="1700" dirty="0"/>
              <a:t>effects</a:t>
            </a:r>
            <a:r>
              <a:rPr lang="en-US" sz="1700" dirty="0" smtClean="0"/>
              <a:t>),</a:t>
            </a:r>
            <a:r>
              <a:rPr lang="bg-BG" sz="1700" dirty="0" smtClean="0"/>
              <a:t> </a:t>
            </a:r>
            <a:r>
              <a:rPr lang="bg-BG" sz="1700" dirty="0"/>
              <a:t>ефекта „под средното“ </a:t>
            </a:r>
            <a:r>
              <a:rPr lang="bg-BG" sz="1700" dirty="0" smtClean="0"/>
              <a:t>(</a:t>
            </a:r>
            <a:r>
              <a:rPr lang="en-US" sz="1700" dirty="0" smtClean="0"/>
              <a:t>worse-than-average)</a:t>
            </a:r>
            <a:endParaRPr lang="bg-BG" sz="1600" dirty="0"/>
          </a:p>
          <a:p>
            <a:r>
              <a:rPr lang="bg-BG" sz="1900" dirty="0"/>
              <a:t>М</a:t>
            </a:r>
            <a:r>
              <a:rPr lang="bg-BG" sz="1900" dirty="0" smtClean="0"/>
              <a:t>еждуличностни процеси</a:t>
            </a:r>
          </a:p>
          <a:p>
            <a:pPr lvl="1"/>
            <a:r>
              <a:rPr lang="ru-RU" sz="1700" dirty="0"/>
              <a:t>комуникация, преговаряне, решаване на </a:t>
            </a:r>
            <a:r>
              <a:rPr lang="ru-RU" sz="1700" dirty="0" smtClean="0"/>
              <a:t>конфликти, социален обмен</a:t>
            </a:r>
            <a:r>
              <a:rPr lang="en-US" sz="1700" dirty="0" smtClean="0"/>
              <a:t>, </a:t>
            </a:r>
            <a:r>
              <a:rPr lang="bg-BG" sz="1700" dirty="0"/>
              <a:t>закотвяне при групови дискусии, при групово взимане на решение, вътрегруповата фаворизация (</a:t>
            </a:r>
            <a:r>
              <a:rPr lang="en-US" sz="1700" dirty="0"/>
              <a:t>in-group favoritism) </a:t>
            </a:r>
            <a:endParaRPr lang="bg-BG" sz="1700" dirty="0" smtClean="0"/>
          </a:p>
          <a:p>
            <a:endParaRPr lang="bg-BG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2555776" y="771550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[</a:t>
            </a:r>
            <a:r>
              <a:rPr lang="bg-BG" dirty="0">
                <a:solidFill>
                  <a:schemeClr val="bg1">
                    <a:lumMod val="75000"/>
                  </a:schemeClr>
                </a:solidFill>
              </a:rPr>
              <a:t>Въз основа на 18 директни </a:t>
            </a:r>
            <a:r>
              <a:rPr lang="bg-BG" dirty="0" smtClean="0">
                <a:solidFill>
                  <a:schemeClr val="bg1">
                    <a:lumMod val="75000"/>
                  </a:schemeClr>
                </a:solidFill>
              </a:rPr>
              <a:t>източника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]</a:t>
            </a:r>
            <a:endParaRPr lang="bg-BG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910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0538"/>
            <a:ext cx="8229600" cy="85725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1.8. Практическо значение на Закотвянето в </a:t>
            </a:r>
            <a:r>
              <a:rPr lang="ru-RU" sz="2400" dirty="0" smtClean="0">
                <a:solidFill>
                  <a:schemeClr val="bg1">
                    <a:lumMod val="75000"/>
                  </a:schemeClr>
                </a:solidFill>
              </a:rPr>
              <a:t>социален и </a:t>
            </a:r>
            <a:r>
              <a:rPr lang="ru-RU" sz="2400" dirty="0" smtClean="0"/>
              <a:t>организационен план</a:t>
            </a:r>
            <a:endParaRPr lang="bg-BG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926" y="1200150"/>
            <a:ext cx="8790148" cy="3891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Закотвяне има съществено значение при процесите на:</a:t>
            </a:r>
          </a:p>
          <a:p>
            <a:r>
              <a:rPr lang="bg-BG" sz="2000" dirty="0"/>
              <a:t>УЧР:</a:t>
            </a:r>
          </a:p>
          <a:p>
            <a:pPr lvl="1"/>
            <a:r>
              <a:rPr lang="ru-RU" sz="1600" dirty="0"/>
              <a:t>изпълнението на задачи (task performance), намерението за бъдещо влагане на усилия (мотивация за изпълнение), целеполагане,  даване на обратна връзка, придобиване на данни чрез </a:t>
            </a:r>
            <a:r>
              <a:rPr lang="ru-RU" sz="1600" dirty="0" smtClean="0"/>
              <a:t>въпросници, оценка </a:t>
            </a:r>
            <a:r>
              <a:rPr lang="ru-RU" sz="1600" dirty="0"/>
              <a:t>на </a:t>
            </a:r>
            <a:r>
              <a:rPr lang="ru-RU" sz="1600" dirty="0" smtClean="0"/>
              <a:t>изпълнението, </a:t>
            </a:r>
            <a:r>
              <a:rPr lang="ru-RU" sz="1600" dirty="0"/>
              <a:t>комуникации, преговаряне</a:t>
            </a:r>
            <a:endParaRPr lang="bg-BG" sz="2000" dirty="0"/>
          </a:p>
          <a:p>
            <a:r>
              <a:rPr lang="bg-BG" sz="2000" dirty="0"/>
              <a:t>Мениджърски </a:t>
            </a:r>
            <a:r>
              <a:rPr lang="bg-BG" sz="2000" dirty="0" smtClean="0"/>
              <a:t>функции:</a:t>
            </a:r>
            <a:endParaRPr lang="bg-BG" sz="2000" dirty="0"/>
          </a:p>
          <a:p>
            <a:pPr lvl="1"/>
            <a:r>
              <a:rPr lang="ru-RU" sz="1600" dirty="0"/>
              <a:t>оценка на вероятности, правни преценки, потребителски решения, оценки на продукти, прогнозиране на тенденции (forecasting), преценка на вероятността за сложни събития (развитие на нов продукт , оценка на риска), прогнозите за бъдещи тенденции (overly narrow confidence intervals</a:t>
            </a:r>
            <a:r>
              <a:rPr lang="ru-RU" sz="1600" dirty="0" smtClean="0"/>
              <a:t>)</a:t>
            </a:r>
            <a:endParaRPr lang="bg-BG" sz="1600" dirty="0"/>
          </a:p>
          <a:p>
            <a:pPr marL="0" indent="0">
              <a:buNone/>
            </a:pPr>
            <a:r>
              <a:rPr lang="bg-BG" sz="2000" dirty="0"/>
              <a:t>Свързани с:</a:t>
            </a:r>
          </a:p>
          <a:p>
            <a:pPr lvl="1"/>
            <a:r>
              <a:rPr lang="bg-BG" sz="1600" dirty="0"/>
              <a:t>УЖ, СКЖ, просоциално поведение, социални стереотипи</a:t>
            </a:r>
          </a:p>
          <a:p>
            <a:pPr lvl="1"/>
            <a:r>
              <a:rPr lang="ru-RU" sz="1600" dirty="0"/>
              <a:t>управлението на организации, отдели и екипи</a:t>
            </a:r>
            <a:endParaRPr lang="bg-BG" sz="1600" dirty="0"/>
          </a:p>
          <a:p>
            <a:endParaRPr lang="bg-BG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2555776" y="771550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[</a:t>
            </a:r>
            <a:r>
              <a:rPr lang="bg-BG" dirty="0">
                <a:solidFill>
                  <a:schemeClr val="bg1">
                    <a:lumMod val="75000"/>
                  </a:schemeClr>
                </a:solidFill>
              </a:rPr>
              <a:t>Въз основа на 18 директни </a:t>
            </a:r>
            <a:r>
              <a:rPr lang="bg-BG" dirty="0" smtClean="0">
                <a:solidFill>
                  <a:schemeClr val="bg1">
                    <a:lumMod val="75000"/>
                  </a:schemeClr>
                </a:solidFill>
              </a:rPr>
              <a:t>източника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]</a:t>
            </a:r>
            <a:endParaRPr lang="bg-BG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28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6068"/>
            <a:ext cx="8229600" cy="857250"/>
          </a:xfrm>
        </p:spPr>
        <p:txBody>
          <a:bodyPr>
            <a:normAutofit/>
          </a:bodyPr>
          <a:lstStyle/>
          <a:p>
            <a:r>
              <a:rPr lang="bg-BG" sz="2400" dirty="0" smtClean="0"/>
              <a:t>Цели на Магистърската теза (2020)</a:t>
            </a:r>
            <a:endParaRPr lang="bg-BG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55527"/>
            <a:ext cx="9144000" cy="4320479"/>
          </a:xfrm>
        </p:spPr>
        <p:txBody>
          <a:bodyPr>
            <a:noAutofit/>
          </a:bodyPr>
          <a:lstStyle/>
          <a:p>
            <a:r>
              <a:rPr lang="bg-BG" sz="1600" dirty="0" smtClean="0"/>
              <a:t>На ниво Бакалавърска теза (2017) е постигнато:</a:t>
            </a:r>
          </a:p>
          <a:p>
            <a:pPr lvl="1"/>
            <a:r>
              <a:rPr lang="bg-BG" sz="1400" dirty="0" smtClean="0"/>
              <a:t>Теоретична обосновка на Алтернативно обяснение на ефекта Закотвяне</a:t>
            </a:r>
          </a:p>
          <a:p>
            <a:pPr lvl="1"/>
            <a:r>
              <a:rPr lang="bg-BG" sz="1400" dirty="0" smtClean="0"/>
              <a:t>Сравняването му спрямо „доминиращия“ към момента модел на Закотвянето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</a:rPr>
              <a:t>(SAM)</a:t>
            </a:r>
          </a:p>
          <a:p>
            <a:pPr lvl="1"/>
            <a:r>
              <a:rPr lang="bg-BG" sz="1400" dirty="0" smtClean="0"/>
              <a:t>Емпирична проверка на предвижданията – </a:t>
            </a:r>
            <a:r>
              <a:rPr lang="bg-BG" sz="1400" i="1" dirty="0" smtClean="0">
                <a:solidFill>
                  <a:srgbClr val="FF0000"/>
                </a:solidFill>
              </a:rPr>
              <a:t>критичен експеримент</a:t>
            </a:r>
            <a:r>
              <a:rPr lang="bg-BG" sz="1400" dirty="0" smtClean="0"/>
              <a:t> подкрепящ категорично предвижданията на Алтернативното обяснение</a:t>
            </a:r>
          </a:p>
          <a:p>
            <a:pPr lvl="1"/>
            <a:endParaRPr lang="bg-BG" sz="1600" dirty="0"/>
          </a:p>
          <a:p>
            <a:r>
              <a:rPr lang="bg-BG" sz="1600" dirty="0" smtClean="0"/>
              <a:t>Цели на Магистърската теза:</a:t>
            </a:r>
          </a:p>
          <a:p>
            <a:pPr marL="800100" lvl="1" indent="-342900">
              <a:buFont typeface="+mj-lt"/>
              <a:buAutoNum type="arabicPeriod"/>
            </a:pPr>
            <a:r>
              <a:rPr lang="bg-BG" sz="1400" dirty="0" smtClean="0"/>
              <a:t>Обогатяване на литературния обзор по темата в литературата</a:t>
            </a:r>
          </a:p>
          <a:p>
            <a:pPr marL="800100" lvl="1" indent="-342900">
              <a:buFont typeface="+mj-lt"/>
              <a:buAutoNum type="arabicPeriod"/>
            </a:pPr>
            <a:r>
              <a:rPr lang="bg-BG" sz="1400" dirty="0" smtClean="0"/>
              <a:t>Обогатяване на теоретичната обосновка на Алтернативното обяснение</a:t>
            </a:r>
          </a:p>
          <a:p>
            <a:pPr marL="800100" lvl="1" indent="-342900">
              <a:buFont typeface="+mj-lt"/>
              <a:buAutoNum type="arabicPeriod"/>
            </a:pPr>
            <a:r>
              <a:rPr lang="bg-BG" sz="1400" dirty="0" smtClean="0"/>
              <a:t>Задълбочаване на сравнението между Алтернативното обяснение и </a:t>
            </a:r>
            <a:r>
              <a:rPr lang="en-US" sz="1400" dirty="0" smtClean="0"/>
              <a:t>SAM – </a:t>
            </a:r>
            <a:r>
              <a:rPr lang="bg-BG" sz="1400" dirty="0" smtClean="0"/>
              <a:t>на концептуално ниво и на ниво предвиждане на емпирични резултати</a:t>
            </a:r>
          </a:p>
          <a:p>
            <a:pPr marL="800100" lvl="1" indent="-342900">
              <a:buFont typeface="+mj-lt"/>
              <a:buAutoNum type="arabicPeriod"/>
            </a:pPr>
            <a:endParaRPr lang="bg-BG" sz="1400" dirty="0"/>
          </a:p>
          <a:p>
            <a:pPr marL="800100" lvl="1" indent="-342900">
              <a:buFont typeface="+mj-lt"/>
              <a:buAutoNum type="arabicPeriod"/>
            </a:pPr>
            <a:r>
              <a:rPr lang="bg-BG" sz="1400" dirty="0" smtClean="0"/>
              <a:t>Валидиране на изводите от </a:t>
            </a:r>
            <a:r>
              <a:rPr lang="bg-BG" sz="1400" i="1" dirty="0" smtClean="0">
                <a:solidFill>
                  <a:srgbClr val="FF0000"/>
                </a:solidFill>
              </a:rPr>
              <a:t>критичния експеримент  </a:t>
            </a:r>
            <a:r>
              <a:rPr lang="bg-BG" sz="1400" dirty="0" smtClean="0"/>
              <a:t>(чрез дизайн на нов Експеримент 1)</a:t>
            </a:r>
          </a:p>
          <a:p>
            <a:pPr marL="800100" lvl="1" indent="-342900">
              <a:buFont typeface="+mj-lt"/>
              <a:buAutoNum type="arabicPeriod"/>
            </a:pPr>
            <a:r>
              <a:rPr lang="bg-BG" sz="1400" dirty="0" smtClean="0"/>
              <a:t>Развиването на експерименталната парадигма – разширяване на използвания инструментариум (чрез модифициране – дизайн на Експеримент 2)</a:t>
            </a:r>
          </a:p>
          <a:p>
            <a:pPr marL="800100" lvl="1" indent="-342900">
              <a:buFont typeface="+mj-lt"/>
              <a:buAutoNum type="arabicPeriod"/>
            </a:pPr>
            <a:r>
              <a:rPr lang="bg-BG" sz="1400" dirty="0" smtClean="0"/>
              <a:t>Натрупване на емпирични данни за адекватността на Алтернативното обяснение – в абсолютен план, и в сравнителен спрямо </a:t>
            </a:r>
            <a:r>
              <a:rPr lang="en-US" sz="1400" dirty="0" smtClean="0"/>
              <a:t>SAM </a:t>
            </a:r>
            <a:r>
              <a:rPr lang="bg-BG" sz="1400" dirty="0" smtClean="0"/>
              <a:t>план (чрез резултатите от Експеримент 1 и Експеримент 2)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720826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526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05979"/>
            <a:ext cx="8712968" cy="857250"/>
          </a:xfrm>
        </p:spPr>
        <p:txBody>
          <a:bodyPr>
            <a:noAutofit/>
          </a:bodyPr>
          <a:lstStyle/>
          <a:p>
            <a:r>
              <a:rPr lang="bg-BG" sz="2800" i="1" dirty="0" smtClean="0"/>
              <a:t>Закотвяне </a:t>
            </a:r>
            <a:r>
              <a:rPr lang="en-US" sz="2800" i="1" dirty="0" smtClean="0"/>
              <a:t>(Anchoring)</a:t>
            </a:r>
            <a:r>
              <a:rPr lang="bg-BG" sz="2800" i="1" dirty="0" smtClean="0"/>
              <a:t>:</a:t>
            </a:r>
            <a:r>
              <a:rPr lang="bg-BG" sz="2800" dirty="0" smtClean="0"/>
              <a:t> дефиниции и общи закономерности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585846"/>
          </a:xfrm>
        </p:spPr>
        <p:txBody>
          <a:bodyPr>
            <a:noAutofit/>
          </a:bodyPr>
          <a:lstStyle/>
          <a:p>
            <a:r>
              <a:rPr lang="bg-BG" sz="2400" dirty="0" smtClean="0"/>
              <a:t>Закотвянето като:</a:t>
            </a:r>
            <a:endParaRPr lang="en-US" sz="2400" dirty="0" smtClean="0"/>
          </a:p>
          <a:p>
            <a:pPr lvl="1"/>
            <a:r>
              <a:rPr lang="bg-BG" sz="2000" dirty="0" smtClean="0"/>
              <a:t>Процедура</a:t>
            </a:r>
            <a:endParaRPr lang="en-US" sz="2000" dirty="0" smtClean="0"/>
          </a:p>
          <a:p>
            <a:pPr lvl="1"/>
            <a:r>
              <a:rPr lang="bg-BG" sz="2000" dirty="0" smtClean="0"/>
              <a:t>Експериментален резултат</a:t>
            </a:r>
            <a:endParaRPr lang="en-US" sz="2000" dirty="0" smtClean="0"/>
          </a:p>
          <a:p>
            <a:pPr lvl="1">
              <a:spcAft>
                <a:spcPts val="1200"/>
              </a:spcAft>
            </a:pPr>
            <a:r>
              <a:rPr lang="bg-BG" sz="2000" dirty="0" smtClean="0"/>
              <a:t>Психологически процес</a:t>
            </a:r>
          </a:p>
          <a:p>
            <a:r>
              <a:rPr lang="bg-BG" sz="2400" dirty="0" smtClean="0"/>
              <a:t>Недостатъчно отместване (дори при):</a:t>
            </a:r>
            <a:endParaRPr lang="en-US" sz="2400" dirty="0" smtClean="0"/>
          </a:p>
          <a:p>
            <a:pPr lvl="1"/>
            <a:r>
              <a:rPr lang="bg-BG" sz="2000" dirty="0" smtClean="0"/>
              <a:t>Нереалистични котви</a:t>
            </a:r>
            <a:endParaRPr lang="en-US" sz="2000" dirty="0"/>
          </a:p>
          <a:p>
            <a:pPr lvl="1"/>
            <a:r>
              <a:rPr lang="bg-BG" sz="2000" dirty="0" smtClean="0"/>
              <a:t>Предупреждаване</a:t>
            </a:r>
            <a:endParaRPr lang="en-US" sz="2000" dirty="0" smtClean="0"/>
          </a:p>
          <a:p>
            <a:pPr lvl="1"/>
            <a:r>
              <a:rPr lang="bg-BG" sz="2000" dirty="0" smtClean="0"/>
              <a:t>Поощрения за точност</a:t>
            </a:r>
          </a:p>
          <a:p>
            <a:pPr marL="457200" lvl="1" indent="0" algn="r">
              <a:buNone/>
            </a:pPr>
            <a:r>
              <a:rPr lang="bg-BG" sz="2000" dirty="0"/>
              <a:t>(</a:t>
            </a:r>
            <a:r>
              <a:rPr lang="en-US" sz="2000" dirty="0"/>
              <a:t>Chapman</a:t>
            </a:r>
            <a:r>
              <a:rPr lang="bg-BG" sz="2000" dirty="0"/>
              <a:t> &amp; </a:t>
            </a:r>
            <a:r>
              <a:rPr lang="en-US" sz="2000" dirty="0"/>
              <a:t>Johnson</a:t>
            </a:r>
            <a:r>
              <a:rPr lang="bg-BG" sz="2000" dirty="0"/>
              <a:t>, 2002)</a:t>
            </a:r>
          </a:p>
        </p:txBody>
      </p:sp>
    </p:spTree>
    <p:extLst>
      <p:ext uri="{BB962C8B-B14F-4D97-AF65-F5344CB8AC3E}">
        <p14:creationId xmlns:p14="http://schemas.microsoft.com/office/powerpoint/2010/main" val="272220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5979"/>
            <a:ext cx="9144000" cy="857250"/>
          </a:xfrm>
        </p:spPr>
        <p:txBody>
          <a:bodyPr>
            <a:noAutofit/>
          </a:bodyPr>
          <a:lstStyle/>
          <a:p>
            <a:r>
              <a:rPr lang="bg-BG" sz="2800" dirty="0" smtClean="0"/>
              <a:t>Евристиката закотвяне и приспособяване: експериментална парадигма и механизми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93858"/>
          </a:xfrm>
        </p:spPr>
        <p:txBody>
          <a:bodyPr>
            <a:normAutofit fontScale="92500" lnSpcReduction="20000"/>
          </a:bodyPr>
          <a:lstStyle/>
          <a:p>
            <a:r>
              <a:rPr lang="bg-BG" sz="2600" dirty="0" smtClean="0"/>
              <a:t>Експериментална парадигма – подвойкови въпроси за фактологическо знание:</a:t>
            </a:r>
            <a:endParaRPr lang="en-US" sz="2600" dirty="0" smtClean="0"/>
          </a:p>
          <a:p>
            <a:pPr lvl="1"/>
            <a:r>
              <a:rPr lang="bg-BG" sz="2200" dirty="0" smtClean="0"/>
              <a:t>Първи, сравнителен въпрос</a:t>
            </a:r>
            <a:endParaRPr lang="en-US" sz="2200" dirty="0" smtClean="0"/>
          </a:p>
          <a:p>
            <a:pPr lvl="1">
              <a:spcAft>
                <a:spcPts val="600"/>
              </a:spcAft>
            </a:pPr>
            <a:r>
              <a:rPr lang="bg-BG" sz="2200" dirty="0" smtClean="0"/>
              <a:t>Втори, абсолютен въпрос</a:t>
            </a:r>
          </a:p>
          <a:p>
            <a:r>
              <a:rPr lang="bg-BG" sz="2600" dirty="0" smtClean="0">
                <a:solidFill>
                  <a:schemeClr val="bg1"/>
                </a:solidFill>
              </a:rPr>
              <a:t>Четири обяснителни механизма:</a:t>
            </a:r>
            <a:endParaRPr lang="en-US" sz="2600" dirty="0" smtClean="0">
              <a:solidFill>
                <a:schemeClr val="bg1"/>
              </a:solidFill>
            </a:endParaRP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Insufficient Adjustment (Anchoring and Adjustment</a:t>
            </a:r>
            <a:r>
              <a:rPr lang="en-US" sz="2200" dirty="0" smtClean="0">
                <a:solidFill>
                  <a:schemeClr val="bg1"/>
                </a:solidFill>
              </a:rPr>
              <a:t>)</a:t>
            </a:r>
            <a:endParaRPr lang="bg-BG" sz="2200" dirty="0" smtClean="0">
              <a:solidFill>
                <a:schemeClr val="bg1"/>
              </a:solidFill>
            </a:endParaRPr>
          </a:p>
          <a:p>
            <a:pPr lvl="1"/>
            <a:r>
              <a:rPr lang="en-US" sz="2200" dirty="0" smtClean="0">
                <a:solidFill>
                  <a:schemeClr val="bg1"/>
                </a:solidFill>
              </a:rPr>
              <a:t>Conversational Inferences</a:t>
            </a:r>
            <a:endParaRPr lang="bg-BG" sz="2200" dirty="0" smtClean="0">
              <a:solidFill>
                <a:schemeClr val="bg1"/>
              </a:solidFill>
            </a:endParaRP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Numeric Priming </a:t>
            </a:r>
            <a:endParaRPr lang="bg-BG" sz="2200" dirty="0" smtClean="0">
              <a:solidFill>
                <a:schemeClr val="bg1"/>
              </a:solidFill>
            </a:endParaRP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Selective Accessibility (Semantic Priming</a:t>
            </a:r>
            <a:r>
              <a:rPr lang="en-US" sz="2200" dirty="0" smtClean="0">
                <a:solidFill>
                  <a:schemeClr val="bg1"/>
                </a:solidFill>
              </a:rPr>
              <a:t>)</a:t>
            </a:r>
            <a:endParaRPr lang="bg-BG" sz="2200" dirty="0" smtClean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bg-BG" sz="2200" dirty="0" smtClean="0"/>
          </a:p>
          <a:p>
            <a:pPr marL="457200" lvl="1" indent="0" algn="r">
              <a:buNone/>
            </a:pPr>
            <a:r>
              <a:rPr lang="en-US" sz="2200" dirty="0"/>
              <a:t>(Chapman &amp; Johnson, 2002</a:t>
            </a:r>
            <a:r>
              <a:rPr lang="en-US" sz="2200" dirty="0" smtClean="0"/>
              <a:t>)</a:t>
            </a:r>
            <a:endParaRPr lang="bg-BG" dirty="0" smtClean="0"/>
          </a:p>
          <a:p>
            <a:pPr lvl="1">
              <a:buFont typeface="Arial" pitchFamily="34" charset="0"/>
              <a:buChar char="•"/>
            </a:pP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3916833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3" y="15720"/>
            <a:ext cx="6256299" cy="5022558"/>
          </a:xfrm>
        </p:spPr>
      </p:pic>
      <p:sp>
        <p:nvSpPr>
          <p:cNvPr id="2" name="Rectangle 1"/>
          <p:cNvSpPr/>
          <p:nvPr/>
        </p:nvSpPr>
        <p:spPr>
          <a:xfrm>
            <a:off x="683568" y="87474"/>
            <a:ext cx="1800200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1250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5979"/>
            <a:ext cx="9144000" cy="857250"/>
          </a:xfrm>
        </p:spPr>
        <p:txBody>
          <a:bodyPr>
            <a:noAutofit/>
          </a:bodyPr>
          <a:lstStyle/>
          <a:p>
            <a:r>
              <a:rPr lang="bg-BG" sz="2800" dirty="0" smtClean="0"/>
              <a:t>Евристиката закотвяне и приспособяване: експериментална парадигма и механизми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93858"/>
          </a:xfrm>
        </p:spPr>
        <p:txBody>
          <a:bodyPr>
            <a:normAutofit fontScale="92500" lnSpcReduction="20000"/>
          </a:bodyPr>
          <a:lstStyle/>
          <a:p>
            <a:r>
              <a:rPr lang="bg-BG" sz="2600" dirty="0" smtClean="0">
                <a:solidFill>
                  <a:schemeClr val="bg1">
                    <a:lumMod val="50000"/>
                  </a:schemeClr>
                </a:solidFill>
              </a:rPr>
              <a:t>Експериментална парадигма – подвойкови въпроси за фактологическо знание:</a:t>
            </a:r>
            <a:endParaRPr lang="en-US" sz="2600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bg-BG" sz="2200" dirty="0" smtClean="0">
                <a:solidFill>
                  <a:schemeClr val="bg1">
                    <a:lumMod val="50000"/>
                  </a:schemeClr>
                </a:solidFill>
              </a:rPr>
              <a:t>Първи, сравнителен въпрос</a:t>
            </a:r>
            <a:endParaRPr lang="en-US" sz="2200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Aft>
                <a:spcPts val="600"/>
              </a:spcAft>
            </a:pPr>
            <a:r>
              <a:rPr lang="bg-BG" sz="2200" dirty="0" smtClean="0">
                <a:solidFill>
                  <a:schemeClr val="bg1">
                    <a:lumMod val="50000"/>
                  </a:schemeClr>
                </a:solidFill>
              </a:rPr>
              <a:t>Втори, абсолютен въпрос</a:t>
            </a:r>
          </a:p>
          <a:p>
            <a:r>
              <a:rPr lang="bg-BG" sz="2600" dirty="0" smtClean="0"/>
              <a:t>Четири обяснителни механизма:</a:t>
            </a:r>
            <a:endParaRPr lang="en-US" sz="2600" dirty="0" smtClean="0"/>
          </a:p>
          <a:p>
            <a:pPr lvl="1"/>
            <a:r>
              <a:rPr lang="en-US" sz="2200" dirty="0"/>
              <a:t>Insufficient Adjustment (Anchoring and Adjustment</a:t>
            </a:r>
            <a:r>
              <a:rPr lang="en-US" sz="2200" dirty="0" smtClean="0"/>
              <a:t>)</a:t>
            </a:r>
            <a:endParaRPr lang="bg-BG" sz="2200" dirty="0" smtClean="0"/>
          </a:p>
          <a:p>
            <a:pPr lvl="1"/>
            <a:r>
              <a:rPr lang="en-US" sz="2200" dirty="0" smtClean="0"/>
              <a:t>Conversational Inferences</a:t>
            </a:r>
            <a:endParaRPr lang="bg-BG" sz="2200" dirty="0" smtClean="0"/>
          </a:p>
          <a:p>
            <a:pPr lvl="1"/>
            <a:r>
              <a:rPr lang="en-US" sz="2200" dirty="0"/>
              <a:t>Numeric Priming </a:t>
            </a:r>
            <a:endParaRPr lang="bg-BG" sz="2200" dirty="0" smtClean="0"/>
          </a:p>
          <a:p>
            <a:pPr lvl="1"/>
            <a:r>
              <a:rPr lang="en-US" sz="2200" dirty="0"/>
              <a:t>Selective Accessibility (Semantic Priming</a:t>
            </a:r>
            <a:r>
              <a:rPr lang="en-US" sz="2200" dirty="0" smtClean="0"/>
              <a:t>)</a:t>
            </a:r>
            <a:endParaRPr lang="bg-BG" sz="2200" dirty="0" smtClean="0"/>
          </a:p>
          <a:p>
            <a:pPr marL="457200" lvl="1" indent="0">
              <a:buNone/>
            </a:pPr>
            <a:endParaRPr lang="bg-BG" sz="2200" dirty="0" smtClean="0"/>
          </a:p>
          <a:p>
            <a:pPr marL="457200" lvl="1" indent="0" algn="r">
              <a:buNone/>
            </a:pPr>
            <a:r>
              <a:rPr lang="en-US" sz="2200" dirty="0" err="1"/>
              <a:t>Mussweiler</a:t>
            </a:r>
            <a:r>
              <a:rPr lang="en-US" sz="2200" dirty="0"/>
              <a:t> &amp; </a:t>
            </a:r>
            <a:r>
              <a:rPr lang="en-US" sz="2200" dirty="0" err="1"/>
              <a:t>Strack</a:t>
            </a:r>
            <a:r>
              <a:rPr lang="en-US" sz="2200" dirty="0"/>
              <a:t> (1999a</a:t>
            </a:r>
            <a:r>
              <a:rPr lang="en-US" sz="2400" dirty="0"/>
              <a:t>)</a:t>
            </a:r>
            <a:endParaRPr lang="bg-BG" sz="2400" dirty="0" smtClean="0"/>
          </a:p>
          <a:p>
            <a:pPr lvl="1">
              <a:buFont typeface="Arial" pitchFamily="34" charset="0"/>
              <a:buChar char="•"/>
            </a:pPr>
            <a:endParaRPr lang="bg-BG" dirty="0" smtClean="0"/>
          </a:p>
          <a:p>
            <a:pPr lvl="1">
              <a:buFont typeface="Arial" pitchFamily="34" charset="0"/>
              <a:buChar char="•"/>
            </a:pP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182466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388" y="195486"/>
            <a:ext cx="9270776" cy="857250"/>
          </a:xfrm>
        </p:spPr>
        <p:txBody>
          <a:bodyPr>
            <a:noAutofit/>
          </a:bodyPr>
          <a:lstStyle/>
          <a:p>
            <a:r>
              <a:rPr lang="bg-BG" sz="2800" i="1" dirty="0" smtClean="0"/>
              <a:t>Модел </a:t>
            </a:r>
            <a:r>
              <a:rPr lang="bg-BG" sz="2800" i="1" dirty="0"/>
              <a:t>на селективната достъпност </a:t>
            </a:r>
            <a:r>
              <a:rPr lang="bg-BG" sz="2800" i="1" dirty="0" smtClean="0"/>
              <a:t>(</a:t>
            </a:r>
            <a:r>
              <a:rPr lang="en-US" sz="2800" i="1" dirty="0" smtClean="0"/>
              <a:t>Selective</a:t>
            </a:r>
            <a:r>
              <a:rPr lang="bg-BG" sz="2800" i="1" dirty="0" smtClean="0"/>
              <a:t> </a:t>
            </a:r>
            <a:r>
              <a:rPr lang="en-US" sz="2800" i="1" dirty="0" smtClean="0"/>
              <a:t>Accessibility Model</a:t>
            </a:r>
            <a:r>
              <a:rPr lang="bg-BG" sz="2800" i="1" dirty="0" smtClean="0"/>
              <a:t>) – </a:t>
            </a:r>
            <a:r>
              <a:rPr lang="en-US" sz="2800" dirty="0" err="1"/>
              <a:t>Strack</a:t>
            </a:r>
            <a:r>
              <a:rPr lang="bg-BG" sz="2800" dirty="0"/>
              <a:t> &amp; </a:t>
            </a:r>
            <a:r>
              <a:rPr lang="en-US" sz="2800" dirty="0" err="1"/>
              <a:t>Mussweiler</a:t>
            </a:r>
            <a:r>
              <a:rPr lang="bg-BG" sz="2800" dirty="0"/>
              <a:t> (1997)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93858"/>
          </a:xfrm>
        </p:spPr>
        <p:txBody>
          <a:bodyPr>
            <a:normAutofit/>
          </a:bodyPr>
          <a:lstStyle/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Anchor </a:t>
            </a:r>
            <a:r>
              <a:rPr lang="bg-BG" sz="2400" dirty="0" smtClean="0"/>
              <a:t>ефектът като специален случай на семантичен прайминг</a:t>
            </a:r>
          </a:p>
          <a:p>
            <a:pPr lvl="1">
              <a:buFont typeface="Arial" pitchFamily="34" charset="0"/>
              <a:buChar char="•"/>
            </a:pPr>
            <a:r>
              <a:rPr lang="bg-BG" sz="2400" dirty="0" smtClean="0"/>
              <a:t>Приложение на </a:t>
            </a:r>
            <a:r>
              <a:rPr lang="bg-BG" sz="2400" i="1" dirty="0" smtClean="0"/>
              <a:t>стратегията на позитивния тест (</a:t>
            </a:r>
            <a:r>
              <a:rPr lang="en-US" sz="2400" i="1" dirty="0" smtClean="0"/>
              <a:t>positive test strategy</a:t>
            </a:r>
            <a:r>
              <a:rPr lang="bg-BG" sz="2400" i="1" dirty="0" smtClean="0"/>
              <a:t>)</a:t>
            </a:r>
            <a:r>
              <a:rPr lang="bg-BG" sz="2400" dirty="0" smtClean="0"/>
              <a:t> (</a:t>
            </a:r>
            <a:r>
              <a:rPr lang="en-US" sz="2400" dirty="0" err="1" smtClean="0"/>
              <a:t>Klayman</a:t>
            </a:r>
            <a:r>
              <a:rPr lang="bg-BG" sz="2400" dirty="0" smtClean="0"/>
              <a:t> &amp; </a:t>
            </a:r>
            <a:r>
              <a:rPr lang="en-US" sz="2400" dirty="0" smtClean="0"/>
              <a:t>Ha</a:t>
            </a:r>
            <a:r>
              <a:rPr lang="bg-BG" sz="2400" dirty="0" smtClean="0"/>
              <a:t>, 1987) в условията на отговаряне на подвойкови въпроси</a:t>
            </a:r>
          </a:p>
          <a:p>
            <a:pPr lvl="1">
              <a:buFont typeface="Arial" pitchFamily="34" charset="0"/>
              <a:buChar char="•"/>
            </a:pPr>
            <a:r>
              <a:rPr lang="bg-BG" sz="2400" dirty="0" smtClean="0"/>
              <a:t>Не </a:t>
            </a:r>
            <a:r>
              <a:rPr lang="bg-BG" sz="2400" dirty="0"/>
              <a:t>е ригиден феномен, а се проявява по различен начин в зависимост от логическите връзки, в които влизат </a:t>
            </a:r>
            <a:r>
              <a:rPr lang="bg-BG" sz="2400" dirty="0" smtClean="0"/>
              <a:t>сравнителният </a:t>
            </a:r>
            <a:r>
              <a:rPr lang="bg-BG" sz="2400" dirty="0"/>
              <a:t>и абсолютният </a:t>
            </a:r>
            <a:r>
              <a:rPr lang="bg-BG" sz="2400" dirty="0" smtClean="0"/>
              <a:t>въпрос</a:t>
            </a:r>
          </a:p>
        </p:txBody>
      </p:sp>
    </p:spTree>
    <p:extLst>
      <p:ext uri="{BB962C8B-B14F-4D97-AF65-F5344CB8AC3E}">
        <p14:creationId xmlns:p14="http://schemas.microsoft.com/office/powerpoint/2010/main" val="4215436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388" y="195486"/>
            <a:ext cx="9270776" cy="857250"/>
          </a:xfrm>
        </p:spPr>
        <p:txBody>
          <a:bodyPr>
            <a:noAutofit/>
          </a:bodyPr>
          <a:lstStyle/>
          <a:p>
            <a:r>
              <a:rPr lang="bg-BG" sz="2800" i="1" dirty="0" smtClean="0"/>
              <a:t>Модел </a:t>
            </a:r>
            <a:r>
              <a:rPr lang="bg-BG" sz="2800" i="1" dirty="0"/>
              <a:t>на селективната достъпност </a:t>
            </a:r>
            <a:r>
              <a:rPr lang="bg-BG" sz="2800" i="1" dirty="0" smtClean="0"/>
              <a:t>(</a:t>
            </a:r>
            <a:r>
              <a:rPr lang="en-US" sz="2800" i="1" dirty="0" smtClean="0"/>
              <a:t>Selective</a:t>
            </a:r>
            <a:r>
              <a:rPr lang="bg-BG" sz="2800" i="1" dirty="0" smtClean="0"/>
              <a:t> </a:t>
            </a:r>
            <a:r>
              <a:rPr lang="en-US" sz="2800" i="1" dirty="0" smtClean="0"/>
              <a:t>Accessibility Model</a:t>
            </a:r>
            <a:r>
              <a:rPr lang="bg-BG" sz="2800" i="1" dirty="0" smtClean="0"/>
              <a:t>) – </a:t>
            </a:r>
            <a:r>
              <a:rPr lang="en-US" sz="2800" dirty="0" err="1"/>
              <a:t>Strack</a:t>
            </a:r>
            <a:r>
              <a:rPr lang="bg-BG" sz="2800" dirty="0"/>
              <a:t> &amp; </a:t>
            </a:r>
            <a:r>
              <a:rPr lang="en-US" sz="2800" dirty="0" err="1"/>
              <a:t>Mussweiler</a:t>
            </a:r>
            <a:r>
              <a:rPr lang="bg-BG" sz="2800" dirty="0"/>
              <a:t> (1997)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93858"/>
          </a:xfrm>
        </p:spPr>
        <p:txBody>
          <a:bodyPr>
            <a:normAutofit lnSpcReduction="10000"/>
          </a:bodyPr>
          <a:lstStyle/>
          <a:p>
            <a:pPr lvl="1">
              <a:buFont typeface="Arial" pitchFamily="34" charset="0"/>
              <a:buChar char="•"/>
            </a:pPr>
            <a:r>
              <a:rPr lang="bg-BG" sz="2400" dirty="0" smtClean="0"/>
              <a:t>Основна теза на </a:t>
            </a:r>
            <a:r>
              <a:rPr lang="en-US" sz="2400" dirty="0" smtClean="0"/>
              <a:t>SAM: </a:t>
            </a:r>
            <a:r>
              <a:rPr lang="bg-BG" sz="2400" dirty="0" smtClean="0"/>
              <a:t>При решаване на сравнителния въпрос се активира информация консистентна с котвата, която впоследствие е с повишена достъпност и се използва при решаването на абсолютния въпрос</a:t>
            </a:r>
          </a:p>
          <a:p>
            <a:pPr lvl="1">
              <a:buFont typeface="Arial" pitchFamily="34" charset="0"/>
              <a:buChar char="•"/>
            </a:pPr>
            <a:endParaRPr lang="bg-BG" sz="2400" dirty="0"/>
          </a:p>
          <a:p>
            <a:pPr lvl="1">
              <a:buFont typeface="Arial" pitchFamily="34" charset="0"/>
              <a:buChar char="•"/>
            </a:pPr>
            <a:r>
              <a:rPr lang="bg-BG" sz="2400" dirty="0" smtClean="0"/>
              <a:t>Моделът </a:t>
            </a:r>
            <a:r>
              <a:rPr lang="en-US" sz="2400" dirty="0" smtClean="0"/>
              <a:t>SAM </a:t>
            </a:r>
            <a:r>
              <a:rPr lang="bg-BG" sz="2400" dirty="0" smtClean="0"/>
              <a:t>се усложнява във времето с цел да </a:t>
            </a:r>
            <a:r>
              <a:rPr lang="ru-RU" sz="2400" dirty="0"/>
              <a:t>играе ролята на </a:t>
            </a:r>
            <a:r>
              <a:rPr lang="bg-BG" sz="2400" dirty="0" smtClean="0"/>
              <a:t>„</a:t>
            </a:r>
            <a:r>
              <a:rPr lang="ru-RU" sz="2400" dirty="0" smtClean="0"/>
              <a:t>интегративен модел</a:t>
            </a:r>
            <a:r>
              <a:rPr lang="bg-BG" sz="2400" dirty="0" smtClean="0"/>
              <a:t>“</a:t>
            </a:r>
            <a:r>
              <a:rPr lang="ru-RU" sz="2400" dirty="0" smtClean="0"/>
              <a:t> </a:t>
            </a:r>
            <a:r>
              <a:rPr lang="ru-RU" sz="2400" dirty="0">
                <a:solidFill>
                  <a:schemeClr val="bg1">
                    <a:lumMod val="75000"/>
                  </a:schemeClr>
                </a:solidFill>
              </a:rPr>
              <a:t>(Mussweiler &amp; Strack, 2001)</a:t>
            </a:r>
            <a:r>
              <a:rPr lang="ru-RU" sz="2400" dirty="0"/>
              <a:t> и така моделът да придобие статус на „доминиращо обяснение на закотвянето“ </a:t>
            </a:r>
            <a:r>
              <a:rPr lang="ru-RU" sz="2400" dirty="0">
                <a:solidFill>
                  <a:schemeClr val="bg1">
                    <a:lumMod val="75000"/>
                  </a:schemeClr>
                </a:solidFill>
              </a:rPr>
              <a:t>(Furnham &amp; Boo, 2011, p. 37</a:t>
            </a:r>
            <a:r>
              <a:rPr lang="ru-RU" sz="2400" dirty="0" smtClean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bg-BG" sz="2400" dirty="0" smtClean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4784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Ефектът закотвяне: обобщение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bg-BG" sz="2400" dirty="0" smtClean="0"/>
              <a:t>Демонстрация на нерационално поведение</a:t>
            </a:r>
          </a:p>
          <a:p>
            <a:r>
              <a:rPr lang="bg-BG" sz="2400" dirty="0" smtClean="0"/>
              <a:t>Интерпретация като „ясен нежелан уклон“ </a:t>
            </a:r>
            <a:r>
              <a:rPr lang="en-US" sz="2400" dirty="0" smtClean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Chapman &amp; Johnson, 2002, p. 4</a:t>
            </a:r>
            <a:r>
              <a:rPr lang="en-US" sz="2400" dirty="0" smtClean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bg-BG" sz="2400" dirty="0" smtClean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bg-BG" sz="2400" dirty="0" smtClean="0"/>
              <a:t>Аргумент: Най-добрата оценка на параметър на обект не би следвало да зависи от зададен преди това въпрос.</a:t>
            </a:r>
          </a:p>
          <a:p>
            <a:endParaRPr lang="bg-BG" sz="2400" dirty="0" smtClean="0"/>
          </a:p>
          <a:p>
            <a:r>
              <a:rPr lang="bg-BG" sz="2400" dirty="0" smtClean="0"/>
              <a:t>Допускане:</a:t>
            </a:r>
          </a:p>
          <a:p>
            <a:pPr lvl="1"/>
            <a:r>
              <a:rPr lang="bg-BG" sz="2000" dirty="0" smtClean="0"/>
              <a:t>Въпрос 1: Търси се най-добрият отговор на Въпрос 1.</a:t>
            </a:r>
          </a:p>
          <a:p>
            <a:pPr lvl="1"/>
            <a:r>
              <a:rPr lang="bg-BG" sz="2000" dirty="0" smtClean="0"/>
              <a:t>Въпрос 2: Търси се най-добрият отговор на Въпрос 2.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2016723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Ефектът закотвяне: Алтернативно обяснение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bg-BG" sz="2000" dirty="0" smtClean="0">
                <a:solidFill>
                  <a:schemeClr val="bg1">
                    <a:lumMod val="50000"/>
                  </a:schemeClr>
                </a:solidFill>
              </a:rPr>
              <a:t>Допускане:</a:t>
            </a:r>
          </a:p>
          <a:p>
            <a:pPr lvl="1"/>
            <a:r>
              <a:rPr lang="bg-BG" sz="1600" dirty="0" smtClean="0">
                <a:solidFill>
                  <a:schemeClr val="bg1">
                    <a:lumMod val="50000"/>
                  </a:schemeClr>
                </a:solidFill>
              </a:rPr>
              <a:t>Въпрос 1: Търси се най-добрият отговор на Въпрос 1.</a:t>
            </a:r>
          </a:p>
          <a:p>
            <a:pPr lvl="1"/>
            <a:r>
              <a:rPr lang="bg-BG" sz="1600" dirty="0" smtClean="0">
                <a:solidFill>
                  <a:schemeClr val="bg1">
                    <a:lumMod val="50000"/>
                  </a:schemeClr>
                </a:solidFill>
              </a:rPr>
              <a:t>Въпрос 2: Търси се най-добрият отговор на Въпрос 2.</a:t>
            </a:r>
          </a:p>
          <a:p>
            <a:pPr lvl="1"/>
            <a:endParaRPr lang="bg-BG" sz="1600" dirty="0" smtClean="0"/>
          </a:p>
          <a:p>
            <a:r>
              <a:rPr lang="bg-BG" sz="2000" dirty="0" smtClean="0"/>
              <a:t>Допускане:</a:t>
            </a:r>
          </a:p>
          <a:p>
            <a:pPr lvl="1"/>
            <a:r>
              <a:rPr lang="bg-BG" sz="1600" dirty="0" smtClean="0"/>
              <a:t>Въпрос 1: Търси се най-добрият отговор на Въпрос 1.</a:t>
            </a:r>
          </a:p>
          <a:p>
            <a:pPr lvl="1"/>
            <a:r>
              <a:rPr lang="bg-BG" sz="1600" dirty="0" smtClean="0"/>
              <a:t>Въпрос 2: Търси се най-добрият отговор на системата от Въпрос 1 и Въпрос 2.</a:t>
            </a:r>
          </a:p>
          <a:p>
            <a:pPr lvl="1"/>
            <a:endParaRPr lang="bg-BG" sz="1600" dirty="0" smtClean="0"/>
          </a:p>
          <a:p>
            <a:pPr marL="457200" lvl="1" indent="0">
              <a:buNone/>
            </a:pPr>
            <a:r>
              <a:rPr lang="bg-BG" sz="1800" i="1" dirty="0" smtClean="0"/>
              <a:t> „Кой е най-добрият отговор на Въпрос 2,</a:t>
            </a:r>
          </a:p>
          <a:p>
            <a:pPr marL="457200" lvl="1" indent="0">
              <a:buNone/>
            </a:pPr>
            <a:r>
              <a:rPr lang="bg-BG" sz="1800" i="1" dirty="0" smtClean="0"/>
              <a:t>при положение, че вече съм отговорил на Въпрос 1?“</a:t>
            </a:r>
          </a:p>
          <a:p>
            <a:pPr marL="457200" lvl="1" indent="0">
              <a:buNone/>
            </a:pPr>
            <a:endParaRPr lang="bg-BG" sz="1800" i="1" dirty="0" smtClean="0"/>
          </a:p>
          <a:p>
            <a:pPr marL="457200" lvl="1" indent="0">
              <a:buNone/>
            </a:pPr>
            <a:r>
              <a:rPr lang="bg-BG" sz="1800" dirty="0" smtClean="0"/>
              <a:t>Примери.</a:t>
            </a:r>
            <a:endParaRPr lang="bg-BG" sz="1800" dirty="0"/>
          </a:p>
        </p:txBody>
      </p:sp>
    </p:spTree>
    <p:extLst>
      <p:ext uri="{BB962C8B-B14F-4D97-AF65-F5344CB8AC3E}">
        <p14:creationId xmlns:p14="http://schemas.microsoft.com/office/powerpoint/2010/main" val="3358452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44" y="195486"/>
            <a:ext cx="8723312" cy="857250"/>
          </a:xfrm>
        </p:spPr>
        <p:txBody>
          <a:bodyPr>
            <a:noAutofit/>
          </a:bodyPr>
          <a:lstStyle/>
          <a:p>
            <a:r>
              <a:rPr lang="bg-BG" sz="2800" dirty="0" smtClean="0"/>
              <a:t>Теоретична рамка: </a:t>
            </a:r>
            <a:r>
              <a:rPr lang="en-US" sz="2800" dirty="0" smtClean="0"/>
              <a:t>Reason-based choice </a:t>
            </a:r>
            <a:r>
              <a:rPr lang="bg-BG" sz="2800" dirty="0" smtClean="0"/>
              <a:t>приложен към Свързани събития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943350"/>
          </a:xfrm>
        </p:spPr>
        <p:txBody>
          <a:bodyPr>
            <a:normAutofit/>
          </a:bodyPr>
          <a:lstStyle/>
          <a:p>
            <a:r>
              <a:rPr lang="ru-RU" sz="2400" i="1" dirty="0"/>
              <a:t>Избор въз основа на аргументи (Reason-based choice</a:t>
            </a:r>
            <a:r>
              <a:rPr lang="ru-RU" sz="2400" i="1" dirty="0" smtClean="0"/>
              <a:t>)</a:t>
            </a:r>
            <a:r>
              <a:rPr lang="ru-RU" sz="2400" dirty="0"/>
              <a:t> </a:t>
            </a:r>
            <a:r>
              <a:rPr lang="ru-RU" sz="2400" dirty="0" smtClean="0"/>
              <a:t>– </a:t>
            </a:r>
            <a:r>
              <a:rPr lang="en-US" sz="2400" dirty="0" err="1"/>
              <a:t>Shafir</a:t>
            </a:r>
            <a:r>
              <a:rPr lang="en-US" sz="2400" dirty="0"/>
              <a:t>, Simonson, &amp; </a:t>
            </a:r>
            <a:r>
              <a:rPr lang="en-US" sz="2400" dirty="0" err="1"/>
              <a:t>Tversky</a:t>
            </a:r>
            <a:r>
              <a:rPr lang="en-US" sz="2400" dirty="0"/>
              <a:t> (1993</a:t>
            </a:r>
            <a:r>
              <a:rPr lang="en-US" sz="2400" dirty="0" smtClean="0"/>
              <a:t>)</a:t>
            </a:r>
            <a:r>
              <a:rPr lang="bg-BG" sz="2400" dirty="0" smtClean="0"/>
              <a:t>:</a:t>
            </a:r>
          </a:p>
          <a:p>
            <a:pPr lvl="1"/>
            <a:r>
              <a:rPr lang="bg-BG" sz="2000" dirty="0"/>
              <a:t>Д</a:t>
            </a:r>
            <a:r>
              <a:rPr lang="ru-RU" sz="2000" dirty="0" smtClean="0"/>
              <a:t>ескриптивна </a:t>
            </a:r>
            <a:r>
              <a:rPr lang="ru-RU" sz="2000" dirty="0"/>
              <a:t>теория, която си поставя за цел да обясни как се взимат решения в реални </a:t>
            </a:r>
            <a:r>
              <a:rPr lang="ru-RU" sz="2000" dirty="0" smtClean="0"/>
              <a:t>ситуации</a:t>
            </a:r>
          </a:p>
          <a:p>
            <a:pPr lvl="1">
              <a:spcAft>
                <a:spcPts val="2400"/>
              </a:spcAft>
            </a:pPr>
            <a:r>
              <a:rPr lang="ru-RU" sz="2000" dirty="0"/>
              <a:t>И</a:t>
            </a:r>
            <a:r>
              <a:rPr lang="ru-RU" sz="2000" dirty="0" smtClean="0"/>
              <a:t>зправени </a:t>
            </a:r>
            <a:r>
              <a:rPr lang="ru-RU" sz="2000" dirty="0"/>
              <a:t>пред избор хората търсят и/или конструират причини и на тяхна база стигат до </a:t>
            </a:r>
            <a:r>
              <a:rPr lang="ru-RU" sz="2000" dirty="0" smtClean="0"/>
              <a:t>решение</a:t>
            </a:r>
            <a:endParaRPr lang="ru-RU" sz="2000" dirty="0"/>
          </a:p>
          <a:p>
            <a:pPr marL="457200" lvl="1" indent="0">
              <a:buNone/>
            </a:pPr>
            <a:r>
              <a:rPr lang="ru-RU" sz="2200" dirty="0"/>
              <a:t>Основна теза: При решенията си ние се ръководим </a:t>
            </a:r>
            <a:r>
              <a:rPr lang="ru-RU" sz="2200" dirty="0" smtClean="0">
                <a:solidFill>
                  <a:schemeClr val="bg1">
                    <a:lumMod val="75000"/>
                  </a:schemeClr>
                </a:solidFill>
              </a:rPr>
              <a:t>(не </a:t>
            </a:r>
            <a:r>
              <a:rPr lang="ru-RU" sz="2200" dirty="0">
                <a:solidFill>
                  <a:schemeClr val="bg1">
                    <a:lumMod val="75000"/>
                  </a:schemeClr>
                </a:solidFill>
              </a:rPr>
              <a:t>от принципите на нормативните теории, </a:t>
            </a:r>
            <a:r>
              <a:rPr lang="ru-RU" sz="2200" dirty="0" smtClean="0">
                <a:solidFill>
                  <a:schemeClr val="bg1">
                    <a:lumMod val="75000"/>
                  </a:schemeClr>
                </a:solidFill>
              </a:rPr>
              <a:t>а)</a:t>
            </a:r>
            <a:r>
              <a:rPr lang="ru-RU" sz="2200" dirty="0" smtClean="0"/>
              <a:t> от </a:t>
            </a:r>
            <a:r>
              <a:rPr lang="ru-RU" sz="2200" dirty="0"/>
              <a:t>причини, които паметовата ни система извлича и оценява в текущия контекст</a:t>
            </a:r>
            <a:endParaRPr lang="bg-BG" sz="2200" dirty="0"/>
          </a:p>
        </p:txBody>
      </p:sp>
    </p:spTree>
    <p:extLst>
      <p:ext uri="{BB962C8B-B14F-4D97-AF65-F5344CB8AC3E}">
        <p14:creationId xmlns:p14="http://schemas.microsoft.com/office/powerpoint/2010/main" val="3322173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 smtClean="0"/>
              <a:t>По </a:t>
            </a:r>
            <a:r>
              <a:rPr lang="ru-RU" sz="2000" dirty="0"/>
              <a:t>време на отговор на </a:t>
            </a:r>
            <a:r>
              <a:rPr lang="ru-RU" sz="2000" dirty="0" smtClean="0"/>
              <a:t>Въпрос </a:t>
            </a:r>
            <a:r>
              <a:rPr lang="ru-RU" sz="2000" dirty="0"/>
              <a:t>2 се поставят две „психологически изменения“ на ситуацията: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 smtClean="0"/>
              <a:t>Стойностите </a:t>
            </a:r>
            <a:r>
              <a:rPr lang="ru-RU" sz="2000" dirty="0"/>
              <a:t>консистенти на първия отговор са много добри – съответстват на верен първи отговор. </a:t>
            </a:r>
            <a:endParaRPr lang="ru-RU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ru-RU" sz="2000" dirty="0" smtClean="0"/>
              <a:t>Ако съм сбъркал, то стойностите близки до котвата са много добри – съответстват на малка грешка (по сбъркания първи въпрос). </a:t>
            </a:r>
          </a:p>
        </p:txBody>
      </p:sp>
    </p:spTree>
    <p:extLst>
      <p:ext uri="{BB962C8B-B14F-4D97-AF65-F5344CB8AC3E}">
        <p14:creationId xmlns:p14="http://schemas.microsoft.com/office/powerpoint/2010/main" val="472865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" y="2024246"/>
            <a:ext cx="9108000" cy="2391152"/>
          </a:xfrm>
        </p:spPr>
      </p:pic>
      <p:sp>
        <p:nvSpPr>
          <p:cNvPr id="2" name="Rectangle 1"/>
          <p:cNvSpPr/>
          <p:nvPr/>
        </p:nvSpPr>
        <p:spPr>
          <a:xfrm>
            <a:off x="0" y="3003798"/>
            <a:ext cx="9144000" cy="1512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97768" y="-7547"/>
            <a:ext cx="8748464" cy="12995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 smtClean="0">
                <a:solidFill>
                  <a:schemeClr val="bg1">
                    <a:lumMod val="75000"/>
                  </a:schemeClr>
                </a:solidFill>
              </a:rPr>
              <a:t>По време на отговор на Въпрос 2 се поставят две „психологически изменения“ на ситуацията: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 smtClean="0">
                <a:solidFill>
                  <a:schemeClr val="bg1">
                    <a:lumMod val="75000"/>
                  </a:schemeClr>
                </a:solidFill>
              </a:rPr>
              <a:t>Стойностите консистенти на първия отговор са много добри – съответстват на верен първи отговор.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 smtClean="0">
                <a:solidFill>
                  <a:schemeClr val="bg1">
                    <a:lumMod val="75000"/>
                  </a:schemeClr>
                </a:solidFill>
              </a:rPr>
              <a:t>Ако съм сбъркал, то стойностите близки до котвата са много добри – съответстват на малка грешка (по сбъркания първи въпрос). </a:t>
            </a:r>
          </a:p>
        </p:txBody>
      </p:sp>
    </p:spTree>
    <p:extLst>
      <p:ext uri="{BB962C8B-B14F-4D97-AF65-F5344CB8AC3E}">
        <p14:creationId xmlns:p14="http://schemas.microsoft.com/office/powerpoint/2010/main" val="3249307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" y="2024246"/>
            <a:ext cx="9108000" cy="2391152"/>
          </a:xfrm>
        </p:spPr>
      </p:pic>
      <p:sp>
        <p:nvSpPr>
          <p:cNvPr id="2" name="Rectangle 1"/>
          <p:cNvSpPr/>
          <p:nvPr/>
        </p:nvSpPr>
        <p:spPr>
          <a:xfrm>
            <a:off x="2771800" y="3003798"/>
            <a:ext cx="6372200" cy="1512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97768" y="-7547"/>
            <a:ext cx="8748464" cy="12995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 smtClean="0">
                <a:solidFill>
                  <a:schemeClr val="bg1">
                    <a:lumMod val="75000"/>
                  </a:schemeClr>
                </a:solidFill>
              </a:rPr>
              <a:t>По време на отговор на Въпрос 2 се поставят две „психологически изменения“ на ситуацията: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 smtClean="0">
                <a:solidFill>
                  <a:schemeClr val="bg1">
                    <a:lumMod val="75000"/>
                  </a:schemeClr>
                </a:solidFill>
              </a:rPr>
              <a:t>Стойностите консистенти на първия отговор са много добри – съответстват на верен първи отговор.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 smtClean="0">
                <a:solidFill>
                  <a:schemeClr val="bg1">
                    <a:lumMod val="75000"/>
                  </a:schemeClr>
                </a:solidFill>
              </a:rPr>
              <a:t>Ако съм сбъркал, то стойностите близки до котвата са много добри – съответстват на малка грешка (по сбъркания първи въпрос). </a:t>
            </a:r>
          </a:p>
        </p:txBody>
      </p:sp>
    </p:spTree>
    <p:extLst>
      <p:ext uri="{BB962C8B-B14F-4D97-AF65-F5344CB8AC3E}">
        <p14:creationId xmlns:p14="http://schemas.microsoft.com/office/powerpoint/2010/main" val="185506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" y="2024246"/>
            <a:ext cx="9108000" cy="2391152"/>
          </a:xfrm>
        </p:spPr>
      </p:pic>
      <p:sp>
        <p:nvSpPr>
          <p:cNvPr id="2" name="Rectangle 1"/>
          <p:cNvSpPr/>
          <p:nvPr/>
        </p:nvSpPr>
        <p:spPr>
          <a:xfrm>
            <a:off x="6372200" y="3003798"/>
            <a:ext cx="2771800" cy="1512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97768" y="-7547"/>
            <a:ext cx="8748464" cy="12995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 smtClean="0">
                <a:solidFill>
                  <a:schemeClr val="bg1">
                    <a:lumMod val="75000"/>
                  </a:schemeClr>
                </a:solidFill>
              </a:rPr>
              <a:t>По време на отговор на Въпрос 2 се поставят две „психологически изменения“ на ситуацията: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 smtClean="0">
                <a:solidFill>
                  <a:schemeClr val="bg1">
                    <a:lumMod val="75000"/>
                  </a:schemeClr>
                </a:solidFill>
              </a:rPr>
              <a:t>Стойностите консистенти на първия отговор са много добри – съответстват на верен първи отговор.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 smtClean="0">
                <a:solidFill>
                  <a:schemeClr val="bg1">
                    <a:lumMod val="75000"/>
                  </a:schemeClr>
                </a:solidFill>
              </a:rPr>
              <a:t>Ако съм сбъркал, то стойностите близки до котвата са много добри – съответстват на малка грешка (по сбъркания първи въпрос). </a:t>
            </a:r>
          </a:p>
        </p:txBody>
      </p:sp>
    </p:spTree>
    <p:extLst>
      <p:ext uri="{BB962C8B-B14F-4D97-AF65-F5344CB8AC3E}">
        <p14:creationId xmlns:p14="http://schemas.microsoft.com/office/powerpoint/2010/main" val="185506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" y="2024246"/>
            <a:ext cx="9108000" cy="2391152"/>
          </a:xfrm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197768" y="-7547"/>
            <a:ext cx="8748464" cy="12995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 smtClean="0">
                <a:solidFill>
                  <a:schemeClr val="bg1">
                    <a:lumMod val="75000"/>
                  </a:schemeClr>
                </a:solidFill>
              </a:rPr>
              <a:t>По време на отговор на Въпрос 2 се поставят две „психологически изменения“ на ситуацията: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 smtClean="0">
                <a:solidFill>
                  <a:schemeClr val="bg1">
                    <a:lumMod val="75000"/>
                  </a:schemeClr>
                </a:solidFill>
              </a:rPr>
              <a:t>Стойностите консистенти на първия отговор са много добри – съответстват на верен първи отговор.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 smtClean="0">
                <a:solidFill>
                  <a:schemeClr val="bg1">
                    <a:lumMod val="75000"/>
                  </a:schemeClr>
                </a:solidFill>
              </a:rPr>
              <a:t>Ако съм сбъркал, то стойностите близки до котвата са много добри – съответстват на малка грешка (по сбъркания първи въпрос). </a:t>
            </a:r>
          </a:p>
        </p:txBody>
      </p:sp>
    </p:spTree>
    <p:extLst>
      <p:ext uri="{BB962C8B-B14F-4D97-AF65-F5344CB8AC3E}">
        <p14:creationId xmlns:p14="http://schemas.microsoft.com/office/powerpoint/2010/main" val="185506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" y="2024246"/>
            <a:ext cx="9108000" cy="2391152"/>
          </a:xfrm>
        </p:spPr>
      </p:pic>
      <p:sp>
        <p:nvSpPr>
          <p:cNvPr id="2" name="Rectangle 1"/>
          <p:cNvSpPr/>
          <p:nvPr/>
        </p:nvSpPr>
        <p:spPr>
          <a:xfrm>
            <a:off x="0" y="3003798"/>
            <a:ext cx="6372200" cy="1512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97768" y="-7547"/>
            <a:ext cx="8748464" cy="12995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 smtClean="0">
                <a:solidFill>
                  <a:schemeClr val="bg1">
                    <a:lumMod val="75000"/>
                  </a:schemeClr>
                </a:solidFill>
              </a:rPr>
              <a:t>По време на отговор на Въпрос 2 се поставят две „психологически изменения“ на ситуацията: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 smtClean="0">
                <a:solidFill>
                  <a:schemeClr val="bg1">
                    <a:lumMod val="75000"/>
                  </a:schemeClr>
                </a:solidFill>
              </a:rPr>
              <a:t>Стойностите консистенти на първия отговор са много добри – съответстват на верен първи отговор.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 smtClean="0">
                <a:solidFill>
                  <a:schemeClr val="bg1">
                    <a:lumMod val="75000"/>
                  </a:schemeClr>
                </a:solidFill>
              </a:rPr>
              <a:t>Ако съм сбъркал, то стойностите близки до котвата са много добри – съответстват на малка грешка (по сбъркания първи въпрос). </a:t>
            </a:r>
          </a:p>
        </p:txBody>
      </p:sp>
    </p:spTree>
    <p:extLst>
      <p:ext uri="{BB962C8B-B14F-4D97-AF65-F5344CB8AC3E}">
        <p14:creationId xmlns:p14="http://schemas.microsoft.com/office/powerpoint/2010/main" val="185506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992" y="2211710"/>
            <a:ext cx="4334480" cy="2593544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519523"/>
            <a:ext cx="8229600" cy="4342512"/>
          </a:xfrm>
        </p:spPr>
        <p:txBody>
          <a:bodyPr>
            <a:normAutofit/>
          </a:bodyPr>
          <a:lstStyle/>
          <a:p>
            <a:r>
              <a:rPr lang="ru-RU" sz="2000" dirty="0" smtClean="0"/>
              <a:t>Репрезентацията на </a:t>
            </a:r>
            <a:r>
              <a:rPr lang="ru-RU" sz="2000" dirty="0"/>
              <a:t>обекта сама по себе си не е променена. </a:t>
            </a:r>
            <a:r>
              <a:rPr lang="ru-RU" sz="2000" dirty="0" smtClean="0"/>
              <a:t>Субективното тълкуването </a:t>
            </a:r>
            <a:r>
              <a:rPr lang="ru-RU" sz="2000" dirty="0"/>
              <a:t>на смисъла на ефекта закотвяне не е като „нежелан уклон“, а като благоприятно решение на сложно събитие</a:t>
            </a:r>
            <a:r>
              <a:rPr lang="ru-RU" sz="2000" dirty="0" smtClean="0"/>
              <a:t>.</a:t>
            </a:r>
          </a:p>
          <a:p>
            <a:endParaRPr lang="ru-RU" sz="2000" dirty="0"/>
          </a:p>
          <a:p>
            <a:endParaRPr lang="ru-RU" sz="2000" dirty="0" smtClean="0"/>
          </a:p>
          <a:p>
            <a:r>
              <a:rPr lang="bg-BG" sz="2000" dirty="0" smtClean="0"/>
              <a:t>Отговор (на директен въпрос)</a:t>
            </a:r>
          </a:p>
          <a:p>
            <a:endParaRPr lang="bg-BG" sz="2000" dirty="0"/>
          </a:p>
          <a:p>
            <a:endParaRPr lang="bg-BG" sz="2000" dirty="0" smtClean="0"/>
          </a:p>
          <a:p>
            <a:endParaRPr lang="bg-BG" sz="2000" dirty="0" smtClean="0"/>
          </a:p>
          <a:p>
            <a:r>
              <a:rPr lang="bg-BG" sz="2000" dirty="0" smtClean="0"/>
              <a:t>Отговор след като предварително</a:t>
            </a:r>
            <a:r>
              <a:rPr lang="bg-BG" sz="2000" dirty="0"/>
              <a:t/>
            </a:r>
            <a:br>
              <a:rPr lang="bg-BG" sz="2000" dirty="0"/>
            </a:br>
            <a:r>
              <a:rPr lang="bg-BG" sz="2000" dirty="0" smtClean="0"/>
              <a:t>е отговорено на въпрос с висока</a:t>
            </a:r>
            <a:br>
              <a:rPr lang="bg-BG" sz="2000" dirty="0" smtClean="0"/>
            </a:br>
            <a:r>
              <a:rPr lang="bg-BG" sz="2000" dirty="0" smtClean="0"/>
              <a:t>котва</a:t>
            </a:r>
          </a:p>
        </p:txBody>
      </p:sp>
    </p:spTree>
    <p:extLst>
      <p:ext uri="{BB962C8B-B14F-4D97-AF65-F5344CB8AC3E}">
        <p14:creationId xmlns:p14="http://schemas.microsoft.com/office/powerpoint/2010/main" val="287939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6225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/>
            </a:r>
            <a:br>
              <a:rPr lang="bg-BG" dirty="0"/>
            </a:br>
            <a:r>
              <a:rPr lang="ru-RU" sz="3100" dirty="0"/>
              <a:t>Форсиран избор между зададени алтернативи </a:t>
            </a:r>
            <a:r>
              <a:rPr lang="ru-RU" dirty="0"/>
              <a:t/>
            </a:r>
            <a:br>
              <a:rPr lang="ru-RU" dirty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801870"/>
          </a:xfrm>
        </p:spPr>
        <p:txBody>
          <a:bodyPr>
            <a:normAutofit fontScale="77500" lnSpcReduction="20000"/>
          </a:bodyPr>
          <a:lstStyle/>
          <a:p>
            <a:r>
              <a:rPr lang="bg-BG" sz="3100" dirty="0" smtClean="0"/>
              <a:t>Мисловен експеримент: </a:t>
            </a:r>
            <a:r>
              <a:rPr lang="ru-RU" sz="3100" dirty="0"/>
              <a:t>Нека за човек А съществува (вероятностно) разпределение на реалистичните стойности (по континуум в метрична скала), такова че</a:t>
            </a:r>
            <a:r>
              <a:rPr lang="ru-RU" sz="3100" dirty="0" smtClean="0"/>
              <a:t>:</a:t>
            </a:r>
            <a:endParaRPr lang="en-US" sz="3100" dirty="0" smtClean="0"/>
          </a:p>
          <a:p>
            <a:endParaRPr lang="ru-RU" sz="3100" dirty="0" smtClean="0"/>
          </a:p>
          <a:p>
            <a:endParaRPr lang="ru-RU" sz="3100" dirty="0" smtClean="0"/>
          </a:p>
          <a:p>
            <a:endParaRPr lang="ru-RU" sz="3100" dirty="0" smtClean="0"/>
          </a:p>
          <a:p>
            <a:pPr lvl="1"/>
            <a:r>
              <a:rPr lang="ru-RU" sz="2600" dirty="0"/>
              <a:t>средната на реалистичните стойности </a:t>
            </a:r>
            <a:r>
              <a:rPr lang="ru-RU" sz="2600" dirty="0" smtClean="0"/>
              <a:t>е </a:t>
            </a:r>
            <a:r>
              <a:rPr lang="ru-RU" sz="2600" dirty="0" smtClean="0">
                <a:sym typeface="Symbol"/>
              </a:rPr>
              <a:t></a:t>
            </a:r>
            <a:endParaRPr lang="ru-RU" sz="2600" dirty="0" smtClean="0"/>
          </a:p>
          <a:p>
            <a:pPr lvl="1"/>
            <a:r>
              <a:rPr lang="ru-RU" sz="2600" dirty="0" smtClean="0"/>
              <a:t>съществува </a:t>
            </a:r>
            <a:r>
              <a:rPr lang="ru-RU" sz="2600" dirty="0"/>
              <a:t>стойност наречена „1“, която е по-ниска </a:t>
            </a:r>
            <a:r>
              <a:rPr lang="ru-RU" sz="2600" dirty="0" smtClean="0"/>
              <a:t>от </a:t>
            </a:r>
            <a:r>
              <a:rPr lang="ru-RU" sz="2600" dirty="0" smtClean="0">
                <a:sym typeface="Symbol"/>
              </a:rPr>
              <a:t></a:t>
            </a:r>
            <a:endParaRPr lang="ru-RU" sz="2600" dirty="0" smtClean="0"/>
          </a:p>
          <a:p>
            <a:pPr lvl="1"/>
            <a:r>
              <a:rPr lang="ru-RU" sz="2600" dirty="0" smtClean="0"/>
              <a:t>съществува </a:t>
            </a:r>
            <a:r>
              <a:rPr lang="ru-RU" sz="2600" dirty="0"/>
              <a:t>стойност наречена „2“, която е по-висока </a:t>
            </a:r>
            <a:r>
              <a:rPr lang="ru-RU" sz="2600" dirty="0" smtClean="0"/>
              <a:t>от </a:t>
            </a:r>
            <a:r>
              <a:rPr lang="ru-RU" sz="2600" dirty="0" smtClean="0">
                <a:sym typeface="Symbol"/>
              </a:rPr>
              <a:t></a:t>
            </a:r>
            <a:endParaRPr lang="ru-RU" sz="2600" dirty="0" smtClean="0"/>
          </a:p>
          <a:p>
            <a:pPr lvl="1"/>
            <a:r>
              <a:rPr lang="ru-RU" sz="2600" dirty="0" smtClean="0"/>
              <a:t> </a:t>
            </a:r>
            <a:r>
              <a:rPr lang="ru-RU" sz="2600" dirty="0"/>
              <a:t>алтернативите „1“ и „2“ са абсолютно еднакво </a:t>
            </a:r>
            <a:r>
              <a:rPr lang="ru-RU" sz="2600" dirty="0" smtClean="0"/>
              <a:t>правдоподобни</a:t>
            </a:r>
            <a:endParaRPr lang="bg-BG" sz="2600" dirty="0" smtClean="0"/>
          </a:p>
          <a:p>
            <a:pPr lvl="1"/>
            <a:endParaRPr lang="bg-B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130" y="2247714"/>
            <a:ext cx="4067743" cy="77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06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smtClean="0">
                <a:solidFill>
                  <a:schemeClr val="bg1">
                    <a:lumMod val="50000"/>
                  </a:schemeClr>
                </a:solidFill>
              </a:rPr>
              <a:t>Форсиран </a:t>
            </a:r>
            <a:r>
              <a:rPr lang="ru-RU" sz="2800" dirty="0">
                <a:solidFill>
                  <a:schemeClr val="bg1">
                    <a:lumMod val="50000"/>
                  </a:schemeClr>
                </a:solidFill>
              </a:rPr>
              <a:t>избор между зададени алтернативи </a:t>
            </a:r>
            <a:endParaRPr lang="bg-BG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" y="1329612"/>
            <a:ext cx="9141573" cy="1971000"/>
          </a:xfrm>
        </p:spPr>
      </p:pic>
      <p:pic>
        <p:nvPicPr>
          <p:cNvPr id="2050" name="Picture 2" descr="C:\Users\Balan\Desktop\00000_Diplomna Upload\Fig\Fig DIPLOMNA\fig6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601" y="3184729"/>
            <a:ext cx="3293636" cy="19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644008" y="1113588"/>
            <a:ext cx="4320480" cy="40151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69548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" y="1329612"/>
            <a:ext cx="9141573" cy="1971000"/>
          </a:xfrm>
        </p:spPr>
      </p:pic>
      <p:pic>
        <p:nvPicPr>
          <p:cNvPr id="2050" name="Picture 2" descr="C:\Users\Balan\Desktop\00000_Diplomna Upload\Fig\Fig DIPLOMNA\fig6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601" y="3184729"/>
            <a:ext cx="3293636" cy="19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427984" y="2031691"/>
            <a:ext cx="4320480" cy="3097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chemeClr val="bg1">
                    <a:lumMod val="50000"/>
                  </a:schemeClr>
                </a:solidFill>
              </a:rPr>
              <a:t>Форсиран </a:t>
            </a:r>
            <a:r>
              <a:rPr lang="ru-RU" sz="2800" dirty="0">
                <a:solidFill>
                  <a:schemeClr val="bg1">
                    <a:lumMod val="50000"/>
                  </a:schemeClr>
                </a:solidFill>
              </a:rPr>
              <a:t>избор между зададени алтернативи </a:t>
            </a:r>
            <a:endParaRPr lang="bg-BG" sz="2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505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" y="1329612"/>
            <a:ext cx="9141573" cy="1971000"/>
          </a:xfrm>
        </p:spPr>
      </p:pic>
      <p:pic>
        <p:nvPicPr>
          <p:cNvPr id="2050" name="Picture 2" descr="C:\Users\Balan\Desktop\00000_Diplomna Upload\Fig\Fig DIPLOMNA\fig6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601" y="3184729"/>
            <a:ext cx="3293636" cy="19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427984" y="3202183"/>
            <a:ext cx="4320480" cy="19265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chemeClr val="bg1">
                    <a:lumMod val="50000"/>
                  </a:schemeClr>
                </a:solidFill>
              </a:rPr>
              <a:t>Форсиран </a:t>
            </a:r>
            <a:r>
              <a:rPr lang="ru-RU" sz="2800" dirty="0">
                <a:solidFill>
                  <a:schemeClr val="bg1">
                    <a:lumMod val="50000"/>
                  </a:schemeClr>
                </a:solidFill>
              </a:rPr>
              <a:t>избор между зададени алтернативи </a:t>
            </a:r>
            <a:endParaRPr lang="bg-BG" sz="2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581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" y="1329612"/>
            <a:ext cx="9141573" cy="1971000"/>
          </a:xfrm>
        </p:spPr>
      </p:pic>
      <p:pic>
        <p:nvPicPr>
          <p:cNvPr id="2050" name="Picture 2" descr="C:\Users\Balan\Desktop\00000_Diplomna Upload\Fig\Fig DIPLOMNA\fig6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601" y="3184729"/>
            <a:ext cx="3293636" cy="19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644008" y="1113588"/>
            <a:ext cx="4320480" cy="20711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chemeClr val="bg1">
                    <a:lumMod val="50000"/>
                  </a:schemeClr>
                </a:solidFill>
              </a:rPr>
              <a:t>Форсиран </a:t>
            </a:r>
            <a:r>
              <a:rPr lang="ru-RU" sz="2800" dirty="0">
                <a:solidFill>
                  <a:schemeClr val="bg1">
                    <a:lumMod val="50000"/>
                  </a:schemeClr>
                </a:solidFill>
              </a:rPr>
              <a:t>избор между зададени алтернативи </a:t>
            </a:r>
            <a:endParaRPr lang="bg-BG" sz="2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09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" y="1329612"/>
            <a:ext cx="9141573" cy="1971000"/>
          </a:xfrm>
        </p:spPr>
      </p:pic>
      <p:pic>
        <p:nvPicPr>
          <p:cNvPr id="2050" name="Picture 2" descr="C:\Users\Balan\Desktop\00000_Diplomna Upload\Fig\Fig DIPLOMNA\fig6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601" y="3184729"/>
            <a:ext cx="3293636" cy="19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chemeClr val="bg1">
                    <a:lumMod val="50000"/>
                  </a:schemeClr>
                </a:solidFill>
              </a:rPr>
              <a:t>Форсиран </a:t>
            </a:r>
            <a:r>
              <a:rPr lang="ru-RU" sz="2800" dirty="0">
                <a:solidFill>
                  <a:schemeClr val="bg1">
                    <a:lumMod val="50000"/>
                  </a:schemeClr>
                </a:solidFill>
              </a:rPr>
              <a:t>избор между зададени алтернативи </a:t>
            </a:r>
            <a:endParaRPr lang="bg-BG" sz="2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788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61677" y="1464567"/>
            <a:ext cx="17340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50% за верен втори отговор, верен първи отговор</a:t>
            </a:r>
            <a:endParaRPr lang="bg-BG" dirty="0"/>
          </a:p>
        </p:txBody>
      </p:sp>
      <p:sp>
        <p:nvSpPr>
          <p:cNvPr id="53" name="Rectangle 52"/>
          <p:cNvSpPr/>
          <p:nvPr/>
        </p:nvSpPr>
        <p:spPr>
          <a:xfrm>
            <a:off x="2675668" y="1454711"/>
            <a:ext cx="16561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50% за верен втори отговор, грешен първи отговор</a:t>
            </a:r>
            <a:endParaRPr lang="bg-BG" dirty="0"/>
          </a:p>
        </p:txBody>
      </p:sp>
      <p:sp>
        <p:nvSpPr>
          <p:cNvPr id="54" name="Rectangle 53"/>
          <p:cNvSpPr/>
          <p:nvPr/>
        </p:nvSpPr>
        <p:spPr>
          <a:xfrm>
            <a:off x="1763688" y="1754792"/>
            <a:ext cx="9361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000" dirty="0" smtClean="0"/>
              <a:t>срещу</a:t>
            </a:r>
            <a:endParaRPr lang="bg-BG" sz="2000" dirty="0"/>
          </a:p>
        </p:txBody>
      </p:sp>
      <p:sp>
        <p:nvSpPr>
          <p:cNvPr id="58" name="Rectangle 57"/>
          <p:cNvSpPr/>
          <p:nvPr/>
        </p:nvSpPr>
        <p:spPr>
          <a:xfrm>
            <a:off x="110793" y="3633513"/>
            <a:ext cx="18776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50% за верен втори отговор, верен първи отговор</a:t>
            </a:r>
            <a:endParaRPr lang="bg-BG" dirty="0"/>
          </a:p>
        </p:txBody>
      </p:sp>
      <p:sp>
        <p:nvSpPr>
          <p:cNvPr id="59" name="Rectangle 58"/>
          <p:cNvSpPr/>
          <p:nvPr/>
        </p:nvSpPr>
        <p:spPr>
          <a:xfrm>
            <a:off x="2724784" y="3623656"/>
            <a:ext cx="19279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50% за верен втори отговор, верен първи отговор</a:t>
            </a:r>
            <a:endParaRPr lang="bg-BG" dirty="0"/>
          </a:p>
        </p:txBody>
      </p:sp>
      <p:sp>
        <p:nvSpPr>
          <p:cNvPr id="60" name="Rectangle 59"/>
          <p:cNvSpPr/>
          <p:nvPr/>
        </p:nvSpPr>
        <p:spPr>
          <a:xfrm>
            <a:off x="1812804" y="3923737"/>
            <a:ext cx="9361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000" dirty="0" smtClean="0"/>
              <a:t>срещу</a:t>
            </a:r>
            <a:endParaRPr lang="bg-BG" sz="2000" dirty="0"/>
          </a:p>
        </p:txBody>
      </p:sp>
      <p:sp>
        <p:nvSpPr>
          <p:cNvPr id="9" name="Frame 8"/>
          <p:cNvSpPr/>
          <p:nvPr/>
        </p:nvSpPr>
        <p:spPr>
          <a:xfrm>
            <a:off x="47558" y="1407238"/>
            <a:ext cx="1716130" cy="1308527"/>
          </a:xfrm>
          <a:prstGeom prst="frame">
            <a:avLst>
              <a:gd name="adj1" fmla="val 4625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4622468" y="1770675"/>
            <a:ext cx="44644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222868" y="1587917"/>
            <a:ext cx="0" cy="3780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997" y="1270597"/>
            <a:ext cx="241743" cy="189000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33" name="Straight Connector 32"/>
          <p:cNvCxnSpPr/>
          <p:nvPr/>
        </p:nvCxnSpPr>
        <p:spPr>
          <a:xfrm>
            <a:off x="4855042" y="1625803"/>
            <a:ext cx="0" cy="27003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8446577" y="1641923"/>
            <a:ext cx="0" cy="27003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6727250" y="1581654"/>
            <a:ext cx="0" cy="3780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539809" y="771550"/>
            <a:ext cx="3748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200" i="1" dirty="0">
                <a:solidFill>
                  <a:srgbClr val="FF0000"/>
                </a:solidFill>
                <a:sym typeface="Symbol"/>
              </a:rPr>
              <a:t></a:t>
            </a:r>
            <a:endParaRPr lang="bg-BG" sz="3200" i="1" dirty="0">
              <a:solidFill>
                <a:srgbClr val="FF0000"/>
              </a:solidFill>
            </a:endParaRPr>
          </a:p>
        </p:txBody>
      </p:sp>
      <p:sp>
        <p:nvSpPr>
          <p:cNvPr id="37" name="Up Arrow 36"/>
          <p:cNvSpPr/>
          <p:nvPr/>
        </p:nvSpPr>
        <p:spPr>
          <a:xfrm>
            <a:off x="4675022" y="2000044"/>
            <a:ext cx="360040" cy="353763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8" name="Bent Arrow 37"/>
          <p:cNvSpPr/>
          <p:nvPr/>
        </p:nvSpPr>
        <p:spPr>
          <a:xfrm>
            <a:off x="4675023" y="1358040"/>
            <a:ext cx="3492733" cy="359888"/>
          </a:xfrm>
          <a:prstGeom prst="bentArrow">
            <a:avLst>
              <a:gd name="adj1" fmla="val 10277"/>
              <a:gd name="adj2" fmla="val 12117"/>
              <a:gd name="adj3" fmla="val 25000"/>
              <a:gd name="adj4" fmla="val 34548"/>
            </a:avLst>
          </a:prstGeom>
          <a:solidFill>
            <a:srgbClr val="0070C0"/>
          </a:solidFill>
          <a:ln w="6350">
            <a:noFill/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4687433" y="4165591"/>
            <a:ext cx="44644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8287833" y="3875995"/>
            <a:ext cx="0" cy="3780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962" y="3665512"/>
            <a:ext cx="241743" cy="189000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55" name="Straight Connector 54"/>
          <p:cNvCxnSpPr/>
          <p:nvPr/>
        </p:nvCxnSpPr>
        <p:spPr>
          <a:xfrm>
            <a:off x="5352055" y="4020719"/>
            <a:ext cx="0" cy="27003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6792215" y="3976570"/>
            <a:ext cx="0" cy="3780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6604774" y="3219822"/>
            <a:ext cx="3748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200" i="1" dirty="0">
                <a:solidFill>
                  <a:srgbClr val="FF0000"/>
                </a:solidFill>
                <a:sym typeface="Symbol"/>
              </a:rPr>
              <a:t></a:t>
            </a:r>
            <a:endParaRPr lang="bg-BG" sz="3200" i="1" dirty="0">
              <a:solidFill>
                <a:srgbClr val="FF0000"/>
              </a:solidFill>
            </a:endParaRPr>
          </a:p>
        </p:txBody>
      </p:sp>
      <p:sp>
        <p:nvSpPr>
          <p:cNvPr id="61" name="Bent Arrow 60"/>
          <p:cNvSpPr/>
          <p:nvPr/>
        </p:nvSpPr>
        <p:spPr>
          <a:xfrm>
            <a:off x="4751370" y="3762813"/>
            <a:ext cx="3492733" cy="359888"/>
          </a:xfrm>
          <a:prstGeom prst="bentArrow">
            <a:avLst>
              <a:gd name="adj1" fmla="val 10277"/>
              <a:gd name="adj2" fmla="val 12117"/>
              <a:gd name="adj3" fmla="val 25000"/>
              <a:gd name="adj4" fmla="val 34548"/>
            </a:avLst>
          </a:prstGeom>
          <a:solidFill>
            <a:srgbClr val="0070C0"/>
          </a:solidFill>
          <a:ln w="6350">
            <a:noFill/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cxnSp>
        <p:nvCxnSpPr>
          <p:cNvPr id="63" name="Straight Connector 62"/>
          <p:cNvCxnSpPr/>
          <p:nvPr/>
        </p:nvCxnSpPr>
        <p:spPr>
          <a:xfrm>
            <a:off x="8073325" y="4029912"/>
            <a:ext cx="0" cy="27003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Up Arrow 63"/>
          <p:cNvSpPr/>
          <p:nvPr/>
        </p:nvSpPr>
        <p:spPr>
          <a:xfrm>
            <a:off x="5172035" y="4390234"/>
            <a:ext cx="360040" cy="353763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6" name="Up Arrow 65"/>
          <p:cNvSpPr/>
          <p:nvPr/>
        </p:nvSpPr>
        <p:spPr>
          <a:xfrm>
            <a:off x="7901757" y="4364482"/>
            <a:ext cx="360040" cy="353763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7" name="Frame 66"/>
          <p:cNvSpPr/>
          <p:nvPr/>
        </p:nvSpPr>
        <p:spPr>
          <a:xfrm>
            <a:off x="47558" y="3610692"/>
            <a:ext cx="1716130" cy="1265313"/>
          </a:xfrm>
          <a:prstGeom prst="frame">
            <a:avLst>
              <a:gd name="adj1" fmla="val 4625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68" name="Frame 67"/>
          <p:cNvSpPr/>
          <p:nvPr/>
        </p:nvSpPr>
        <p:spPr>
          <a:xfrm>
            <a:off x="2645695" y="3596505"/>
            <a:ext cx="1716130" cy="1227480"/>
          </a:xfrm>
          <a:prstGeom prst="frame">
            <a:avLst>
              <a:gd name="adj1" fmla="val 4625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chemeClr val="bg1">
                    <a:lumMod val="50000"/>
                  </a:schemeClr>
                </a:solidFill>
              </a:rPr>
              <a:t>Форсиран </a:t>
            </a:r>
            <a:r>
              <a:rPr lang="ru-RU" sz="2800" dirty="0">
                <a:solidFill>
                  <a:schemeClr val="bg1">
                    <a:lumMod val="50000"/>
                  </a:schemeClr>
                </a:solidFill>
              </a:rPr>
              <a:t>избор между зададени алтернативи </a:t>
            </a:r>
            <a:endParaRPr lang="bg-BG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89299" y="2909724"/>
            <a:ext cx="2783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b="1" dirty="0" smtClean="0">
                <a:solidFill>
                  <a:srgbClr val="00B050"/>
                </a:solidFill>
              </a:rPr>
              <a:t>Алтернативно обяснение</a:t>
            </a:r>
            <a:endParaRPr lang="bg-BG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197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61677" y="1464567"/>
            <a:ext cx="17340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50% за верен втори отговор, верен първи отговор</a:t>
            </a:r>
            <a:endParaRPr lang="bg-BG" dirty="0"/>
          </a:p>
        </p:txBody>
      </p:sp>
      <p:sp>
        <p:nvSpPr>
          <p:cNvPr id="53" name="Rectangle 52"/>
          <p:cNvSpPr/>
          <p:nvPr/>
        </p:nvSpPr>
        <p:spPr>
          <a:xfrm>
            <a:off x="2675668" y="1454711"/>
            <a:ext cx="16561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50% за верен втори отговор, грешен първи отговор</a:t>
            </a:r>
            <a:endParaRPr lang="bg-BG" dirty="0"/>
          </a:p>
        </p:txBody>
      </p:sp>
      <p:sp>
        <p:nvSpPr>
          <p:cNvPr id="54" name="Rectangle 53"/>
          <p:cNvSpPr/>
          <p:nvPr/>
        </p:nvSpPr>
        <p:spPr>
          <a:xfrm>
            <a:off x="1763688" y="1754792"/>
            <a:ext cx="9361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000" dirty="0" smtClean="0"/>
              <a:t>срещу</a:t>
            </a:r>
            <a:endParaRPr lang="bg-BG" sz="2000" dirty="0"/>
          </a:p>
        </p:txBody>
      </p:sp>
      <p:sp>
        <p:nvSpPr>
          <p:cNvPr id="58" name="Rectangle 57"/>
          <p:cNvSpPr/>
          <p:nvPr/>
        </p:nvSpPr>
        <p:spPr>
          <a:xfrm>
            <a:off x="110793" y="3633513"/>
            <a:ext cx="18776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50% за верен втори отговор, верен първи отговор</a:t>
            </a:r>
            <a:endParaRPr lang="bg-BG" dirty="0"/>
          </a:p>
        </p:txBody>
      </p:sp>
      <p:sp>
        <p:nvSpPr>
          <p:cNvPr id="59" name="Rectangle 58"/>
          <p:cNvSpPr/>
          <p:nvPr/>
        </p:nvSpPr>
        <p:spPr>
          <a:xfrm>
            <a:off x="2724784" y="3623656"/>
            <a:ext cx="19279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50% за верен втори отговор, верен първи отговор</a:t>
            </a:r>
            <a:endParaRPr lang="bg-BG" dirty="0"/>
          </a:p>
        </p:txBody>
      </p:sp>
      <p:sp>
        <p:nvSpPr>
          <p:cNvPr id="60" name="Rectangle 59"/>
          <p:cNvSpPr/>
          <p:nvPr/>
        </p:nvSpPr>
        <p:spPr>
          <a:xfrm>
            <a:off x="1812804" y="3923737"/>
            <a:ext cx="9361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000" dirty="0" smtClean="0"/>
              <a:t>срещу</a:t>
            </a:r>
            <a:endParaRPr lang="bg-BG" sz="2000" dirty="0"/>
          </a:p>
        </p:txBody>
      </p:sp>
      <p:sp>
        <p:nvSpPr>
          <p:cNvPr id="9" name="Frame 8"/>
          <p:cNvSpPr/>
          <p:nvPr/>
        </p:nvSpPr>
        <p:spPr>
          <a:xfrm>
            <a:off x="47558" y="1407238"/>
            <a:ext cx="1716130" cy="1308527"/>
          </a:xfrm>
          <a:prstGeom prst="frame">
            <a:avLst>
              <a:gd name="adj1" fmla="val 4625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4622468" y="1770675"/>
            <a:ext cx="44644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222868" y="1587917"/>
            <a:ext cx="0" cy="3780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997" y="1270597"/>
            <a:ext cx="241743" cy="189000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33" name="Straight Connector 32"/>
          <p:cNvCxnSpPr/>
          <p:nvPr/>
        </p:nvCxnSpPr>
        <p:spPr>
          <a:xfrm>
            <a:off x="4855042" y="1625803"/>
            <a:ext cx="0" cy="27003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8446577" y="1641923"/>
            <a:ext cx="0" cy="27003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6727250" y="1581654"/>
            <a:ext cx="0" cy="3780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539809" y="771550"/>
            <a:ext cx="3748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200" i="1" dirty="0">
                <a:solidFill>
                  <a:srgbClr val="FF0000"/>
                </a:solidFill>
                <a:sym typeface="Symbol"/>
              </a:rPr>
              <a:t></a:t>
            </a:r>
            <a:endParaRPr lang="bg-BG" sz="3200" i="1" dirty="0">
              <a:solidFill>
                <a:srgbClr val="FF0000"/>
              </a:solidFill>
            </a:endParaRPr>
          </a:p>
        </p:txBody>
      </p:sp>
      <p:sp>
        <p:nvSpPr>
          <p:cNvPr id="37" name="Up Arrow 36"/>
          <p:cNvSpPr/>
          <p:nvPr/>
        </p:nvSpPr>
        <p:spPr>
          <a:xfrm>
            <a:off x="4675022" y="2000044"/>
            <a:ext cx="360040" cy="353763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8" name="Bent Arrow 37"/>
          <p:cNvSpPr/>
          <p:nvPr/>
        </p:nvSpPr>
        <p:spPr>
          <a:xfrm>
            <a:off x="4675023" y="1358040"/>
            <a:ext cx="3492733" cy="359888"/>
          </a:xfrm>
          <a:prstGeom prst="bentArrow">
            <a:avLst>
              <a:gd name="adj1" fmla="val 10277"/>
              <a:gd name="adj2" fmla="val 12117"/>
              <a:gd name="adj3" fmla="val 25000"/>
              <a:gd name="adj4" fmla="val 34548"/>
            </a:avLst>
          </a:prstGeom>
          <a:solidFill>
            <a:srgbClr val="0070C0"/>
          </a:solidFill>
          <a:ln w="6350">
            <a:noFill/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4687433" y="4165591"/>
            <a:ext cx="44644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8287833" y="3875995"/>
            <a:ext cx="0" cy="3780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962" y="3665512"/>
            <a:ext cx="241743" cy="189000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55" name="Straight Connector 54"/>
          <p:cNvCxnSpPr/>
          <p:nvPr/>
        </p:nvCxnSpPr>
        <p:spPr>
          <a:xfrm>
            <a:off x="5352055" y="4020719"/>
            <a:ext cx="0" cy="27003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6792215" y="3976570"/>
            <a:ext cx="0" cy="3780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6604774" y="3219822"/>
            <a:ext cx="3748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200" i="1" dirty="0">
                <a:solidFill>
                  <a:srgbClr val="FF0000"/>
                </a:solidFill>
                <a:sym typeface="Symbol"/>
              </a:rPr>
              <a:t></a:t>
            </a:r>
            <a:endParaRPr lang="bg-BG" sz="3200" i="1" dirty="0">
              <a:solidFill>
                <a:srgbClr val="FF0000"/>
              </a:solidFill>
            </a:endParaRPr>
          </a:p>
        </p:txBody>
      </p:sp>
      <p:sp>
        <p:nvSpPr>
          <p:cNvPr id="61" name="Bent Arrow 60"/>
          <p:cNvSpPr/>
          <p:nvPr/>
        </p:nvSpPr>
        <p:spPr>
          <a:xfrm>
            <a:off x="4751370" y="3762813"/>
            <a:ext cx="3492733" cy="359888"/>
          </a:xfrm>
          <a:prstGeom prst="bentArrow">
            <a:avLst>
              <a:gd name="adj1" fmla="val 10277"/>
              <a:gd name="adj2" fmla="val 12117"/>
              <a:gd name="adj3" fmla="val 25000"/>
              <a:gd name="adj4" fmla="val 34548"/>
            </a:avLst>
          </a:prstGeom>
          <a:solidFill>
            <a:srgbClr val="0070C0"/>
          </a:solidFill>
          <a:ln w="6350">
            <a:noFill/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cxnSp>
        <p:nvCxnSpPr>
          <p:cNvPr id="63" name="Straight Connector 62"/>
          <p:cNvCxnSpPr/>
          <p:nvPr/>
        </p:nvCxnSpPr>
        <p:spPr>
          <a:xfrm>
            <a:off x="8073325" y="4029912"/>
            <a:ext cx="0" cy="27003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Up Arrow 63"/>
          <p:cNvSpPr/>
          <p:nvPr/>
        </p:nvSpPr>
        <p:spPr>
          <a:xfrm>
            <a:off x="5172035" y="4390234"/>
            <a:ext cx="360040" cy="353763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6" name="Up Arrow 65"/>
          <p:cNvSpPr/>
          <p:nvPr/>
        </p:nvSpPr>
        <p:spPr>
          <a:xfrm>
            <a:off x="7901757" y="4364482"/>
            <a:ext cx="360040" cy="353763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7" name="Frame 66"/>
          <p:cNvSpPr/>
          <p:nvPr/>
        </p:nvSpPr>
        <p:spPr>
          <a:xfrm>
            <a:off x="47558" y="3610692"/>
            <a:ext cx="1716130" cy="1265313"/>
          </a:xfrm>
          <a:prstGeom prst="frame">
            <a:avLst>
              <a:gd name="adj1" fmla="val 4625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68" name="Frame 67"/>
          <p:cNvSpPr/>
          <p:nvPr/>
        </p:nvSpPr>
        <p:spPr>
          <a:xfrm>
            <a:off x="2645695" y="3596505"/>
            <a:ext cx="1716130" cy="1227480"/>
          </a:xfrm>
          <a:prstGeom prst="frame">
            <a:avLst>
              <a:gd name="adj1" fmla="val 4625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43" name="Up Arrow 42"/>
          <p:cNvSpPr/>
          <p:nvPr/>
        </p:nvSpPr>
        <p:spPr>
          <a:xfrm>
            <a:off x="8287833" y="1955857"/>
            <a:ext cx="360040" cy="353763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5" name="Rectangle 44"/>
          <p:cNvSpPr/>
          <p:nvPr/>
        </p:nvSpPr>
        <p:spPr>
          <a:xfrm>
            <a:off x="7080212" y="2355726"/>
            <a:ext cx="20031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SAM: </a:t>
            </a:r>
            <a:r>
              <a:rPr lang="bg-BG" dirty="0" smtClean="0"/>
              <a:t>Семантично праймирани високи стойности</a:t>
            </a:r>
            <a:endParaRPr lang="bg-BG" dirty="0"/>
          </a:p>
        </p:txBody>
      </p:sp>
      <p:sp>
        <p:nvSpPr>
          <p:cNvPr id="46" name="Frame 45"/>
          <p:cNvSpPr/>
          <p:nvPr/>
        </p:nvSpPr>
        <p:spPr>
          <a:xfrm>
            <a:off x="6992577" y="2355726"/>
            <a:ext cx="2046164" cy="941187"/>
          </a:xfrm>
          <a:prstGeom prst="frame">
            <a:avLst>
              <a:gd name="adj1" fmla="val 46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50" name="Up Arrow 49"/>
          <p:cNvSpPr/>
          <p:nvPr/>
        </p:nvSpPr>
        <p:spPr>
          <a:xfrm rot="10800000">
            <a:off x="7900604" y="3376731"/>
            <a:ext cx="360040" cy="353763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chemeClr val="bg1">
                    <a:lumMod val="50000"/>
                  </a:schemeClr>
                </a:solidFill>
              </a:rPr>
              <a:t>Форсиран </a:t>
            </a:r>
            <a:r>
              <a:rPr lang="ru-RU" sz="2800" dirty="0">
                <a:solidFill>
                  <a:schemeClr val="bg1">
                    <a:lumMod val="50000"/>
                  </a:schemeClr>
                </a:solidFill>
              </a:rPr>
              <a:t>избор между зададени алтернативи </a:t>
            </a:r>
            <a:endParaRPr lang="bg-BG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89299" y="2909724"/>
            <a:ext cx="2783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b="1" dirty="0" smtClean="0">
                <a:solidFill>
                  <a:srgbClr val="00B050"/>
                </a:solidFill>
              </a:rPr>
              <a:t>Алтернативно обяснение</a:t>
            </a:r>
            <a:endParaRPr lang="bg-BG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12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Фигура 4. (с. 37) е </a:t>
            </a:r>
            <a:r>
              <a:rPr lang="ru-RU" sz="2400" dirty="0">
                <a:solidFill>
                  <a:srgbClr val="FF0000"/>
                </a:solidFill>
              </a:rPr>
              <a:t>критичният експеримент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и основен резултат на бакалавърската теза (2017</a:t>
            </a:r>
            <a:r>
              <a:rPr lang="ru-RU" sz="2400" dirty="0" smtClean="0"/>
              <a:t>).</a:t>
            </a:r>
            <a:endParaRPr lang="bg-BG" sz="2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412" y="1059582"/>
            <a:ext cx="5099588" cy="3816424"/>
          </a:xfrm>
        </p:spPr>
      </p:pic>
      <p:sp>
        <p:nvSpPr>
          <p:cNvPr id="5" name="Rectangle 4"/>
          <p:cNvSpPr/>
          <p:nvPr/>
        </p:nvSpPr>
        <p:spPr>
          <a:xfrm>
            <a:off x="179512" y="1851670"/>
            <a:ext cx="3672408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bg-BG" dirty="0"/>
          </a:p>
          <a:p>
            <a:r>
              <a:rPr lang="bg-BG" sz="2000" dirty="0" smtClean="0"/>
              <a:t>Две потенциални критики:</a:t>
            </a:r>
          </a:p>
          <a:p>
            <a:endParaRPr lang="bg-BG" sz="2000" dirty="0"/>
          </a:p>
          <a:p>
            <a:pPr>
              <a:spcAft>
                <a:spcPts val="600"/>
              </a:spcAft>
              <a:buAutoNum type="arabicPeriod"/>
            </a:pPr>
            <a:r>
              <a:rPr lang="bg-BG" sz="2000" dirty="0" smtClean="0"/>
              <a:t> Процедурата </a:t>
            </a:r>
            <a:r>
              <a:rPr lang="bg-BG" sz="2000" dirty="0"/>
              <a:t>за форсиран избор не е </a:t>
            </a:r>
            <a:r>
              <a:rPr lang="bg-BG" sz="2000" dirty="0" smtClean="0"/>
              <a:t>адекватна за </a:t>
            </a:r>
            <a:r>
              <a:rPr lang="bg-BG" sz="2000" dirty="0"/>
              <a:t>изследване на феномена </a:t>
            </a:r>
            <a:r>
              <a:rPr lang="bg-BG" sz="2000" dirty="0" smtClean="0"/>
              <a:t>Закотвяне</a:t>
            </a:r>
          </a:p>
          <a:p>
            <a:pPr>
              <a:buAutoNum type="arabicPeriod"/>
            </a:pPr>
            <a:r>
              <a:rPr lang="ru-RU" sz="2000" dirty="0" smtClean="0"/>
              <a:t> Резултатите се обясняват само с Консистентност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54726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400" dirty="0" smtClean="0"/>
              <a:t>Цели </a:t>
            </a:r>
            <a:r>
              <a:rPr lang="ru-RU" sz="2400" dirty="0"/>
              <a:t>и хипотези на изследването </a:t>
            </a:r>
            <a:endParaRPr lang="ru-RU" sz="2400" dirty="0" smtClean="0"/>
          </a:p>
          <a:p>
            <a:r>
              <a:rPr lang="ru-RU" sz="2400" dirty="0" smtClean="0"/>
              <a:t>Цели:</a:t>
            </a:r>
          </a:p>
          <a:p>
            <a:pPr lvl="1"/>
            <a:r>
              <a:rPr lang="ru-RU" sz="1600" dirty="0" smtClean="0"/>
              <a:t>Да се провери какъв модел следват емпиричните данни в условия, при които Алтернативното обяснение, </a:t>
            </a:r>
            <a:r>
              <a:rPr lang="en-US" sz="1600" dirty="0" smtClean="0"/>
              <a:t>SAM</a:t>
            </a:r>
            <a:r>
              <a:rPr lang="bg-BG" sz="1600" dirty="0" smtClean="0"/>
              <a:t>, и прост Модел Консистентност правят различни предвиждания</a:t>
            </a:r>
          </a:p>
          <a:p>
            <a:pPr lvl="2"/>
            <a:r>
              <a:rPr lang="bg-BG" sz="1600" dirty="0" smtClean="0"/>
              <a:t>Подцели:</a:t>
            </a:r>
          </a:p>
          <a:p>
            <a:pPr lvl="3"/>
            <a:r>
              <a:rPr lang="bg-BG" sz="1600" dirty="0" smtClean="0"/>
              <a:t>Да се сравнят предвижданията на Алтернативното обяснение и </a:t>
            </a:r>
            <a:r>
              <a:rPr lang="en-US" sz="1600" dirty="0" smtClean="0"/>
              <a:t>SAM</a:t>
            </a:r>
          </a:p>
          <a:p>
            <a:pPr lvl="3"/>
            <a:r>
              <a:rPr lang="bg-BG" sz="1600" dirty="0" smtClean="0"/>
              <a:t>Да се подкрепи емпирично невъзможността само на Модел Консистентност да обяснява данните при по-близки до естествените условия</a:t>
            </a:r>
            <a:endParaRPr lang="ru-RU" sz="1600" dirty="0"/>
          </a:p>
          <a:p>
            <a:endParaRPr lang="bg-BG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1470"/>
            <a:ext cx="8229600" cy="1143000"/>
          </a:xfrm>
        </p:spPr>
        <p:txBody>
          <a:bodyPr>
            <a:noAutofit/>
          </a:bodyPr>
          <a:lstStyle/>
          <a:p>
            <a:r>
              <a:rPr lang="bg-BG" sz="2800" dirty="0" smtClean="0"/>
              <a:t>Емпирична проверка на потенциалните критики. Експеримент 1.</a:t>
            </a: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3874883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400" dirty="0" smtClean="0"/>
              <a:t>Цели </a:t>
            </a:r>
            <a:r>
              <a:rPr lang="ru-RU" sz="2400" dirty="0"/>
              <a:t>и хипотези на изследването </a:t>
            </a:r>
            <a:endParaRPr lang="ru-RU" sz="2400" dirty="0" smtClean="0"/>
          </a:p>
          <a:p>
            <a:r>
              <a:rPr lang="bg-BG" sz="2400" dirty="0" smtClean="0"/>
              <a:t>Основна изследователска хипотеза:</a:t>
            </a:r>
          </a:p>
          <a:p>
            <a:pPr lvl="1"/>
            <a:r>
              <a:rPr lang="bg-BG" sz="2000" dirty="0" smtClean="0"/>
              <a:t>При едновременно използване на 4 </a:t>
            </a:r>
            <a:r>
              <a:rPr lang="bg-BG" sz="2000" dirty="0" smtClean="0">
                <a:solidFill>
                  <a:schemeClr val="bg1">
                    <a:lumMod val="75000"/>
                  </a:schemeClr>
                </a:solidFill>
              </a:rPr>
              <a:t>(вместо 2) </a:t>
            </a:r>
            <a:r>
              <a:rPr lang="bg-BG" sz="2000" dirty="0" smtClean="0"/>
              <a:t>фиксирани алтернативи за избор, то предвижданията по 3-те модела се различават</a:t>
            </a:r>
          </a:p>
          <a:p>
            <a:pPr marL="0" indent="0">
              <a:buNone/>
            </a:pPr>
            <a:endParaRPr lang="ru-RU" sz="1600" dirty="0"/>
          </a:p>
          <a:p>
            <a:endParaRPr lang="bg-BG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1470"/>
            <a:ext cx="8229600" cy="1143000"/>
          </a:xfrm>
        </p:spPr>
        <p:txBody>
          <a:bodyPr>
            <a:noAutofit/>
          </a:bodyPr>
          <a:lstStyle/>
          <a:p>
            <a:r>
              <a:rPr lang="bg-BG" sz="2800" dirty="0" smtClean="0"/>
              <a:t>Емпирична проверка на потенциалните критики. Експеримент 1.</a:t>
            </a:r>
            <a:endParaRPr lang="bg-BG" sz="2800" dirty="0"/>
          </a:p>
        </p:txBody>
      </p:sp>
      <p:pic>
        <p:nvPicPr>
          <p:cNvPr id="1026" name="Picture 2" descr="C:\Users\Balan\Desktop\MAGISTURSKA TEZA _ ALL DESKTOP\00_Mag teza ALL\Mag teza OBRABOTKA DANNI\0_used pics\used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119" y="3003798"/>
            <a:ext cx="6185763" cy="1694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356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Balan\Desktop\MAGISTURSKA TEZA _ ALL DESKTOP\00_Mag teza ALL\Mag teza OBRABOTKA DANNI\0_used pics\used8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1068" y="1018908"/>
            <a:ext cx="3161865" cy="1064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Balan\Desktop\hip_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1840" y="1995687"/>
            <a:ext cx="6020320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7494"/>
            <a:ext cx="8229600" cy="1008112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 smtClean="0"/>
              <a:t>Цели </a:t>
            </a:r>
            <a:r>
              <a:rPr lang="ru-RU" sz="2400" dirty="0"/>
              <a:t>и хипотези на изследването </a:t>
            </a:r>
            <a:endParaRPr lang="ru-RU" sz="2400" dirty="0" smtClean="0"/>
          </a:p>
          <a:p>
            <a:r>
              <a:rPr lang="bg-BG" sz="2400" dirty="0" smtClean="0"/>
              <a:t>Основна изследователска хипотеза:</a:t>
            </a:r>
            <a:endParaRPr lang="ru-RU" sz="1600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9656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7494"/>
            <a:ext cx="8229600" cy="4608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Цели </a:t>
            </a:r>
            <a:r>
              <a:rPr lang="ru-RU" sz="2400" dirty="0"/>
              <a:t>и хипотези на изследването </a:t>
            </a:r>
            <a:endParaRPr lang="ru-RU" sz="2400" dirty="0" smtClean="0"/>
          </a:p>
          <a:p>
            <a:r>
              <a:rPr lang="bg-BG" sz="2400" dirty="0" smtClean="0"/>
              <a:t>Експериментални хипотези:</a:t>
            </a:r>
            <a:endParaRPr lang="ru-RU" sz="1600" dirty="0"/>
          </a:p>
          <a:p>
            <a:pPr marL="0" indent="0">
              <a:buNone/>
            </a:pPr>
            <a:r>
              <a:rPr lang="ru-RU" sz="1100" i="1" dirty="0"/>
              <a:t>Хипотеза 1: </a:t>
            </a:r>
            <a:r>
              <a:rPr lang="ru-RU" sz="1100" dirty="0"/>
              <a:t>Основна експериментална хипотеза е, че парадигмата на изследване е адекватна за изследване на феномена закотвяне.</a:t>
            </a:r>
          </a:p>
          <a:p>
            <a:pPr marL="0" indent="0">
              <a:buNone/>
            </a:pPr>
            <a:r>
              <a:rPr lang="ru-RU" sz="1100" i="1" dirty="0"/>
              <a:t>Хипотеза 1a: </a:t>
            </a:r>
            <a:r>
              <a:rPr lang="ru-RU" sz="1100" dirty="0"/>
              <a:t>При поставена ниска котва двете ниски алтернативи се избират по-често от двете високи алтернативи, а при поставена висока котва – двете високи алтернативи се избират по-често от двете ниски.</a:t>
            </a:r>
          </a:p>
          <a:p>
            <a:pPr marL="0" indent="0">
              <a:buNone/>
            </a:pPr>
            <a:r>
              <a:rPr lang="ru-RU" sz="1100" i="1" dirty="0"/>
              <a:t>Хипотеза 1b: </a:t>
            </a:r>
            <a:r>
              <a:rPr lang="ru-RU" sz="1100" dirty="0"/>
              <a:t>Ефектът на закотвяне се проявява и когато се разглежда относителното предпочитане само между неекстремните алтернативи (двете опции близки до зададената средна и намиращи се в средната част на съответната количествена дименсия). Неекстремната </a:t>
            </a:r>
            <a:r>
              <a:rPr lang="ru-RU" sz="1100" dirty="0" smtClean="0"/>
              <a:t>опция </a:t>
            </a:r>
            <a:r>
              <a:rPr lang="ru-RU" sz="1100" dirty="0"/>
              <a:t>близка до заложената котва се предпочита пред далечната спрямо котвата неекстремна опция</a:t>
            </a:r>
            <a:r>
              <a:rPr lang="ru-RU" sz="1100" dirty="0" smtClean="0"/>
              <a:t>.</a:t>
            </a:r>
          </a:p>
          <a:p>
            <a:pPr marL="0" indent="0">
              <a:buNone/>
            </a:pPr>
            <a:endParaRPr lang="ru-RU" sz="1100" dirty="0"/>
          </a:p>
          <a:p>
            <a:r>
              <a:rPr lang="bg-BG" sz="2000" dirty="0" smtClean="0"/>
              <a:t>Проверка дали процедурата за форсиран избор довежда до ефект на закотвяне:</a:t>
            </a:r>
          </a:p>
          <a:p>
            <a:pPr lvl="1"/>
            <a:r>
              <a:rPr lang="bg-BG" sz="2000" dirty="0" smtClean="0"/>
              <a:t>Х1</a:t>
            </a:r>
            <a:r>
              <a:rPr lang="en-US" sz="2000" dirty="0" smtClean="0"/>
              <a:t>a</a:t>
            </a:r>
            <a:r>
              <a:rPr lang="bg-BG" sz="2000" dirty="0" smtClean="0"/>
              <a:t>: </a:t>
            </a:r>
            <a:r>
              <a:rPr lang="en-US" sz="2000" dirty="0" smtClean="0"/>
              <a:t>{1.; 2.} &gt; {3.; 4.}			</a:t>
            </a:r>
            <a:r>
              <a:rPr lang="bg-BG" sz="2000" dirty="0" smtClean="0"/>
              <a:t>Х1</a:t>
            </a:r>
            <a:r>
              <a:rPr lang="en-US" sz="2000" dirty="0"/>
              <a:t>a</a:t>
            </a:r>
            <a:r>
              <a:rPr lang="bg-BG" sz="2000" dirty="0"/>
              <a:t>: </a:t>
            </a:r>
            <a:r>
              <a:rPr lang="en-US" sz="2000" dirty="0"/>
              <a:t>{1.; 2.} </a:t>
            </a:r>
            <a:r>
              <a:rPr lang="bg-BG" sz="2000" dirty="0" smtClean="0"/>
              <a:t>&lt;</a:t>
            </a:r>
            <a:r>
              <a:rPr lang="en-US" sz="2000" dirty="0" smtClean="0"/>
              <a:t> </a:t>
            </a:r>
            <a:r>
              <a:rPr lang="en-US" sz="2000" dirty="0"/>
              <a:t>{3.; 4.}</a:t>
            </a:r>
          </a:p>
          <a:p>
            <a:pPr lvl="1"/>
            <a:r>
              <a:rPr lang="bg-BG" sz="2000" dirty="0"/>
              <a:t>Х1</a:t>
            </a:r>
            <a:r>
              <a:rPr lang="en-US" sz="2000" dirty="0"/>
              <a:t>b: {2.} &gt; {3</a:t>
            </a:r>
            <a:r>
              <a:rPr lang="en-US" sz="2000" dirty="0" smtClean="0"/>
              <a:t>.}				</a:t>
            </a:r>
            <a:r>
              <a:rPr lang="bg-BG" sz="2000" dirty="0"/>
              <a:t>Х1</a:t>
            </a:r>
            <a:r>
              <a:rPr lang="en-US" sz="2000" dirty="0"/>
              <a:t>b: {2.} </a:t>
            </a:r>
            <a:r>
              <a:rPr lang="bg-BG" sz="2000" dirty="0" smtClean="0"/>
              <a:t>&lt;</a:t>
            </a:r>
            <a:r>
              <a:rPr lang="en-US" sz="2000" dirty="0" smtClean="0"/>
              <a:t> </a:t>
            </a:r>
            <a:r>
              <a:rPr lang="en-US" sz="2000" dirty="0"/>
              <a:t>{3.}</a:t>
            </a:r>
            <a:endParaRPr lang="bg-BG" sz="2000" dirty="0"/>
          </a:p>
          <a:p>
            <a:pPr lvl="1"/>
            <a:endParaRPr lang="bg-BG" sz="1600" dirty="0"/>
          </a:p>
          <a:p>
            <a:pPr lvl="1"/>
            <a:endParaRPr lang="en-US" sz="1600" dirty="0" smtClean="0"/>
          </a:p>
          <a:p>
            <a:pPr lvl="1"/>
            <a:r>
              <a:rPr lang="bg-BG" sz="1600" dirty="0" smtClean="0"/>
              <a:t>Х1</a:t>
            </a:r>
            <a:r>
              <a:rPr lang="en-US" sz="1600" dirty="0" smtClean="0"/>
              <a:t>b: {2.} &gt; {3.}</a:t>
            </a:r>
            <a:endParaRPr lang="bg-BG" sz="1600" dirty="0"/>
          </a:p>
        </p:txBody>
      </p:sp>
      <p:pic>
        <p:nvPicPr>
          <p:cNvPr id="3074" name="Picture 2" descr="C:\Users\Balan\Desktop\hip_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012022"/>
            <a:ext cx="2586739" cy="10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Balan\Desktop\hip_1_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012022"/>
            <a:ext cx="2700867" cy="10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62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Balan\Desktop\MAGISTURSKA TEZA _ ALL DESKTOP\00_Mag teza ALL\Mag teza OBRABOTKA DANNI\0_used pics\used8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7130" y="1867004"/>
            <a:ext cx="2502443" cy="842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C:\Users\Balan\Desktop\hip_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656462"/>
            <a:ext cx="4764753" cy="2507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7494"/>
            <a:ext cx="8229600" cy="4608512"/>
          </a:xfrm>
        </p:spPr>
        <p:txBody>
          <a:bodyPr>
            <a:normAutofit/>
          </a:bodyPr>
          <a:lstStyle/>
          <a:p>
            <a:r>
              <a:rPr lang="bg-BG" sz="2400" dirty="0" smtClean="0"/>
              <a:t>Експериментални хипотези:</a:t>
            </a:r>
            <a:endParaRPr lang="ru-RU" sz="1600" dirty="0"/>
          </a:p>
          <a:p>
            <a:pPr marL="0" indent="0">
              <a:buNone/>
            </a:pPr>
            <a:r>
              <a:rPr lang="ru-RU" sz="1100" i="1" dirty="0"/>
              <a:t>Хипотеза 2: В ранжираната подредба на предпочитанието по алтернативите първи ранг заема опцията между заложената котва и зададената средна; втори ранг – неекстремната опция далеч от котвата; трети ранг – екстремната опция далеч от котвата; четвърти ранг – екстремната опция близо до котвата. При поставена ниска котва това решение има вида – 2, 3, 4, 1. При поставена висока котва – 3, 2, 1, 4</a:t>
            </a:r>
            <a:r>
              <a:rPr lang="ru-RU" sz="1100" i="1" dirty="0" smtClean="0"/>
              <a:t>.</a:t>
            </a:r>
            <a:r>
              <a:rPr lang="en-US" sz="1100" i="1" dirty="0" smtClean="0"/>
              <a:t> </a:t>
            </a:r>
            <a:r>
              <a:rPr lang="bg-BG" sz="1100" i="1" dirty="0" smtClean="0"/>
              <a:t>Касае </a:t>
            </a:r>
            <a:r>
              <a:rPr lang="ru-RU" sz="1100" i="1" dirty="0" smtClean="0"/>
              <a:t>модела </a:t>
            </a:r>
            <a:r>
              <a:rPr lang="ru-RU" sz="1100" i="1" dirty="0"/>
              <a:t>на данните след даден Типичен отговор на сравнителния </a:t>
            </a:r>
            <a:r>
              <a:rPr lang="ru-RU" sz="1100" i="1" dirty="0" smtClean="0"/>
              <a:t>въпрос</a:t>
            </a:r>
            <a:r>
              <a:rPr lang="en-US" sz="1100" i="1" dirty="0" smtClean="0"/>
              <a:t>.</a:t>
            </a:r>
            <a:endParaRPr lang="ru-RU" sz="1100" dirty="0"/>
          </a:p>
          <a:p>
            <a:r>
              <a:rPr lang="bg-BG" sz="2000" dirty="0" smtClean="0"/>
              <a:t>Проверка на предвижданията на Алтернативното обяснение, </a:t>
            </a:r>
            <a:r>
              <a:rPr lang="en-US" sz="2000" dirty="0" smtClean="0"/>
              <a:t>SAM</a:t>
            </a:r>
            <a:r>
              <a:rPr lang="bg-BG" sz="2000" dirty="0" smtClean="0"/>
              <a:t>, и Модел Консистентност (след даден Типичен отговор)</a:t>
            </a:r>
          </a:p>
          <a:p>
            <a:endParaRPr lang="bg-BG" sz="2000" dirty="0"/>
          </a:p>
          <a:p>
            <a:r>
              <a:rPr lang="bg-BG" sz="2000" dirty="0" smtClean="0"/>
              <a:t>Според Алтернативното обяснение:</a:t>
            </a:r>
            <a:endParaRPr lang="en-US" sz="2000" dirty="0" smtClean="0"/>
          </a:p>
          <a:p>
            <a:pPr lvl="1"/>
            <a:r>
              <a:rPr lang="bg-BG" sz="2000" dirty="0" smtClean="0"/>
              <a:t>при висока котва</a:t>
            </a:r>
            <a:r>
              <a:rPr lang="en-US" sz="2000" dirty="0" smtClean="0"/>
              <a:t>:</a:t>
            </a:r>
            <a:endParaRPr lang="bg-BG" sz="2000" dirty="0" smtClean="0"/>
          </a:p>
          <a:p>
            <a:pPr marL="0" indent="0">
              <a:buNone/>
            </a:pPr>
            <a:r>
              <a:rPr lang="bg-BG" sz="2000" dirty="0" smtClean="0"/>
              <a:t>	Х2: </a:t>
            </a:r>
            <a:r>
              <a:rPr lang="en-US" sz="2000" dirty="0" smtClean="0"/>
              <a:t>{3.} &gt; {2.} &gt; {1.} &gt; {4.}</a:t>
            </a:r>
            <a:endParaRPr lang="bg-BG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lvl="1"/>
            <a:r>
              <a:rPr lang="bg-BG" sz="2000" dirty="0"/>
              <a:t>п</a:t>
            </a:r>
            <a:r>
              <a:rPr lang="bg-BG" sz="2000" dirty="0" smtClean="0"/>
              <a:t>ри ниска котва:</a:t>
            </a:r>
            <a:endParaRPr lang="bg-BG" sz="1600" dirty="0"/>
          </a:p>
          <a:p>
            <a:pPr marL="457200" lvl="1" indent="0">
              <a:buNone/>
            </a:pPr>
            <a:r>
              <a:rPr lang="bg-BG" sz="1600" dirty="0" smtClean="0"/>
              <a:t>	</a:t>
            </a:r>
            <a:r>
              <a:rPr lang="bg-BG" sz="2000" dirty="0" smtClean="0"/>
              <a:t>Х2: </a:t>
            </a:r>
            <a:r>
              <a:rPr lang="en-US" sz="2000" dirty="0" smtClean="0"/>
              <a:t>{2.} &gt; {3.} &gt; {4.} &gt; {1.}</a:t>
            </a: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291792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 descr="C:\Users\Balan\Desktop\MAGISTURSKA TEZA _ ALL DESKTOP\00_Mag teza ALL\Mag teza OBRABOTKA DANNI\0_used pics\used8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2409" y="1851670"/>
            <a:ext cx="2511884" cy="8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7494"/>
            <a:ext cx="8229600" cy="4608512"/>
          </a:xfrm>
        </p:spPr>
        <p:txBody>
          <a:bodyPr>
            <a:normAutofit/>
          </a:bodyPr>
          <a:lstStyle/>
          <a:p>
            <a:r>
              <a:rPr lang="bg-BG" sz="2400" dirty="0" smtClean="0"/>
              <a:t>Експериментални хипотези:</a:t>
            </a:r>
            <a:endParaRPr lang="ru-RU" sz="1600" dirty="0"/>
          </a:p>
          <a:p>
            <a:pPr marL="0" indent="0">
              <a:spcAft>
                <a:spcPts val="1200"/>
              </a:spcAft>
              <a:buNone/>
            </a:pPr>
            <a:r>
              <a:rPr lang="ru-RU" sz="1100" i="1" dirty="0"/>
              <a:t>Хипотеза 3: След даден Нетипичен отговор на сравнителния въпрос, ранжираната подредба на данните при абсолютния въпрос има следния вид: ранг 1 заема (единствената) опцията консистентна с дадения Нетипичен отговор; ранг 2, ранг 3 и ранг 4 заемат опциите спрямо степента си на близост до избраната като </a:t>
            </a:r>
            <a:r>
              <a:rPr lang="ru-RU" sz="1100" i="1" dirty="0" smtClean="0"/>
              <a:t>най-предпочитана</a:t>
            </a:r>
            <a:endParaRPr lang="ru-RU" sz="1100" dirty="0" smtClean="0"/>
          </a:p>
          <a:p>
            <a:r>
              <a:rPr lang="bg-BG" sz="2000" dirty="0" smtClean="0"/>
              <a:t>Проверка на предвижданията на Алтернативното обяснение, </a:t>
            </a:r>
            <a:r>
              <a:rPr lang="en-US" sz="2000" dirty="0" smtClean="0"/>
              <a:t>SAM</a:t>
            </a:r>
            <a:r>
              <a:rPr lang="bg-BG" sz="2000" dirty="0" smtClean="0"/>
              <a:t>, и Модел Консистентност (след даден Нетипичен отговор)</a:t>
            </a:r>
          </a:p>
          <a:p>
            <a:endParaRPr lang="bg-BG" sz="2000" dirty="0"/>
          </a:p>
          <a:p>
            <a:r>
              <a:rPr lang="bg-BG" sz="2000" dirty="0" smtClean="0"/>
              <a:t>Според всички модели:</a:t>
            </a:r>
            <a:endParaRPr lang="en-US" sz="2000" dirty="0" smtClean="0"/>
          </a:p>
          <a:p>
            <a:pPr lvl="1"/>
            <a:r>
              <a:rPr lang="bg-BG" sz="2000" dirty="0" smtClean="0"/>
              <a:t>при висока котва</a:t>
            </a:r>
            <a:r>
              <a:rPr lang="en-US" sz="2000" dirty="0" smtClean="0"/>
              <a:t>:</a:t>
            </a:r>
            <a:endParaRPr lang="bg-BG" sz="2000" dirty="0" smtClean="0"/>
          </a:p>
          <a:p>
            <a:pPr marL="0" indent="0">
              <a:buNone/>
            </a:pPr>
            <a:r>
              <a:rPr lang="bg-BG" sz="2000" dirty="0" smtClean="0"/>
              <a:t>	Х3: </a:t>
            </a:r>
            <a:r>
              <a:rPr lang="en-US" sz="2000" dirty="0" smtClean="0"/>
              <a:t>{</a:t>
            </a:r>
            <a:r>
              <a:rPr lang="bg-BG" sz="2000" dirty="0" smtClean="0"/>
              <a:t>4</a:t>
            </a:r>
            <a:r>
              <a:rPr lang="en-US" sz="2000" dirty="0" smtClean="0"/>
              <a:t>.} &gt; {</a:t>
            </a:r>
            <a:r>
              <a:rPr lang="bg-BG" sz="2000" dirty="0" smtClean="0"/>
              <a:t>3</a:t>
            </a:r>
            <a:r>
              <a:rPr lang="en-US" sz="2000" dirty="0" smtClean="0"/>
              <a:t>.} &gt; {</a:t>
            </a:r>
            <a:r>
              <a:rPr lang="bg-BG" sz="2000" dirty="0" smtClean="0"/>
              <a:t>2</a:t>
            </a:r>
            <a:r>
              <a:rPr lang="en-US" sz="2000" dirty="0" smtClean="0"/>
              <a:t>.} &gt; {</a:t>
            </a:r>
            <a:r>
              <a:rPr lang="bg-BG" sz="2000" dirty="0" smtClean="0"/>
              <a:t>1</a:t>
            </a:r>
            <a:r>
              <a:rPr lang="en-US" sz="2000" dirty="0" smtClean="0"/>
              <a:t>.}</a:t>
            </a:r>
            <a:endParaRPr lang="bg-BG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lvl="1"/>
            <a:r>
              <a:rPr lang="bg-BG" sz="2000" dirty="0"/>
              <a:t>п</a:t>
            </a:r>
            <a:r>
              <a:rPr lang="bg-BG" sz="2000" dirty="0" smtClean="0"/>
              <a:t>ри ниска котва:</a:t>
            </a:r>
            <a:endParaRPr lang="bg-BG" sz="1600" dirty="0"/>
          </a:p>
          <a:p>
            <a:pPr marL="457200" lvl="1" indent="0">
              <a:buNone/>
            </a:pPr>
            <a:r>
              <a:rPr lang="bg-BG" sz="1600" dirty="0" smtClean="0"/>
              <a:t>	</a:t>
            </a:r>
            <a:r>
              <a:rPr lang="bg-BG" sz="2000" dirty="0" smtClean="0"/>
              <a:t>Х3: </a:t>
            </a:r>
            <a:r>
              <a:rPr lang="en-US" sz="2000" dirty="0" smtClean="0"/>
              <a:t>{</a:t>
            </a:r>
            <a:r>
              <a:rPr lang="bg-BG" sz="2000" dirty="0" smtClean="0"/>
              <a:t>1</a:t>
            </a:r>
            <a:r>
              <a:rPr lang="en-US" sz="2000" dirty="0" smtClean="0"/>
              <a:t>.} &gt; {</a:t>
            </a:r>
            <a:r>
              <a:rPr lang="bg-BG" sz="2000" dirty="0" smtClean="0"/>
              <a:t>2</a:t>
            </a:r>
            <a:r>
              <a:rPr lang="en-US" sz="2000" dirty="0" smtClean="0"/>
              <a:t>.} &gt; {</a:t>
            </a:r>
            <a:r>
              <a:rPr lang="bg-BG" sz="2000" dirty="0" smtClean="0"/>
              <a:t>3</a:t>
            </a:r>
            <a:r>
              <a:rPr lang="en-US" sz="2000" dirty="0" smtClean="0"/>
              <a:t>.} &gt; {</a:t>
            </a:r>
            <a:r>
              <a:rPr lang="bg-BG" sz="2000" dirty="0" smtClean="0"/>
              <a:t>4</a:t>
            </a:r>
            <a:r>
              <a:rPr lang="en-US" sz="2000" dirty="0" smtClean="0"/>
              <a:t>.}</a:t>
            </a:r>
            <a:endParaRPr lang="bg-BG" dirty="0" smtClean="0"/>
          </a:p>
        </p:txBody>
      </p:sp>
      <p:pic>
        <p:nvPicPr>
          <p:cNvPr id="4098" name="Picture 2" descr="C:\Users\Balan\Desktop\hip_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238" y="2643758"/>
            <a:ext cx="4398266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7654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Метод на изследването: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400" dirty="0" smtClean="0"/>
              <a:t>Инструментариум:</a:t>
            </a:r>
          </a:p>
          <a:p>
            <a:pPr lvl="1"/>
            <a:r>
              <a:rPr lang="ru-RU" sz="2000" dirty="0"/>
              <a:t>Стандартната парадигма за отговаряне на подвойкови въпроси към един и </a:t>
            </a:r>
            <a:r>
              <a:rPr lang="ru-RU" sz="2000" dirty="0" smtClean="0"/>
              <a:t>същ обект</a:t>
            </a:r>
            <a:endParaRPr lang="ru-RU" sz="2000" dirty="0"/>
          </a:p>
          <a:p>
            <a:pPr lvl="1"/>
            <a:r>
              <a:rPr lang="ru-RU" sz="2000" dirty="0"/>
              <a:t>Вторият въпрос е за </a:t>
            </a:r>
            <a:r>
              <a:rPr lang="ru-RU" sz="2000" dirty="0" smtClean="0"/>
              <a:t>ранжирана подредба на 4 фиксирани алтернативи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73071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Метод на изследването: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Стимули:</a:t>
            </a:r>
          </a:p>
          <a:p>
            <a:pPr lvl="1"/>
            <a:r>
              <a:rPr lang="ru-RU" sz="2000" dirty="0"/>
              <a:t>8 подвойкови </a:t>
            </a:r>
            <a:r>
              <a:rPr lang="ru-RU" sz="2000" dirty="0" smtClean="0"/>
              <a:t>въпроси</a:t>
            </a:r>
            <a:endParaRPr lang="ru-RU" sz="2000" dirty="0"/>
          </a:p>
          <a:p>
            <a:pPr lvl="1"/>
            <a:r>
              <a:rPr lang="ru-RU" sz="2000" dirty="0"/>
              <a:t>Зададена по условие </a:t>
            </a:r>
            <a:r>
              <a:rPr lang="ru-RU" sz="2000" dirty="0" smtClean="0"/>
              <a:t>средна (на целевата популация)</a:t>
            </a:r>
            <a:endParaRPr lang="ru-RU" sz="2000" dirty="0"/>
          </a:p>
          <a:p>
            <a:pPr lvl="1"/>
            <a:r>
              <a:rPr lang="ru-RU" sz="2000" dirty="0"/>
              <a:t>Симетрични котви (относно средната</a:t>
            </a:r>
            <a:r>
              <a:rPr lang="ru-RU" sz="2000" dirty="0" smtClean="0"/>
              <a:t>)</a:t>
            </a:r>
            <a:endParaRPr lang="ru-RU" sz="2000" dirty="0"/>
          </a:p>
          <a:p>
            <a:pPr lvl="1"/>
            <a:r>
              <a:rPr lang="ru-RU" sz="2000" dirty="0" smtClean="0"/>
              <a:t>Симетрични </a:t>
            </a:r>
            <a:r>
              <a:rPr lang="ru-RU" sz="2000" dirty="0"/>
              <a:t>алтернативи (</a:t>
            </a:r>
            <a:r>
              <a:rPr lang="ru-RU" sz="2000" dirty="0" smtClean="0"/>
              <a:t>относно средната)</a:t>
            </a:r>
            <a:endParaRPr lang="ru-RU" sz="2000" dirty="0"/>
          </a:p>
        </p:txBody>
      </p:sp>
      <p:pic>
        <p:nvPicPr>
          <p:cNvPr id="4" name="Picture 2" descr="C:\Users\Balan\Desktop\MAGISTURSKA TEZA _ ALL DESKTOP\00_Mag teza ALL\Mag teza OBRABOTKA DANNI\0_used pics\used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723878"/>
            <a:ext cx="4529579" cy="124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960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Метод на изследването: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400" dirty="0" smtClean="0"/>
              <a:t>Дизайн:</a:t>
            </a:r>
          </a:p>
          <a:p>
            <a:pPr lvl="1"/>
            <a:r>
              <a:rPr lang="bg-BG" sz="2400" dirty="0" smtClean="0"/>
              <a:t>Еднофакторен вътрегрупов дизайн</a:t>
            </a:r>
          </a:p>
          <a:p>
            <a:pPr lvl="1"/>
            <a:r>
              <a:rPr lang="bg-BG" sz="2000" dirty="0" smtClean="0"/>
              <a:t>Фиксиран случаен ред на задаване на котвите (2 варианта стимулен материал)</a:t>
            </a:r>
          </a:p>
          <a:p>
            <a:pPr lvl="1"/>
            <a:r>
              <a:rPr lang="bg-BG" sz="2000" dirty="0" smtClean="0"/>
              <a:t>Фиксиран ред на задаване на подвойковите въпроси</a:t>
            </a:r>
          </a:p>
        </p:txBody>
      </p:sp>
      <p:pic>
        <p:nvPicPr>
          <p:cNvPr id="6" name="Picture 2" descr="C:\Users\Balan\Desktop\MAGISTURSKA TEZA _ ALL DESKTOP\00_Mag teza ALL\Mag teza OBRABOTKA DANNI\0_used pics\used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466" y="3724006"/>
            <a:ext cx="4205534" cy="11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817100"/>
              </p:ext>
            </p:extLst>
          </p:nvPr>
        </p:nvGraphicFramePr>
        <p:xfrm>
          <a:off x="161644" y="3585391"/>
          <a:ext cx="5202444" cy="1022604"/>
        </p:xfrm>
        <a:graphic>
          <a:graphicData uri="http://schemas.openxmlformats.org/drawingml/2006/table">
            <a:tbl>
              <a:tblPr firstRow="1" firstCol="1" bandRow="1"/>
              <a:tblGrid>
                <a:gridCol w="1239594"/>
                <a:gridCol w="1981425"/>
                <a:gridCol w="1981425"/>
              </a:tblGrid>
              <a:tr h="97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bg-BG" sz="1800" u="sng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Фактор:</a:t>
                      </a:r>
                      <a:endParaRPr lang="bg-BG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8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Посока на</a:t>
                      </a:r>
                      <a:br>
                        <a:rPr lang="bg-BG" sz="18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</a:br>
                      <a:r>
                        <a:rPr lang="bg-BG" sz="18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котвата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8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Ниска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8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(4 въпроса)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8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Висока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8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(4 въпроса)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04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579296" cy="3394472"/>
          </a:xfrm>
        </p:spPr>
        <p:txBody>
          <a:bodyPr>
            <a:normAutofit fontScale="85000" lnSpcReduction="1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bg-BG" sz="2000" i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Инструкции </a:t>
            </a:r>
            <a:r>
              <a:rPr lang="bg-BG" sz="2000" i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за </a:t>
            </a:r>
            <a:r>
              <a:rPr lang="bg-BG" sz="2000" i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отговаряне</a:t>
            </a:r>
            <a:endParaRPr lang="bg-BG" sz="20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ru-RU" sz="2000" i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Изследването има за цел да провери способностите за отгатване в условия на липсваща информация. Събрани са данни за определени групи хора. От Вас ще се иска да отговаряте за характеристики на отделни случайно избрани представители от дадената група. </a:t>
            </a:r>
            <a:endParaRPr lang="ru-RU" sz="20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ru-RU" sz="2000" i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За някои въпроси ще има посочени 4 възможни отговора. Само 1 от тях е точен. </a:t>
            </a:r>
            <a:endParaRPr lang="ru-RU" sz="20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ru-RU" sz="2000" i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Ако дадете точния отговор от първия си опит - печелите 4 точки ("4т</a:t>
            </a:r>
            <a:r>
              <a:rPr lang="ru-RU" sz="2000" i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.");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ru-RU" sz="2000" i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Ако </a:t>
            </a:r>
            <a:r>
              <a:rPr lang="ru-RU" sz="2000" i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дадете точния отговор от втория си опит - печелите 3 точки ("3т."); </a:t>
            </a:r>
            <a:endParaRPr lang="bg-BG" sz="2000" dirty="0">
              <a:latin typeface="Arial" pitchFamily="34" charset="0"/>
              <a:cs typeface="Arial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ru-RU" sz="2000" i="1" dirty="0">
                <a:latin typeface="Arial" pitchFamily="34" charset="0"/>
                <a:cs typeface="Arial" pitchFamily="34" charset="0"/>
              </a:rPr>
              <a:t>Ако дадете точния отговор от третия си опит - печелите 2 точки ("2т."); </a:t>
            </a:r>
            <a:endParaRPr lang="ru-RU" sz="2000" i="1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ru-RU" sz="2000" i="1" dirty="0" smtClean="0">
                <a:latin typeface="Arial" pitchFamily="34" charset="0"/>
                <a:cs typeface="Arial" pitchFamily="34" charset="0"/>
              </a:rPr>
              <a:t>Ако </a:t>
            </a:r>
            <a:r>
              <a:rPr lang="ru-RU" sz="2000" i="1" dirty="0">
                <a:latin typeface="Arial" pitchFamily="34" charset="0"/>
                <a:cs typeface="Arial" pitchFamily="34" charset="0"/>
              </a:rPr>
              <a:t>дадете точния отговор от четвъртия си опит - печелите 1 точка ("1т."). </a:t>
            </a:r>
            <a:endParaRPr lang="bg-BG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rmAutofit/>
          </a:bodyPr>
          <a:lstStyle/>
          <a:p>
            <a:r>
              <a:rPr lang="bg-BG" sz="2800" dirty="0"/>
              <a:t>Метод на изследването:</a:t>
            </a:r>
          </a:p>
        </p:txBody>
      </p:sp>
    </p:spTree>
    <p:extLst>
      <p:ext uri="{BB962C8B-B14F-4D97-AF65-F5344CB8AC3E}">
        <p14:creationId xmlns:p14="http://schemas.microsoft.com/office/powerpoint/2010/main" val="290408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Balan\Desktop\MAGISTURSKA TEZA _ ALL DESKTOP\00_Mag teza ALL\Mag teza OBRABOTKA DANNI\0_used pics\used3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045" y="0"/>
            <a:ext cx="4061911" cy="22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C:\Users\Balan\Desktop\MAGISTURSKA TEZA _ ALL DESKTOP\00_Mag teza ALL\Mag teza OBRABOTKA DANNI\0_used pics\used3a_real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63" y="2427734"/>
            <a:ext cx="3665481" cy="26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:\Users\Balan\Desktop\MAGISTURSKA TEZA _ ALL DESKTOP\00_Mag teza ALL\Mag teza OBRABOTKA DANNI\0_used pics\used3a_real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427734"/>
            <a:ext cx="3809604" cy="2594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227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3" descr="C:\Users\Balan\Desktop\MAGISTURSKA TEZA _ ALL DESKTOP\00_Mag teza ALL\Mag teza OBRABOTKA DANNI\0_used pics\used3b_rea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11388"/>
            <a:ext cx="3595688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1" name="Picture 4" descr="C:\Users\Balan\Desktop\MAGISTURSKA TEZA _ ALL DESKTOP\00_Mag teza ALL\Mag teza OBRABOTKA DANNI\0_used pics\used3b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9725"/>
            <a:ext cx="3625850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3" name="Picture 5" descr="C:\Users\Balan\Desktop\MAGISTURSKA TEZA _ ALL DESKTOP\00_Mag teza ALL\Mag teza OBRABOTKA DANNI\0_used pics\used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220" y="-2250"/>
            <a:ext cx="3429780" cy="51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012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C:\Users\Balan\Desktop\MAGISTURSKA TEZA _ ALL DESKTOP\00_Mag teza ALL\Mag teza OBRABOTKA DANNI\0_used pics\used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110" y="-2250"/>
            <a:ext cx="3429780" cy="51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295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409575"/>
            <a:ext cx="8439150" cy="432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836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Метод на изследването: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Процедура на изследването:</a:t>
            </a:r>
          </a:p>
          <a:p>
            <a:pPr lvl="1"/>
            <a:r>
              <a:rPr lang="ru-RU" sz="2400" dirty="0"/>
              <a:t>Онлайн платформа за проучвания (Google forms</a:t>
            </a:r>
            <a:r>
              <a:rPr lang="ru-RU" sz="2400" dirty="0" smtClean="0"/>
              <a:t>)</a:t>
            </a:r>
            <a:endParaRPr lang="ru-RU" sz="2400" dirty="0"/>
          </a:p>
          <a:p>
            <a:pPr lvl="1"/>
            <a:r>
              <a:rPr lang="ru-RU" sz="2400" dirty="0"/>
              <a:t>Началната страница (озаглавена „Отгатване в условия на непълна информация“):</a:t>
            </a:r>
          </a:p>
          <a:p>
            <a:pPr lvl="2"/>
            <a:r>
              <a:rPr lang="ru-RU" sz="2000" dirty="0"/>
              <a:t>Неформално информирано </a:t>
            </a:r>
            <a:r>
              <a:rPr lang="ru-RU" sz="2000" dirty="0" smtClean="0"/>
              <a:t>съгласие</a:t>
            </a:r>
            <a:endParaRPr lang="ru-RU" sz="2000" dirty="0"/>
          </a:p>
          <a:p>
            <a:pPr lvl="2"/>
            <a:r>
              <a:rPr lang="ru-RU" sz="2000" dirty="0" smtClean="0"/>
              <a:t>Инструкции</a:t>
            </a:r>
            <a:endParaRPr lang="ru-RU" sz="2000" dirty="0"/>
          </a:p>
          <a:p>
            <a:pPr lvl="2"/>
            <a:r>
              <a:rPr lang="ru-RU" sz="2000" dirty="0"/>
              <a:t>Рандомизация (спрямо </a:t>
            </a:r>
            <a:r>
              <a:rPr lang="ru-RU" sz="2000" dirty="0" smtClean="0"/>
              <a:t>рождената </a:t>
            </a:r>
            <a:r>
              <a:rPr lang="ru-RU" sz="2000" dirty="0"/>
              <a:t>дата</a:t>
            </a:r>
            <a:r>
              <a:rPr lang="ru-RU" sz="2000" dirty="0" smtClean="0"/>
              <a:t>)</a:t>
            </a:r>
            <a:endParaRPr lang="ru-RU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261908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Balan\Desktop\MAGISTURSKA TEZA _ ALL DESKTOP\00_Mag teza ALL\Mag teza OBRABOTKA DANNI\0_used pics\used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79" y="-2250"/>
            <a:ext cx="3468525" cy="51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3" descr="C:\Users\Balan\Desktop\MAGISTURSKA TEZA _ ALL DESKTOP\00_Mag teza ALL\Mag teza OBRABOTKA DANNI\0_used pics\used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681750"/>
            <a:ext cx="4963929" cy="37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174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486"/>
            <a:ext cx="8363272" cy="4752528"/>
          </a:xfrm>
        </p:spPr>
        <p:txBody>
          <a:bodyPr>
            <a:normAutofit fontScale="70000" lnSpcReduction="20000"/>
          </a:bodyPr>
          <a:lstStyle/>
          <a:p>
            <a:r>
              <a:rPr lang="bg-BG" sz="4000" dirty="0" smtClean="0"/>
              <a:t>Участници </a:t>
            </a:r>
            <a:r>
              <a:rPr lang="bg-BG" sz="4000" dirty="0" smtClean="0">
                <a:solidFill>
                  <a:schemeClr val="bg1">
                    <a:lumMod val="75000"/>
                  </a:schemeClr>
                </a:solidFill>
              </a:rPr>
              <a:t>(ИЛ)</a:t>
            </a:r>
            <a:r>
              <a:rPr lang="bg-BG" sz="4000" dirty="0" smtClean="0"/>
              <a:t>:</a:t>
            </a:r>
          </a:p>
          <a:p>
            <a:pPr lvl="1"/>
            <a:r>
              <a:rPr lang="en-US" dirty="0" smtClean="0"/>
              <a:t>8 </a:t>
            </a:r>
            <a:r>
              <a:rPr lang="bg-BG" dirty="0" smtClean="0"/>
              <a:t>подвойкови въпроси за всяко ИЛ</a:t>
            </a:r>
            <a:endParaRPr lang="en-US" dirty="0" smtClean="0"/>
          </a:p>
          <a:p>
            <a:pPr lvl="1"/>
            <a:r>
              <a:rPr lang="en-US" dirty="0" smtClean="0"/>
              <a:t>Google forms</a:t>
            </a:r>
            <a:endParaRPr lang="bg-BG" dirty="0" smtClean="0"/>
          </a:p>
          <a:p>
            <a:pPr lvl="1"/>
            <a:r>
              <a:rPr lang="bg-BG" dirty="0" smtClean="0"/>
              <a:t>Извадка – 168 ИЛ (87, 81); 168х8=1344 целеви отговора</a:t>
            </a:r>
          </a:p>
          <a:p>
            <a:pPr lvl="2"/>
            <a:r>
              <a:rPr lang="bg-BG" dirty="0" smtClean="0"/>
              <a:t>71% Ж, 29% М</a:t>
            </a:r>
          </a:p>
          <a:p>
            <a:pPr lvl="2"/>
            <a:r>
              <a:rPr lang="bg-BG" dirty="0"/>
              <a:t>Възрастови характеристики на извадката </a:t>
            </a:r>
            <a:r>
              <a:rPr lang="bg-BG" i="1" dirty="0"/>
              <a:t>(</a:t>
            </a:r>
            <a:r>
              <a:rPr lang="en-US" i="1" dirty="0" smtClean="0"/>
              <a:t>N=</a:t>
            </a:r>
            <a:r>
              <a:rPr lang="bg-BG" i="1" dirty="0" smtClean="0"/>
              <a:t>168</a:t>
            </a:r>
            <a:r>
              <a:rPr lang="en-US" i="1" dirty="0" smtClean="0"/>
              <a:t>)</a:t>
            </a:r>
            <a:endParaRPr lang="bg-BG" dirty="0"/>
          </a:p>
          <a:p>
            <a:pPr lvl="2"/>
            <a:endParaRPr lang="bg-BG" dirty="0" smtClean="0"/>
          </a:p>
          <a:p>
            <a:pPr lvl="1"/>
            <a:endParaRPr lang="bg-BG" dirty="0" smtClean="0"/>
          </a:p>
          <a:p>
            <a:pPr lvl="1"/>
            <a:endParaRPr lang="bg-BG" dirty="0" smtClean="0"/>
          </a:p>
          <a:p>
            <a:pPr lvl="1"/>
            <a:endParaRPr lang="bg-BG" dirty="0"/>
          </a:p>
          <a:p>
            <a:pPr lvl="1"/>
            <a:endParaRPr lang="bg-BG" dirty="0" smtClean="0"/>
          </a:p>
          <a:p>
            <a:pPr marL="457200" lvl="1" indent="0">
              <a:buNone/>
            </a:pPr>
            <a:endParaRPr lang="bg-BG" dirty="0"/>
          </a:p>
          <a:p>
            <a:pPr lvl="1"/>
            <a:endParaRPr lang="bg-BG" dirty="0" smtClean="0"/>
          </a:p>
          <a:p>
            <a:pPr lvl="1"/>
            <a:r>
              <a:rPr lang="bg-BG" dirty="0" smtClean="0"/>
              <a:t>Данните се обработват поотделно за Типични и за Нетипични отговори (спрямо първия въпрос)</a:t>
            </a:r>
            <a:endParaRPr lang="bg-BG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547754"/>
              </p:ext>
            </p:extLst>
          </p:nvPr>
        </p:nvGraphicFramePr>
        <p:xfrm>
          <a:off x="702000" y="2106275"/>
          <a:ext cx="7740001" cy="1905635"/>
        </p:xfrm>
        <a:graphic>
          <a:graphicData uri="http://schemas.openxmlformats.org/drawingml/2006/table">
            <a:tbl>
              <a:tblPr bandRow="1"/>
              <a:tblGrid>
                <a:gridCol w="1001784"/>
                <a:gridCol w="1007927"/>
                <a:gridCol w="866571"/>
                <a:gridCol w="788209"/>
                <a:gridCol w="785146"/>
                <a:gridCol w="1010242"/>
                <a:gridCol w="1140061"/>
                <a:gridCol w="1140061"/>
              </a:tblGrid>
              <a:tr h="4857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Брой въведени данни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Средна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Медиана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Мода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Честота на модата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Дисперсия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Стандартно отклонение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Стандартна грешка</a:t>
                      </a:r>
                      <a:endParaRPr lang="bg-BG" sz="110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168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30,78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29,00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23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100,05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10,00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0,77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Минимум</a:t>
                      </a:r>
                      <a:endParaRPr lang="bg-BG" sz="110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Максимум</a:t>
                      </a:r>
                      <a:endParaRPr lang="bg-BG" sz="110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Долен квартил</a:t>
                      </a:r>
                      <a:endParaRPr lang="bg-BG" sz="110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Горен квартил</a:t>
                      </a:r>
                      <a:endParaRPr lang="bg-BG" sz="110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Размах</a:t>
                      </a:r>
                      <a:endParaRPr lang="bg-BG" sz="110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Квартилен размах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Коефициент на скосеност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Коефициент на асиметрия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62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23,00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37,00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46,00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14,00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0,88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0,26</a:t>
                      </a:r>
                      <a:endParaRPr lang="bg-BG" sz="11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7300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486"/>
            <a:ext cx="8363272" cy="4752528"/>
          </a:xfrm>
        </p:spPr>
        <p:txBody>
          <a:bodyPr>
            <a:normAutofit fontScale="70000" lnSpcReduction="20000"/>
          </a:bodyPr>
          <a:lstStyle/>
          <a:p>
            <a:r>
              <a:rPr lang="bg-BG" sz="4000" dirty="0" smtClean="0"/>
              <a:t>Участници </a:t>
            </a:r>
            <a:r>
              <a:rPr lang="bg-BG" sz="4000" dirty="0" smtClean="0">
                <a:solidFill>
                  <a:schemeClr val="bg1">
                    <a:lumMod val="75000"/>
                  </a:schemeClr>
                </a:solidFill>
              </a:rPr>
              <a:t>(ИЛ)</a:t>
            </a:r>
            <a:r>
              <a:rPr lang="bg-BG" sz="4000" dirty="0" smtClean="0"/>
              <a:t>:</a:t>
            </a:r>
          </a:p>
          <a:p>
            <a:pPr lvl="1"/>
            <a:r>
              <a:rPr lang="en-US" dirty="0" smtClean="0"/>
              <a:t>8 </a:t>
            </a:r>
            <a:r>
              <a:rPr lang="bg-BG" dirty="0" smtClean="0"/>
              <a:t>подвойкови въпроси за всяко ИЛ</a:t>
            </a:r>
            <a:endParaRPr lang="en-US" dirty="0" smtClean="0"/>
          </a:p>
          <a:p>
            <a:pPr lvl="1"/>
            <a:r>
              <a:rPr lang="en-US" dirty="0" smtClean="0"/>
              <a:t>Google forms</a:t>
            </a:r>
            <a:endParaRPr lang="bg-BG" dirty="0" smtClean="0"/>
          </a:p>
          <a:p>
            <a:pPr lvl="1"/>
            <a:r>
              <a:rPr lang="bg-BG" dirty="0" smtClean="0"/>
              <a:t>Извадка – 168 ИЛ (87, 81); 168х8=1344 целеви отговора</a:t>
            </a:r>
          </a:p>
          <a:p>
            <a:pPr lvl="2"/>
            <a:r>
              <a:rPr lang="bg-BG" dirty="0" smtClean="0"/>
              <a:t>71% Ж, 29% М</a:t>
            </a:r>
          </a:p>
          <a:p>
            <a:pPr lvl="2"/>
            <a:r>
              <a:rPr lang="bg-BG" dirty="0"/>
              <a:t>Възрастови характеристики на извадката </a:t>
            </a:r>
            <a:r>
              <a:rPr lang="bg-BG" i="1" dirty="0"/>
              <a:t>(</a:t>
            </a:r>
            <a:r>
              <a:rPr lang="en-US" i="1" dirty="0" smtClean="0"/>
              <a:t>N=</a:t>
            </a:r>
            <a:r>
              <a:rPr lang="bg-BG" i="1" dirty="0" smtClean="0"/>
              <a:t>168</a:t>
            </a:r>
            <a:r>
              <a:rPr lang="en-US" i="1" dirty="0" smtClean="0"/>
              <a:t>)</a:t>
            </a:r>
            <a:endParaRPr lang="bg-BG" dirty="0"/>
          </a:p>
          <a:p>
            <a:pPr lvl="2"/>
            <a:endParaRPr lang="bg-BG" dirty="0" smtClean="0"/>
          </a:p>
          <a:p>
            <a:pPr lvl="1"/>
            <a:endParaRPr lang="bg-BG" dirty="0" smtClean="0"/>
          </a:p>
          <a:p>
            <a:pPr lvl="1"/>
            <a:endParaRPr lang="bg-BG" dirty="0" smtClean="0"/>
          </a:p>
          <a:p>
            <a:pPr lvl="1"/>
            <a:endParaRPr lang="bg-BG" dirty="0"/>
          </a:p>
          <a:p>
            <a:pPr lvl="1"/>
            <a:endParaRPr lang="bg-BG" dirty="0" smtClean="0"/>
          </a:p>
          <a:p>
            <a:pPr marL="457200" lvl="1" indent="0">
              <a:buNone/>
            </a:pPr>
            <a:endParaRPr lang="bg-BG" dirty="0"/>
          </a:p>
          <a:p>
            <a:pPr lvl="1"/>
            <a:endParaRPr lang="bg-BG" dirty="0" smtClean="0"/>
          </a:p>
          <a:p>
            <a:pPr lvl="1"/>
            <a:r>
              <a:rPr lang="bg-BG" dirty="0" smtClean="0">
                <a:solidFill>
                  <a:schemeClr val="bg1"/>
                </a:solidFill>
              </a:rPr>
              <a:t>Данните се обработват поотделно за Типични и за Нетипични отговори (спрямо първия въпрос)</a:t>
            </a:r>
            <a:endParaRPr lang="bg-BG" dirty="0">
              <a:solidFill>
                <a:schemeClr val="bg1"/>
              </a:solidFill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195" y="2067694"/>
            <a:ext cx="4061611" cy="30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8133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Какви данни получаваме?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5266928" cy="3747863"/>
          </a:xfrm>
        </p:spPr>
        <p:txBody>
          <a:bodyPr>
            <a:normAutofit fontScale="92500" lnSpcReduction="20000"/>
          </a:bodyPr>
          <a:lstStyle/>
          <a:p>
            <a:r>
              <a:rPr lang="bg-BG" sz="2400" dirty="0" smtClean="0"/>
              <a:t>Резултатите се интерпретират чрез следните анализи:</a:t>
            </a:r>
          </a:p>
          <a:p>
            <a:pPr marL="457200" indent="-457200">
              <a:buFont typeface="+mj-lt"/>
              <a:buAutoNum type="arabicPeriod"/>
            </a:pPr>
            <a:r>
              <a:rPr lang="bg-BG" sz="2000" dirty="0" smtClean="0">
                <a:solidFill>
                  <a:srgbClr val="FF0000"/>
                </a:solidFill>
              </a:rPr>
              <a:t>Ранжировка на алтернативите само по въпроса за 4т. („най-предпочитана алтернатива“)</a:t>
            </a:r>
          </a:p>
          <a:p>
            <a:pPr marL="457200" indent="-457200">
              <a:buFont typeface="+mj-lt"/>
              <a:buAutoNum type="arabicPeriod"/>
            </a:pPr>
            <a:r>
              <a:rPr lang="bg-BG" sz="2000" dirty="0" smtClean="0">
                <a:solidFill>
                  <a:schemeClr val="bg1"/>
                </a:solidFill>
              </a:rPr>
              <a:t>Най-предпочитаната алтернатива за всеки ранг (топ отговор на въпросите за 4т., 3т., 2т., 1т.)</a:t>
            </a:r>
            <a:endParaRPr lang="bg-BG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bg-BG" sz="2000" dirty="0" smtClean="0">
                <a:solidFill>
                  <a:schemeClr val="bg1"/>
                </a:solidFill>
              </a:rPr>
              <a:t>Конкретните наредени ранжировки по всеки отделен въпрос</a:t>
            </a:r>
          </a:p>
          <a:p>
            <a:pPr marL="457200" indent="-457200">
              <a:buFont typeface="+mj-lt"/>
              <a:buAutoNum type="arabicPeriod"/>
            </a:pPr>
            <a:r>
              <a:rPr lang="bg-BG" sz="2000" dirty="0" smtClean="0">
                <a:solidFill>
                  <a:schemeClr val="bg1"/>
                </a:solidFill>
              </a:rPr>
              <a:t>Събраните точки на всяка алтернатива според инструкциите по задачата (сбор от получените точки)</a:t>
            </a:r>
            <a:endParaRPr lang="bg-BG" sz="2000" dirty="0">
              <a:solidFill>
                <a:schemeClr val="bg1"/>
              </a:solidFill>
            </a:endParaRPr>
          </a:p>
        </p:txBody>
      </p:sp>
      <p:pic>
        <p:nvPicPr>
          <p:cNvPr id="19458" name="Picture 2" descr="C:\Users\Balan\Desktop\otg 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952006"/>
            <a:ext cx="2689768" cy="3924000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ame 3"/>
          <p:cNvSpPr/>
          <p:nvPr/>
        </p:nvSpPr>
        <p:spPr>
          <a:xfrm>
            <a:off x="7169269" y="1131591"/>
            <a:ext cx="1546862" cy="792088"/>
          </a:xfrm>
          <a:prstGeom prst="frame">
            <a:avLst>
              <a:gd name="adj1" fmla="val 3939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4130" y="1342969"/>
            <a:ext cx="1075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rgbClr val="FF0000"/>
                </a:solidFill>
              </a:rPr>
              <a:t>Анализ 1</a:t>
            </a:r>
            <a:endParaRPr lang="bg-BG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6444208" y="1203598"/>
            <a:ext cx="648072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72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Какви данни получаваме?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5266928" cy="3747863"/>
          </a:xfrm>
        </p:spPr>
        <p:txBody>
          <a:bodyPr>
            <a:normAutofit fontScale="92500" lnSpcReduction="20000"/>
          </a:bodyPr>
          <a:lstStyle/>
          <a:p>
            <a:r>
              <a:rPr lang="bg-BG" sz="2400" dirty="0" smtClean="0"/>
              <a:t>Резултатите се интерпретират чрез следните анализи:</a:t>
            </a:r>
          </a:p>
          <a:p>
            <a:pPr marL="457200" indent="-457200">
              <a:buFont typeface="+mj-lt"/>
              <a:buAutoNum type="arabicPeriod"/>
            </a:pPr>
            <a:r>
              <a:rPr lang="bg-BG" sz="2000" dirty="0" smtClean="0"/>
              <a:t>Ранжировка на алтернативите само по въпроса за 4т. („най-предпочитана алтернатива“)</a:t>
            </a:r>
          </a:p>
          <a:p>
            <a:pPr marL="457200" indent="-457200">
              <a:buFont typeface="+mj-lt"/>
              <a:buAutoNum type="arabicPeriod"/>
            </a:pPr>
            <a:r>
              <a:rPr lang="bg-BG" sz="2000" dirty="0" smtClean="0">
                <a:solidFill>
                  <a:srgbClr val="FF0000"/>
                </a:solidFill>
              </a:rPr>
              <a:t>Най-предпочитаната алтернатива за всеки ранг (топ отговор на въпросите за 4т., 3т., 2т., 1т.)</a:t>
            </a:r>
          </a:p>
          <a:p>
            <a:pPr marL="457200" indent="-457200">
              <a:buFont typeface="+mj-lt"/>
              <a:buAutoNum type="arabicPeriod"/>
            </a:pPr>
            <a:r>
              <a:rPr lang="bg-BG" sz="2000" dirty="0" smtClean="0">
                <a:solidFill>
                  <a:schemeClr val="bg1"/>
                </a:solidFill>
              </a:rPr>
              <a:t>Конкретните наредени ранжировки по всеки отделен въпрос</a:t>
            </a:r>
          </a:p>
          <a:p>
            <a:pPr marL="457200" indent="-457200">
              <a:buFont typeface="+mj-lt"/>
              <a:buAutoNum type="arabicPeriod"/>
            </a:pPr>
            <a:r>
              <a:rPr lang="bg-BG" sz="2000" dirty="0" smtClean="0">
                <a:solidFill>
                  <a:schemeClr val="bg1"/>
                </a:solidFill>
              </a:rPr>
              <a:t>Събраните точки на всяка алтернатива според инструкциите по задачата (сбор от получените точки)</a:t>
            </a:r>
            <a:endParaRPr lang="bg-BG" sz="2000" dirty="0">
              <a:solidFill>
                <a:schemeClr val="bg1"/>
              </a:solidFill>
            </a:endParaRPr>
          </a:p>
        </p:txBody>
      </p:sp>
      <p:pic>
        <p:nvPicPr>
          <p:cNvPr id="19458" name="Picture 2" descr="C:\Users\Balan\Desktop\otg 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952006"/>
            <a:ext cx="2689768" cy="3924000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7640992" y="2729340"/>
            <a:ext cx="1075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rgbClr val="FF0000"/>
                </a:solidFill>
              </a:rPr>
              <a:t>Анализ 2</a:t>
            </a:r>
            <a:endParaRPr lang="bg-BG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6444208" y="1418648"/>
            <a:ext cx="1498492" cy="131069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6725129" y="2251352"/>
            <a:ext cx="888280" cy="4779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6725129" y="2929787"/>
            <a:ext cx="865934" cy="29003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6504276" y="3098672"/>
            <a:ext cx="1463402" cy="8421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ame 13"/>
          <p:cNvSpPr/>
          <p:nvPr/>
        </p:nvSpPr>
        <p:spPr>
          <a:xfrm>
            <a:off x="6112417" y="1059582"/>
            <a:ext cx="331791" cy="287057"/>
          </a:xfrm>
          <a:prstGeom prst="frame">
            <a:avLst>
              <a:gd name="adj1" fmla="val 1596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15" name="Frame 14"/>
          <p:cNvSpPr/>
          <p:nvPr/>
        </p:nvSpPr>
        <p:spPr>
          <a:xfrm>
            <a:off x="6098921" y="2073994"/>
            <a:ext cx="331791" cy="287057"/>
          </a:xfrm>
          <a:prstGeom prst="frame">
            <a:avLst>
              <a:gd name="adj1" fmla="val 1596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17" name="Frame 16"/>
          <p:cNvSpPr/>
          <p:nvPr/>
        </p:nvSpPr>
        <p:spPr>
          <a:xfrm>
            <a:off x="6098921" y="3061835"/>
            <a:ext cx="331791" cy="287057"/>
          </a:xfrm>
          <a:prstGeom prst="frame">
            <a:avLst>
              <a:gd name="adj1" fmla="val 1596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18" name="Frame 17"/>
          <p:cNvSpPr/>
          <p:nvPr/>
        </p:nvSpPr>
        <p:spPr>
          <a:xfrm>
            <a:off x="6098921" y="4011910"/>
            <a:ext cx="331791" cy="287057"/>
          </a:xfrm>
          <a:prstGeom prst="frame">
            <a:avLst>
              <a:gd name="adj1" fmla="val 1596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587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15" grpId="0" animBg="1"/>
      <p:bldP spid="17" grpId="0" animBg="1"/>
      <p:bldP spid="1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Какви данни получаваме?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5266928" cy="3747863"/>
          </a:xfrm>
        </p:spPr>
        <p:txBody>
          <a:bodyPr>
            <a:normAutofit fontScale="92500" lnSpcReduction="20000"/>
          </a:bodyPr>
          <a:lstStyle/>
          <a:p>
            <a:r>
              <a:rPr lang="bg-BG" sz="2400" dirty="0" smtClean="0"/>
              <a:t>Резултатите се интерпретират чрез следните анализи:</a:t>
            </a:r>
          </a:p>
          <a:p>
            <a:pPr marL="457200" indent="-457200">
              <a:buFont typeface="+mj-lt"/>
              <a:buAutoNum type="arabicPeriod"/>
            </a:pPr>
            <a:r>
              <a:rPr lang="bg-BG" sz="2000" dirty="0" smtClean="0"/>
              <a:t>Ранжировка на алтернативите само по въпроса за 4т. („най-предпочитана алтернатива“)</a:t>
            </a:r>
          </a:p>
          <a:p>
            <a:pPr marL="457200" indent="-457200">
              <a:buFont typeface="+mj-lt"/>
              <a:buAutoNum type="arabicPeriod"/>
            </a:pPr>
            <a:r>
              <a:rPr lang="bg-BG" sz="2000" dirty="0" smtClean="0"/>
              <a:t>Най-предпочитаната алтернатива за всеки ранг (топ отговор на въпросите за 4т., 3т., 2т., 1т.)</a:t>
            </a:r>
          </a:p>
          <a:p>
            <a:pPr marL="457200" indent="-457200">
              <a:buFont typeface="+mj-lt"/>
              <a:buAutoNum type="arabicPeriod"/>
            </a:pPr>
            <a:r>
              <a:rPr lang="bg-BG" sz="2000" dirty="0" smtClean="0">
                <a:solidFill>
                  <a:srgbClr val="FF0000"/>
                </a:solidFill>
              </a:rPr>
              <a:t>Конкретните наредени ранжировки по всеки отделен въпрос</a:t>
            </a:r>
          </a:p>
          <a:p>
            <a:pPr marL="457200" indent="-457200">
              <a:buFont typeface="+mj-lt"/>
              <a:buAutoNum type="arabicPeriod"/>
            </a:pPr>
            <a:r>
              <a:rPr lang="bg-BG" sz="2000" dirty="0" smtClean="0">
                <a:solidFill>
                  <a:schemeClr val="bg1"/>
                </a:solidFill>
              </a:rPr>
              <a:t>Събраните точки на всяка алтернатива според инструкциите по задачата (сбор от получените точки)</a:t>
            </a:r>
            <a:endParaRPr lang="bg-BG" sz="2000" dirty="0">
              <a:solidFill>
                <a:schemeClr val="bg1"/>
              </a:solidFill>
            </a:endParaRPr>
          </a:p>
        </p:txBody>
      </p:sp>
      <p:pic>
        <p:nvPicPr>
          <p:cNvPr id="20482" name="Picture 2" descr="C:\Users\Balan\Desktop\otg 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771550"/>
            <a:ext cx="2737853" cy="43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7597110" y="2891140"/>
            <a:ext cx="1075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rgbClr val="FF0000"/>
                </a:solidFill>
              </a:rPr>
              <a:t>Анализ 3</a:t>
            </a:r>
            <a:endParaRPr lang="bg-BG" dirty="0">
              <a:solidFill>
                <a:srgbClr val="FF0000"/>
              </a:solidFill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7165062" y="1275606"/>
            <a:ext cx="432048" cy="3600400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44696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Какви данни получаваме?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5266928" cy="3747863"/>
          </a:xfrm>
        </p:spPr>
        <p:txBody>
          <a:bodyPr>
            <a:normAutofit fontScale="92500" lnSpcReduction="20000"/>
          </a:bodyPr>
          <a:lstStyle/>
          <a:p>
            <a:r>
              <a:rPr lang="bg-BG" sz="2400" dirty="0" smtClean="0"/>
              <a:t>Резултатите се интерпретират чрез следните анализи:</a:t>
            </a:r>
          </a:p>
          <a:p>
            <a:pPr marL="457200" indent="-457200">
              <a:buFont typeface="+mj-lt"/>
              <a:buAutoNum type="arabicPeriod"/>
            </a:pPr>
            <a:r>
              <a:rPr lang="bg-BG" sz="2000" dirty="0" smtClean="0"/>
              <a:t>Ранжировка на алтернативите само по въпроса за 4т. („най-предпочитана алтернатива“)</a:t>
            </a:r>
          </a:p>
          <a:p>
            <a:pPr marL="457200" indent="-457200">
              <a:buFont typeface="+mj-lt"/>
              <a:buAutoNum type="arabicPeriod"/>
            </a:pPr>
            <a:r>
              <a:rPr lang="bg-BG" sz="2000" dirty="0" smtClean="0"/>
              <a:t>Най-предпочитаната алтернатива за всеки ранг (топ отговор на въпросите за 4т., 3т., 2т., 1т.)</a:t>
            </a:r>
          </a:p>
          <a:p>
            <a:pPr marL="457200" indent="-457200">
              <a:buFont typeface="+mj-lt"/>
              <a:buAutoNum type="arabicPeriod"/>
            </a:pPr>
            <a:r>
              <a:rPr lang="bg-BG" sz="2000" dirty="0" smtClean="0"/>
              <a:t>Конкретните наредени ранжировки по всеки отделен въпрос</a:t>
            </a:r>
          </a:p>
          <a:p>
            <a:pPr marL="457200" indent="-457200">
              <a:buFont typeface="+mj-lt"/>
              <a:buAutoNum type="arabicPeriod"/>
            </a:pPr>
            <a:r>
              <a:rPr lang="bg-BG" sz="2000" dirty="0" smtClean="0">
                <a:solidFill>
                  <a:srgbClr val="FF0000"/>
                </a:solidFill>
              </a:rPr>
              <a:t>Събраните точки на всяка алтернатива според инструкциите по задачата</a:t>
            </a:r>
            <a:br>
              <a:rPr lang="bg-BG" sz="2000" dirty="0" smtClean="0">
                <a:solidFill>
                  <a:srgbClr val="FF0000"/>
                </a:solidFill>
              </a:rPr>
            </a:br>
            <a:r>
              <a:rPr lang="bg-BG" sz="2000" dirty="0" smtClean="0">
                <a:solidFill>
                  <a:srgbClr val="FF0000"/>
                </a:solidFill>
              </a:rPr>
              <a:t>(сбор от получените точки)</a:t>
            </a:r>
            <a:endParaRPr lang="bg-BG" sz="2000" dirty="0">
              <a:solidFill>
                <a:srgbClr val="FF0000"/>
              </a:solidFill>
            </a:endParaRPr>
          </a:p>
        </p:txBody>
      </p:sp>
      <p:pic>
        <p:nvPicPr>
          <p:cNvPr id="21506" name="Picture 2" descr="C:\Users\Balan\Desktop\otg 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2230" y="3507854"/>
            <a:ext cx="3791770" cy="1323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710545" y="2532329"/>
            <a:ext cx="1075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>
                <a:solidFill>
                  <a:srgbClr val="FF0000"/>
                </a:solidFill>
              </a:rPr>
              <a:t>Анализ 4</a:t>
            </a:r>
            <a:endParaRPr lang="bg-BG" dirty="0">
              <a:solidFill>
                <a:srgbClr val="FF0000"/>
              </a:solidFill>
            </a:endParaRPr>
          </a:p>
        </p:txBody>
      </p:sp>
      <p:sp>
        <p:nvSpPr>
          <p:cNvPr id="4" name="Right Brace 3"/>
          <p:cNvSpPr/>
          <p:nvPr/>
        </p:nvSpPr>
        <p:spPr>
          <a:xfrm rot="16200000">
            <a:off x="7032091" y="2247714"/>
            <a:ext cx="432048" cy="1944216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2710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Какви данни получаваме?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5266928" cy="3747863"/>
          </a:xfrm>
        </p:spPr>
        <p:txBody>
          <a:bodyPr>
            <a:normAutofit fontScale="92500" lnSpcReduction="20000"/>
          </a:bodyPr>
          <a:lstStyle/>
          <a:p>
            <a:r>
              <a:rPr lang="bg-BG" sz="2400" dirty="0" smtClean="0"/>
              <a:t>Резултатите се интерпретират чрез следните анализи:</a:t>
            </a:r>
          </a:p>
          <a:p>
            <a:pPr marL="457200" indent="-457200">
              <a:buFont typeface="+mj-lt"/>
              <a:buAutoNum type="arabicPeriod"/>
            </a:pPr>
            <a:r>
              <a:rPr lang="bg-BG" sz="2000" dirty="0" smtClean="0"/>
              <a:t>Ранжировка на алтернативите само по въпроса за 4т. („най-предпочитана алтернатива“)</a:t>
            </a:r>
          </a:p>
          <a:p>
            <a:pPr marL="457200" indent="-457200">
              <a:buFont typeface="+mj-lt"/>
              <a:buAutoNum type="arabicPeriod"/>
            </a:pPr>
            <a:r>
              <a:rPr lang="bg-BG" sz="2000" dirty="0" smtClean="0"/>
              <a:t>Най-предпочитаната алтернатива за всеки ранг (топ отговор на въпросите за 4т., 3т., 2т., 1т.)</a:t>
            </a:r>
          </a:p>
          <a:p>
            <a:pPr marL="457200" indent="-457200">
              <a:buFont typeface="+mj-lt"/>
              <a:buAutoNum type="arabicPeriod"/>
            </a:pPr>
            <a:r>
              <a:rPr lang="bg-BG" sz="2000" dirty="0" smtClean="0"/>
              <a:t>Конкретните наредени ранжировки по всеки отделен въпрос</a:t>
            </a:r>
          </a:p>
          <a:p>
            <a:pPr marL="457200" indent="-457200">
              <a:buFont typeface="+mj-lt"/>
              <a:buAutoNum type="arabicPeriod"/>
            </a:pPr>
            <a:r>
              <a:rPr lang="bg-BG" sz="2000" dirty="0" smtClean="0"/>
              <a:t>Събраните точки на всяка алтернатива според инструкциите по задачата</a:t>
            </a:r>
            <a:br>
              <a:rPr lang="bg-BG" sz="2000" dirty="0" smtClean="0"/>
            </a:br>
            <a:r>
              <a:rPr lang="bg-BG" sz="2000" dirty="0" smtClean="0"/>
              <a:t>(сбор от получените точки)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367158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Разпад на данните по сечението Нетипични и </a:t>
            </a:r>
            <a:r>
              <a:rPr lang="bg-BG" sz="2800" dirty="0"/>
              <a:t>Т</a:t>
            </a:r>
            <a:r>
              <a:rPr lang="bg-BG" sz="2800" dirty="0" smtClean="0"/>
              <a:t>ипични отговори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Относителен дял </a:t>
            </a:r>
            <a:r>
              <a:rPr lang="ru-RU" sz="2400" dirty="0"/>
              <a:t>на Нетипични отговори (</a:t>
            </a:r>
            <a:r>
              <a:rPr lang="ru-RU" sz="2400" dirty="0" smtClean="0"/>
              <a:t>24%)</a:t>
            </a:r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 smtClean="0"/>
          </a:p>
          <a:p>
            <a:endParaRPr lang="ru-RU" sz="2400" dirty="0"/>
          </a:p>
          <a:p>
            <a:r>
              <a:rPr lang="ru-RU" sz="2400" dirty="0"/>
              <a:t>Контент-зависимост при различните въпроси (хората имат различна априорна информация и следователно различна неопределеност по темите</a:t>
            </a:r>
            <a:r>
              <a:rPr lang="ru-RU" sz="2400" dirty="0" smtClean="0"/>
              <a:t>)</a:t>
            </a:r>
            <a:endParaRPr lang="ru-R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608802"/>
              </p:ext>
            </p:extLst>
          </p:nvPr>
        </p:nvGraphicFramePr>
        <p:xfrm>
          <a:off x="1116000" y="1707654"/>
          <a:ext cx="6912001" cy="1603493"/>
        </p:xfrm>
        <a:graphic>
          <a:graphicData uri="http://schemas.openxmlformats.org/drawingml/2006/table">
            <a:tbl>
              <a:tblPr/>
              <a:tblGrid>
                <a:gridCol w="1512101"/>
                <a:gridCol w="1079980"/>
                <a:gridCol w="1079980"/>
                <a:gridCol w="1079980"/>
                <a:gridCol w="1079980"/>
                <a:gridCol w="1079980"/>
              </a:tblGrid>
              <a:tr h="385299"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bg-BG" sz="14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bg-BG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Общо:</a:t>
                      </a:r>
                      <a:endParaRPr lang="bg-BG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Вариант 1а.</a:t>
                      </a:r>
                      <a:endParaRPr lang="bg-BG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Вариант 1</a:t>
                      </a:r>
                      <a:r>
                        <a:rPr lang="en-US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b.</a:t>
                      </a:r>
                      <a:endParaRPr lang="bg-BG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При Ниска котва</a:t>
                      </a:r>
                      <a:endParaRPr lang="bg-BG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При Висока котва</a:t>
                      </a:r>
                      <a:endParaRPr lang="bg-BG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058">
                <a:tc>
                  <a:txBody>
                    <a:bodyPr/>
                    <a:lstStyle/>
                    <a:p>
                      <a:pPr marL="449580" algn="r">
                        <a:spcAft>
                          <a:spcPts val="0"/>
                        </a:spcAft>
                      </a:pPr>
                      <a:r>
                        <a:rPr lang="bg-BG" sz="14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Брой Нетипични отговори:</a:t>
                      </a:r>
                      <a:endParaRPr lang="bg-BG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322</a:t>
                      </a:r>
                      <a:endParaRPr lang="bg-BG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187</a:t>
                      </a:r>
                      <a:endParaRPr lang="bg-BG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135</a:t>
                      </a:r>
                      <a:endParaRPr lang="bg-BG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154</a:t>
                      </a:r>
                      <a:endParaRPr lang="bg-BG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168</a:t>
                      </a:r>
                      <a:endParaRPr lang="bg-BG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7643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Относителен дял:</a:t>
                      </a:r>
                      <a:endParaRPr lang="bg-BG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24%</a:t>
                      </a:r>
                      <a:endParaRPr lang="bg-BG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27%</a:t>
                      </a:r>
                      <a:endParaRPr lang="bg-BG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21%</a:t>
                      </a:r>
                      <a:endParaRPr lang="bg-BG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23%</a:t>
                      </a:r>
                      <a:endParaRPr lang="bg-BG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25%</a:t>
                      </a:r>
                      <a:endParaRPr lang="bg-BG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4128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Разпад на данните по сечението Нетипични и </a:t>
            </a:r>
            <a:r>
              <a:rPr lang="bg-BG" sz="2800" dirty="0"/>
              <a:t>Т</a:t>
            </a:r>
            <a:r>
              <a:rPr lang="bg-BG" sz="2800" dirty="0" smtClean="0"/>
              <a:t>ипични отговори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Относителен дял </a:t>
            </a:r>
            <a:r>
              <a:rPr lang="ru-RU" sz="2400" dirty="0"/>
              <a:t>на Нетипични отговори (</a:t>
            </a:r>
            <a:r>
              <a:rPr lang="ru-RU" sz="2400" dirty="0" smtClean="0"/>
              <a:t>24%)</a:t>
            </a:r>
          </a:p>
          <a:p>
            <a:endParaRPr lang="ru-RU" sz="2400" dirty="0"/>
          </a:p>
          <a:p>
            <a:pPr lvl="1"/>
            <a:r>
              <a:rPr lang="ru-RU" sz="1800" dirty="0" smtClean="0"/>
              <a:t>Съответства на данни от </a:t>
            </a:r>
            <a:br>
              <a:rPr lang="ru-RU" sz="1800" dirty="0" smtClean="0"/>
            </a:br>
            <a:r>
              <a:rPr lang="ru-RU" sz="1800" dirty="0" smtClean="0"/>
              <a:t>предишни експерименти</a:t>
            </a:r>
          </a:p>
          <a:p>
            <a:pPr lvl="1"/>
            <a:r>
              <a:rPr lang="ru-RU" sz="1800" dirty="0" smtClean="0"/>
              <a:t>Поне </a:t>
            </a:r>
            <a:r>
              <a:rPr lang="ru-RU" sz="1800" dirty="0"/>
              <a:t>един </a:t>
            </a:r>
            <a:r>
              <a:rPr lang="ru-RU" sz="1800" dirty="0" smtClean="0"/>
              <a:t>Нетипичен отговор</a:t>
            </a:r>
            <a:br>
              <a:rPr lang="ru-RU" sz="1800" dirty="0" smtClean="0"/>
            </a:br>
            <a:r>
              <a:rPr lang="ru-RU" sz="1800" dirty="0" smtClean="0"/>
              <a:t>са </a:t>
            </a:r>
            <a:r>
              <a:rPr lang="ru-RU" sz="1800" dirty="0"/>
              <a:t>дали около 70% от </a:t>
            </a:r>
            <a:r>
              <a:rPr lang="ru-RU" sz="1800" dirty="0" smtClean="0"/>
              <a:t>хората</a:t>
            </a:r>
            <a:br>
              <a:rPr lang="ru-RU" sz="1800" dirty="0" smtClean="0"/>
            </a:br>
            <a:r>
              <a:rPr lang="ru-RU" sz="1800" dirty="0" smtClean="0"/>
              <a:t>в извадката</a:t>
            </a:r>
          </a:p>
          <a:p>
            <a:pPr lvl="1"/>
            <a:r>
              <a:rPr lang="ru-RU" sz="1800" dirty="0" smtClean="0"/>
              <a:t>Нито едно ИЛ не е дало 8</a:t>
            </a:r>
            <a:br>
              <a:rPr lang="ru-RU" sz="1800" dirty="0" smtClean="0"/>
            </a:br>
            <a:r>
              <a:rPr lang="ru-RU" sz="1800" dirty="0" smtClean="0"/>
              <a:t>Нетипични отговора на 8-те</a:t>
            </a:r>
            <a:br>
              <a:rPr lang="ru-RU" sz="1800" dirty="0" smtClean="0"/>
            </a:br>
            <a:r>
              <a:rPr lang="ru-RU" sz="1800" dirty="0" smtClean="0"/>
              <a:t>въпроса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707654"/>
            <a:ext cx="4320481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7865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Модел на данните при Нетипични отговори</a:t>
            </a:r>
            <a:r>
              <a:rPr lang="en-US" sz="2800" dirty="0" smtClean="0"/>
              <a:t> (24%)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2080" y="1260896"/>
            <a:ext cx="3851920" cy="3523779"/>
          </a:xfrm>
        </p:spPr>
        <p:txBody>
          <a:bodyPr>
            <a:normAutofit/>
          </a:bodyPr>
          <a:lstStyle/>
          <a:p>
            <a:r>
              <a:rPr lang="bg-BG" sz="2400" dirty="0" smtClean="0"/>
              <a:t>Данните съответстват на предвижданията (съвпадащи и за 3-те разглеждани механизма)</a:t>
            </a:r>
            <a:endParaRPr lang="bg-BG" sz="2400" dirty="0"/>
          </a:p>
        </p:txBody>
      </p:sp>
      <p:pic>
        <p:nvPicPr>
          <p:cNvPr id="27650" name="Picture 2" descr="C:\Users\Balan\Desktop\Exp1_Net_1_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1590"/>
            <a:ext cx="5085742" cy="365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ame 3"/>
          <p:cNvSpPr/>
          <p:nvPr/>
        </p:nvSpPr>
        <p:spPr>
          <a:xfrm>
            <a:off x="1559551" y="3107513"/>
            <a:ext cx="1512168" cy="432048"/>
          </a:xfrm>
          <a:prstGeom prst="frame">
            <a:avLst>
              <a:gd name="adj1" fmla="val 45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6" name="Frame 5"/>
          <p:cNvSpPr/>
          <p:nvPr/>
        </p:nvSpPr>
        <p:spPr>
          <a:xfrm>
            <a:off x="3550416" y="3107513"/>
            <a:ext cx="1512168" cy="432048"/>
          </a:xfrm>
          <a:prstGeom prst="frame">
            <a:avLst>
              <a:gd name="adj1" fmla="val 45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54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Модел на данните при Нетипични отговори</a:t>
            </a:r>
            <a:r>
              <a:rPr lang="en-US" sz="2800" dirty="0" smtClean="0"/>
              <a:t> (</a:t>
            </a:r>
            <a:r>
              <a:rPr lang="en-US" sz="2800" dirty="0"/>
              <a:t>24%)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2080" y="1260896"/>
            <a:ext cx="3851920" cy="3523779"/>
          </a:xfrm>
        </p:spPr>
        <p:txBody>
          <a:bodyPr>
            <a:normAutofit/>
          </a:bodyPr>
          <a:lstStyle/>
          <a:p>
            <a:r>
              <a:rPr lang="bg-BG" sz="2400" dirty="0" smtClean="0"/>
              <a:t>Данните съответстват на предвижданията (съвпадащи и за 3-те разглеждани механизма)</a:t>
            </a:r>
            <a:endParaRPr lang="bg-BG" sz="2400" dirty="0"/>
          </a:p>
        </p:txBody>
      </p:sp>
      <p:pic>
        <p:nvPicPr>
          <p:cNvPr id="27650" name="Picture 2" descr="C:\Users\Balan\Desktop\Exp1_Net_1_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1590"/>
            <a:ext cx="5085742" cy="365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335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Модел на данните при Нетипични отговори</a:t>
            </a:r>
            <a:r>
              <a:rPr lang="en-US" sz="2800" dirty="0"/>
              <a:t> (24%)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2080" y="1260896"/>
            <a:ext cx="3851920" cy="3523779"/>
          </a:xfrm>
        </p:spPr>
        <p:txBody>
          <a:bodyPr>
            <a:normAutofit/>
          </a:bodyPr>
          <a:lstStyle/>
          <a:p>
            <a:r>
              <a:rPr lang="bg-BG" sz="2400" dirty="0" smtClean="0"/>
              <a:t>Данните съответстват на предвижданията (съвпадащи и за 3-те разглеждани механизма)</a:t>
            </a:r>
            <a:endParaRPr lang="bg-BG" sz="2400" dirty="0"/>
          </a:p>
        </p:txBody>
      </p:sp>
      <p:pic>
        <p:nvPicPr>
          <p:cNvPr id="28674" name="Picture 2" descr="C:\Users\Balan\Desktop\Exp1_Net_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7614"/>
            <a:ext cx="5372344" cy="14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195078" y="2072020"/>
            <a:ext cx="16561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059832" y="2072020"/>
            <a:ext cx="16561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984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Модел на данните при Нетипични отговори</a:t>
            </a:r>
            <a:r>
              <a:rPr lang="en-US" sz="2800" dirty="0"/>
              <a:t> (24%)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2080" y="1260896"/>
            <a:ext cx="3851920" cy="3523779"/>
          </a:xfrm>
        </p:spPr>
        <p:txBody>
          <a:bodyPr>
            <a:normAutofit/>
          </a:bodyPr>
          <a:lstStyle/>
          <a:p>
            <a:r>
              <a:rPr lang="bg-BG" sz="2400" dirty="0" smtClean="0"/>
              <a:t>Данните съответстват на предвижданията (съвпадащи и за 3-те разглеждани механизма)</a:t>
            </a:r>
            <a:endParaRPr lang="bg-BG" sz="2400" dirty="0"/>
          </a:p>
        </p:txBody>
      </p:sp>
      <p:pic>
        <p:nvPicPr>
          <p:cNvPr id="28675" name="Picture 3" descr="C:\Users\Balan\Desktop\Exp1_Net_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147814"/>
            <a:ext cx="4536000" cy="160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 flipV="1">
            <a:off x="919290" y="3952094"/>
            <a:ext cx="0" cy="63588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059832" y="3952094"/>
            <a:ext cx="0" cy="63588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941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Модел на данните при Нетипични отговори</a:t>
            </a:r>
            <a:r>
              <a:rPr lang="en-US" sz="2800" dirty="0"/>
              <a:t> (24%)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2080" y="1260896"/>
            <a:ext cx="3851920" cy="3523779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bg-BG" sz="2400" dirty="0" smtClean="0"/>
              <a:t>Данните съответстват на предвижданията (съвпадащи и за 3-те разглеждани механизма)</a:t>
            </a:r>
          </a:p>
          <a:p>
            <a:endParaRPr lang="bg-BG" sz="2400" dirty="0"/>
          </a:p>
          <a:p>
            <a:r>
              <a:rPr lang="bg-BG" sz="2400" dirty="0" smtClean="0">
                <a:solidFill>
                  <a:schemeClr val="bg1">
                    <a:lumMod val="75000"/>
                  </a:schemeClr>
                </a:solidFill>
              </a:rPr>
              <a:t>Направени са допълнителни непараметрични тестове</a:t>
            </a:r>
            <a:r>
              <a:rPr lang="en-US" sz="2400" dirty="0" smtClean="0">
                <a:solidFill>
                  <a:schemeClr val="bg1">
                    <a:lumMod val="75000"/>
                  </a:schemeClr>
                </a:solidFill>
              </a:rPr>
              <a:t> (</a:t>
            </a:r>
            <a:r>
              <a:rPr lang="bg-BG" sz="2400" dirty="0">
                <a:solidFill>
                  <a:schemeClr val="bg1">
                    <a:lumMod val="75000"/>
                  </a:schemeClr>
                </a:solidFill>
              </a:rPr>
              <a:t>χ²</a:t>
            </a:r>
            <a:r>
              <a:rPr lang="en-US" sz="2400" dirty="0" smtClean="0">
                <a:solidFill>
                  <a:schemeClr val="bg1">
                    <a:lumMod val="75000"/>
                  </a:schemeClr>
                </a:solidFill>
              </a:rPr>
              <a:t>)</a:t>
            </a:r>
            <a:r>
              <a:rPr lang="bg-BG" sz="2400" dirty="0" smtClean="0">
                <a:solidFill>
                  <a:schemeClr val="bg1">
                    <a:lumMod val="75000"/>
                  </a:schemeClr>
                </a:solidFill>
              </a:rPr>
              <a:t>, както и </a:t>
            </a:r>
            <a:r>
              <a:rPr lang="en-US" sz="2400" dirty="0" smtClean="0">
                <a:solidFill>
                  <a:schemeClr val="bg1">
                    <a:lumMod val="75000"/>
                  </a:schemeClr>
                </a:solidFill>
              </a:rPr>
              <a:t>ANOVA</a:t>
            </a:r>
            <a:endParaRPr lang="bg-BG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8674" name="Picture 2" descr="C:\Users\Balan\Desktop\Exp1_Net_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7614"/>
            <a:ext cx="5372344" cy="14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5" name="Picture 3" descr="C:\Users\Balan\Desktop\Exp1_Net_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147814"/>
            <a:ext cx="4536000" cy="160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781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Модел на данните при Типични отговори</a:t>
            </a:r>
            <a:r>
              <a:rPr lang="en-US" sz="2800" dirty="0" smtClean="0"/>
              <a:t> (76%)</a:t>
            </a:r>
            <a:endParaRPr lang="bg-BG" sz="2800" dirty="0"/>
          </a:p>
        </p:txBody>
      </p:sp>
      <p:pic>
        <p:nvPicPr>
          <p:cNvPr id="29698" name="Picture 2" descr="C:\Users\Balan\Desktop\Exp1_Tip_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001" y="943069"/>
            <a:ext cx="6233999" cy="414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6716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Модел на данните при Типични отговори</a:t>
            </a:r>
            <a:r>
              <a:rPr lang="en-US" sz="2800" dirty="0"/>
              <a:t> (76%)</a:t>
            </a:r>
            <a:endParaRPr lang="bg-BG" sz="2800" dirty="0"/>
          </a:p>
        </p:txBody>
      </p:sp>
      <p:pic>
        <p:nvPicPr>
          <p:cNvPr id="30722" name="Picture 2" descr="C:\Users\Balan\Desktop\Exp1_Tip_1_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5606"/>
            <a:ext cx="5326551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292080" y="1260896"/>
            <a:ext cx="3851920" cy="3523779"/>
          </a:xfrm>
        </p:spPr>
        <p:txBody>
          <a:bodyPr>
            <a:normAutofit/>
          </a:bodyPr>
          <a:lstStyle/>
          <a:p>
            <a:r>
              <a:rPr lang="bg-BG" sz="2000" dirty="0" smtClean="0"/>
              <a:t>Данните съответстват на предвижданията на Алтернативното обяснение (и не подкрепят </a:t>
            </a:r>
            <a:r>
              <a:rPr lang="en-US" sz="2000" dirty="0" smtClean="0"/>
              <a:t>SAM</a:t>
            </a:r>
            <a:r>
              <a:rPr lang="bg-BG" sz="2000" dirty="0" smtClean="0"/>
              <a:t>, както и категорично не подкрепят Модел Консистентност)</a:t>
            </a:r>
            <a:endParaRPr lang="bg-BG" sz="2000" dirty="0"/>
          </a:p>
        </p:txBody>
      </p:sp>
      <p:sp>
        <p:nvSpPr>
          <p:cNvPr id="7" name="Frame 6"/>
          <p:cNvSpPr/>
          <p:nvPr/>
        </p:nvSpPr>
        <p:spPr>
          <a:xfrm>
            <a:off x="3707904" y="2787774"/>
            <a:ext cx="1512168" cy="432048"/>
          </a:xfrm>
          <a:prstGeom prst="frame">
            <a:avLst>
              <a:gd name="adj1" fmla="val 45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96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Модел на данните при Типични отговори</a:t>
            </a:r>
            <a:r>
              <a:rPr lang="en-US" sz="2800" dirty="0"/>
              <a:t> (76%)</a:t>
            </a:r>
            <a:endParaRPr lang="bg-BG" sz="2800" dirty="0"/>
          </a:p>
        </p:txBody>
      </p:sp>
      <p:pic>
        <p:nvPicPr>
          <p:cNvPr id="30722" name="Picture 2" descr="C:\Users\Balan\Desktop\Exp1_Tip_1_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5606"/>
            <a:ext cx="5326551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292080" y="1260896"/>
            <a:ext cx="3851920" cy="3523779"/>
          </a:xfrm>
        </p:spPr>
        <p:txBody>
          <a:bodyPr>
            <a:normAutofit/>
          </a:bodyPr>
          <a:lstStyle/>
          <a:p>
            <a:r>
              <a:rPr lang="bg-BG" sz="2000" dirty="0" smtClean="0"/>
              <a:t>Данните съответстват на предвижданията на Алтернативното обяснение (и не подкрепят </a:t>
            </a:r>
            <a:r>
              <a:rPr lang="en-US" sz="2000" dirty="0" smtClean="0"/>
              <a:t>SAM</a:t>
            </a:r>
            <a:r>
              <a:rPr lang="bg-BG" sz="2000" dirty="0" smtClean="0"/>
              <a:t>, както и категорично не подкрепят Модел Консистентност)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3339417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Модел на данните при Типични отговори</a:t>
            </a:r>
            <a:r>
              <a:rPr lang="en-US" sz="2800" dirty="0"/>
              <a:t> (76%)</a:t>
            </a:r>
            <a:endParaRPr lang="bg-BG" sz="2800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292080" y="1260896"/>
            <a:ext cx="3851920" cy="3523779"/>
          </a:xfrm>
        </p:spPr>
        <p:txBody>
          <a:bodyPr>
            <a:normAutofit/>
          </a:bodyPr>
          <a:lstStyle/>
          <a:p>
            <a:r>
              <a:rPr lang="bg-BG" sz="2000" dirty="0" smtClean="0"/>
              <a:t>Данните съответстват на предвижданията на Алтернативното обяснение (и не подкрепят </a:t>
            </a:r>
            <a:r>
              <a:rPr lang="en-US" sz="2000" dirty="0" smtClean="0">
                <a:solidFill>
                  <a:srgbClr val="0070C0"/>
                </a:solidFill>
              </a:rPr>
              <a:t>SAM</a:t>
            </a:r>
            <a:r>
              <a:rPr lang="bg-BG" sz="2000" dirty="0" smtClean="0"/>
              <a:t>, както и категорично не подкрепят Модел Консистентност)</a:t>
            </a:r>
            <a:endParaRPr lang="bg-BG" sz="2000" dirty="0"/>
          </a:p>
        </p:txBody>
      </p:sp>
      <p:pic>
        <p:nvPicPr>
          <p:cNvPr id="31746" name="Picture 2" descr="C:\Users\Balan\Desktop\Exp1_Tip_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2711"/>
            <a:ext cx="5364000" cy="1966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195078" y="1923678"/>
            <a:ext cx="16561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987824" y="2067694"/>
            <a:ext cx="16561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95078" y="2643758"/>
            <a:ext cx="1656184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987824" y="2643758"/>
            <a:ext cx="1656184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95536" y="4803998"/>
            <a:ext cx="72008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95536" y="4443958"/>
            <a:ext cx="7200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59632" y="4227934"/>
            <a:ext cx="6344487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bg-BG" dirty="0" smtClean="0"/>
              <a:t>Прецизно предвиждане според Алтернативното обяснение</a:t>
            </a:r>
          </a:p>
          <a:p>
            <a:r>
              <a:rPr lang="bg-BG" dirty="0" smtClean="0"/>
              <a:t>Прецизно предвиждане според </a:t>
            </a:r>
            <a:r>
              <a:rPr lang="en-US" dirty="0" smtClean="0"/>
              <a:t>SAM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6955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Модел на данните при Типични отговори</a:t>
            </a:r>
            <a:r>
              <a:rPr lang="en-US" sz="2800" dirty="0"/>
              <a:t> (76%)</a:t>
            </a:r>
            <a:endParaRPr lang="bg-BG" sz="2800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292080" y="1260896"/>
            <a:ext cx="3851920" cy="3523779"/>
          </a:xfrm>
        </p:spPr>
        <p:txBody>
          <a:bodyPr>
            <a:normAutofit/>
          </a:bodyPr>
          <a:lstStyle/>
          <a:p>
            <a:r>
              <a:rPr lang="bg-BG" sz="2000" dirty="0" smtClean="0"/>
              <a:t>Данните съответстват на предвижданията на Алтернативното обяснение (и не подкрепят </a:t>
            </a:r>
            <a:r>
              <a:rPr lang="en-US" sz="2000" dirty="0" smtClean="0"/>
              <a:t>SAM</a:t>
            </a:r>
            <a:r>
              <a:rPr lang="bg-BG" sz="2000" dirty="0" smtClean="0"/>
              <a:t>, както и категорично не подкрепят Модел Консистентност)</a:t>
            </a:r>
            <a:endParaRPr lang="bg-BG" sz="2000" dirty="0"/>
          </a:p>
        </p:txBody>
      </p:sp>
      <p:pic>
        <p:nvPicPr>
          <p:cNvPr id="31747" name="Picture 3" descr="C:\Users\Balan\Desktop\Exp1_Tip_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3" y="3219822"/>
            <a:ext cx="4536000" cy="1625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rame 10"/>
          <p:cNvSpPr/>
          <p:nvPr/>
        </p:nvSpPr>
        <p:spPr>
          <a:xfrm>
            <a:off x="3131840" y="4155926"/>
            <a:ext cx="1800200" cy="432048"/>
          </a:xfrm>
          <a:prstGeom prst="frame">
            <a:avLst>
              <a:gd name="adj1" fmla="val 45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1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Модел на данните при Типични отговори</a:t>
            </a:r>
            <a:r>
              <a:rPr lang="en-US" sz="2800" dirty="0"/>
              <a:t> (76%)</a:t>
            </a:r>
            <a:endParaRPr lang="bg-BG" sz="2800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292080" y="1260896"/>
            <a:ext cx="3851920" cy="3523779"/>
          </a:xfrm>
        </p:spPr>
        <p:txBody>
          <a:bodyPr>
            <a:normAutofit/>
          </a:bodyPr>
          <a:lstStyle/>
          <a:p>
            <a:r>
              <a:rPr lang="bg-BG" sz="2000" dirty="0" smtClean="0"/>
              <a:t>Данните съответстват на предвижданията на Алтернативното обяснение (и не подкрепят </a:t>
            </a:r>
            <a:r>
              <a:rPr lang="en-US" sz="2000" dirty="0" smtClean="0"/>
              <a:t>SAM</a:t>
            </a:r>
            <a:r>
              <a:rPr lang="bg-BG" sz="2000" dirty="0" smtClean="0"/>
              <a:t>, както и категорично не подкрепят Модел Консистентност)</a:t>
            </a:r>
            <a:endParaRPr lang="bg-BG" sz="2000" dirty="0"/>
          </a:p>
        </p:txBody>
      </p:sp>
      <p:pic>
        <p:nvPicPr>
          <p:cNvPr id="31747" name="Picture 3" descr="C:\Users\Balan\Desktop\Exp1_Tip_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3" y="3219822"/>
            <a:ext cx="4536000" cy="1625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192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Модел на данните при Типични отговори</a:t>
            </a:r>
            <a:r>
              <a:rPr lang="en-US" sz="2800" dirty="0"/>
              <a:t> (76%)</a:t>
            </a:r>
            <a:endParaRPr lang="bg-BG" sz="2800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292080" y="1260896"/>
            <a:ext cx="3851920" cy="3523779"/>
          </a:xfrm>
        </p:spPr>
        <p:txBody>
          <a:bodyPr>
            <a:normAutofit/>
          </a:bodyPr>
          <a:lstStyle/>
          <a:p>
            <a:r>
              <a:rPr lang="bg-BG" sz="2000" dirty="0" smtClean="0"/>
              <a:t>Данните съответстват на предвижданията на Алтернативното обяснение (и не подкрепят </a:t>
            </a:r>
            <a:r>
              <a:rPr lang="en-US" sz="2000" dirty="0" smtClean="0"/>
              <a:t>SAM</a:t>
            </a:r>
            <a:r>
              <a:rPr lang="bg-BG" sz="2000" dirty="0" smtClean="0"/>
              <a:t>, както и категорично не подкрепят Модел Консистентност)</a:t>
            </a:r>
            <a:endParaRPr lang="bg-BG" sz="2000" dirty="0"/>
          </a:p>
        </p:txBody>
      </p:sp>
      <p:pic>
        <p:nvPicPr>
          <p:cNvPr id="31746" name="Picture 2" descr="C:\Users\Balan\Desktop\Exp1_Tip_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2711"/>
            <a:ext cx="5364000" cy="1966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7" name="Picture 3" descr="C:\Users\Balan\Desktop\Exp1_Tip_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3" y="3219822"/>
            <a:ext cx="4536000" cy="1625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901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b="0" dirty="0" smtClean="0"/>
              <a:t>При висока котва:</a:t>
            </a:r>
            <a:endParaRPr lang="bg-BG" b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bg-BG" dirty="0" smtClean="0"/>
              <a:t>Х1</a:t>
            </a:r>
            <a:r>
              <a:rPr lang="en-US" dirty="0"/>
              <a:t>a</a:t>
            </a:r>
            <a:r>
              <a:rPr lang="bg-BG" dirty="0"/>
              <a:t>: </a:t>
            </a:r>
            <a:r>
              <a:rPr lang="en-US" dirty="0"/>
              <a:t>{1.; 2.} </a:t>
            </a:r>
            <a:r>
              <a:rPr lang="bg-BG" dirty="0" smtClean="0"/>
              <a:t>&lt;</a:t>
            </a:r>
            <a:r>
              <a:rPr lang="en-US" dirty="0" smtClean="0"/>
              <a:t> </a:t>
            </a:r>
            <a:r>
              <a:rPr lang="en-US" dirty="0"/>
              <a:t>{3.; 4.}</a:t>
            </a:r>
          </a:p>
          <a:p>
            <a:pPr lvl="1"/>
            <a:r>
              <a:rPr lang="bg-BG" dirty="0"/>
              <a:t>Х1</a:t>
            </a:r>
            <a:r>
              <a:rPr lang="en-US" dirty="0"/>
              <a:t>b: {2.} </a:t>
            </a:r>
            <a:r>
              <a:rPr lang="bg-BG" dirty="0" smtClean="0"/>
              <a:t>&lt;</a:t>
            </a:r>
            <a:r>
              <a:rPr lang="en-US" dirty="0" smtClean="0"/>
              <a:t> </a:t>
            </a:r>
            <a:r>
              <a:rPr lang="en-US" dirty="0"/>
              <a:t>{3</a:t>
            </a:r>
            <a:r>
              <a:rPr lang="en-US" dirty="0" smtClean="0"/>
              <a:t>.}</a:t>
            </a:r>
            <a:endParaRPr lang="bg-BG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bg-BG" b="0" dirty="0" smtClean="0"/>
              <a:t>При ниска котва:</a:t>
            </a:r>
            <a:endParaRPr lang="bg-BG" b="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lvl="1"/>
            <a:r>
              <a:rPr lang="bg-BG" dirty="0"/>
              <a:t>Х1</a:t>
            </a:r>
            <a:r>
              <a:rPr lang="en-US" dirty="0"/>
              <a:t>a: {1.; 2.} &gt; {3.; 4</a:t>
            </a:r>
            <a:r>
              <a:rPr lang="en-US" dirty="0" smtClean="0"/>
              <a:t>.}</a:t>
            </a:r>
            <a:endParaRPr lang="bg-BG" dirty="0" smtClean="0"/>
          </a:p>
          <a:p>
            <a:pPr lvl="1"/>
            <a:r>
              <a:rPr lang="bg-BG" dirty="0" smtClean="0"/>
              <a:t>Х1</a:t>
            </a:r>
            <a:r>
              <a:rPr lang="en-US" dirty="0"/>
              <a:t>b: {2.} &gt; {3</a:t>
            </a:r>
            <a:r>
              <a:rPr lang="en-US" dirty="0" smtClean="0"/>
              <a:t>.}</a:t>
            </a:r>
            <a:endParaRPr lang="bg-BG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</a:bodyPr>
          <a:lstStyle/>
          <a:p>
            <a:r>
              <a:rPr lang="bg-BG" sz="2800" dirty="0" smtClean="0"/>
              <a:t>Допълнителна проверка на Х1 по точките от агрегатните данни</a:t>
            </a:r>
            <a:endParaRPr lang="bg-BG" sz="2800" dirty="0"/>
          </a:p>
        </p:txBody>
      </p:sp>
      <p:pic>
        <p:nvPicPr>
          <p:cNvPr id="8" name="Picture 2" descr="C:\Users\Balan\Desktop\Exp1_H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287" y="3291830"/>
            <a:ext cx="5460881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Balan\Desktop\hip_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2355838"/>
            <a:ext cx="2586739" cy="10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 descr="C:\Users\Balan\Desktop\hip_1_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355838"/>
            <a:ext cx="2700867" cy="10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1404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Изводи и Насоки за нови изследвания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200"/>
              </a:spcAft>
            </a:pPr>
            <a:r>
              <a:rPr lang="bg-BG" sz="2400" dirty="0" smtClean="0"/>
              <a:t>В цялостта си направените анализи подкрепят издигнатите експериментални хипотези (Х1, Х2, Х3)</a:t>
            </a:r>
          </a:p>
          <a:p>
            <a:r>
              <a:rPr lang="bg-BG" sz="2400" dirty="0" smtClean="0"/>
              <a:t>Възможна критика:</a:t>
            </a:r>
          </a:p>
          <a:p>
            <a:pPr lvl="1"/>
            <a:r>
              <a:rPr lang="bg-BG" sz="2000" dirty="0" smtClean="0"/>
              <a:t>Предлагането на фиксирани алтернативи (като конкретни числа) представлява само по себе си закотвяне</a:t>
            </a:r>
            <a:endParaRPr lang="en-US" sz="2000" dirty="0" smtClean="0"/>
          </a:p>
          <a:p>
            <a:r>
              <a:rPr lang="bg-BG" sz="2400" dirty="0" smtClean="0"/>
              <a:t>Решение: Фиксираните алтернативи да се представят под формата не на отделни числа, а на числови интервали</a:t>
            </a:r>
          </a:p>
          <a:p>
            <a:pPr lvl="1"/>
            <a:r>
              <a:rPr lang="bg-BG" sz="2000" dirty="0" smtClean="0"/>
              <a:t>Това дава възможност за много допълнителни емпирични проверки на предвижданията на Алтернативното обяснение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289771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Експеримент 2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000" dirty="0" smtClean="0"/>
              <a:t>Единствена разлика спрямо Експеримент 1 е формулирането на фиксираните алтернативи под формата на числови интервали (а не конкретни числа)</a:t>
            </a:r>
          </a:p>
          <a:p>
            <a:endParaRPr lang="bg-BG" sz="2000" dirty="0"/>
          </a:p>
          <a:p>
            <a:r>
              <a:rPr lang="bg-BG" sz="2000" dirty="0" smtClean="0"/>
              <a:t>Идентични </a:t>
            </a:r>
            <a:r>
              <a:rPr lang="ru-RU" sz="2000" i="1" dirty="0"/>
              <a:t>инструментариум</a:t>
            </a:r>
            <a:r>
              <a:rPr lang="ru-RU" sz="2000" dirty="0"/>
              <a:t>, </a:t>
            </a:r>
            <a:r>
              <a:rPr lang="ru-RU" sz="2000" i="1" dirty="0"/>
              <a:t>дизайн</a:t>
            </a:r>
            <a:r>
              <a:rPr lang="ru-RU" sz="2000" dirty="0"/>
              <a:t> (еднофакторен – с независима променлива „посока“ на котвата на две нива – ниска и висока котва; </a:t>
            </a:r>
            <a:r>
              <a:rPr lang="ru-RU" sz="2000" dirty="0" smtClean="0"/>
              <a:t>вътрегрупов</a:t>
            </a:r>
            <a:r>
              <a:rPr lang="ru-RU" sz="2000" dirty="0"/>
              <a:t>), </a:t>
            </a:r>
            <a:r>
              <a:rPr lang="ru-RU" sz="2000" i="1" dirty="0"/>
              <a:t>процедура на </a:t>
            </a:r>
            <a:r>
              <a:rPr lang="ru-RU" sz="2000" i="1" dirty="0" smtClean="0"/>
              <a:t>изследване</a:t>
            </a:r>
            <a:endParaRPr lang="ru-RU" sz="2000" dirty="0" smtClean="0"/>
          </a:p>
          <a:p>
            <a:r>
              <a:rPr lang="ru-RU" sz="2000" dirty="0" smtClean="0"/>
              <a:t>Разлика в </a:t>
            </a:r>
            <a:r>
              <a:rPr lang="ru-RU" sz="2000" i="1" dirty="0" smtClean="0"/>
              <a:t>стимулите</a:t>
            </a:r>
            <a:endParaRPr lang="bg-BG" sz="2000" i="1" dirty="0"/>
          </a:p>
        </p:txBody>
      </p:sp>
    </p:spTree>
    <p:extLst>
      <p:ext uri="{BB962C8B-B14F-4D97-AF65-F5344CB8AC3E}">
        <p14:creationId xmlns:p14="http://schemas.microsoft.com/office/powerpoint/2010/main" val="615950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>
                <a:solidFill>
                  <a:schemeClr val="bg1">
                    <a:lumMod val="75000"/>
                  </a:schemeClr>
                </a:solidFill>
              </a:rPr>
              <a:t>Експеримент 2</a:t>
            </a:r>
            <a:endParaRPr lang="bg-BG" sz="2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Стимули:</a:t>
            </a:r>
          </a:p>
          <a:p>
            <a:pPr lvl="1"/>
            <a:r>
              <a:rPr lang="ru-RU" sz="2000" dirty="0"/>
              <a:t>8 подвойкови </a:t>
            </a:r>
            <a:r>
              <a:rPr lang="ru-RU" sz="2000" dirty="0" smtClean="0"/>
              <a:t>въпроси</a:t>
            </a:r>
            <a:endParaRPr lang="ru-RU" sz="2000" dirty="0"/>
          </a:p>
          <a:p>
            <a:pPr lvl="1"/>
            <a:r>
              <a:rPr lang="ru-RU" sz="2000" dirty="0"/>
              <a:t>Зададена по условие </a:t>
            </a:r>
            <a:r>
              <a:rPr lang="ru-RU" sz="2000" dirty="0" smtClean="0"/>
              <a:t>средна (на целевата популация)</a:t>
            </a:r>
            <a:endParaRPr lang="ru-RU" sz="2000" dirty="0"/>
          </a:p>
          <a:p>
            <a:pPr lvl="1"/>
            <a:r>
              <a:rPr lang="ru-RU" sz="2000" dirty="0"/>
              <a:t>Симетрични котви (относно средната</a:t>
            </a:r>
            <a:r>
              <a:rPr lang="ru-RU" sz="2000" dirty="0" smtClean="0"/>
              <a:t>)</a:t>
            </a:r>
            <a:endParaRPr lang="ru-RU" sz="2000" dirty="0"/>
          </a:p>
          <a:p>
            <a:pPr lvl="1"/>
            <a:r>
              <a:rPr lang="ru-RU" sz="2000" dirty="0" smtClean="0"/>
              <a:t>Симетрични </a:t>
            </a:r>
            <a:r>
              <a:rPr lang="ru-RU" sz="2000" dirty="0"/>
              <a:t>алтернативи (</a:t>
            </a:r>
            <a:r>
              <a:rPr lang="ru-RU" sz="2000" dirty="0" smtClean="0"/>
              <a:t>относно средната)</a:t>
            </a:r>
            <a:endParaRPr lang="ru-RU" sz="2000" dirty="0"/>
          </a:p>
        </p:txBody>
      </p:sp>
      <p:pic>
        <p:nvPicPr>
          <p:cNvPr id="1026" name="Picture 2" descr="C:\Users\Balan\Desktop\MAGISTURSKA TEZA _ ALL DESKTOP\00_Mag teza ALL\Mag teza OBRABOTKA DANNI\0_used pics\used6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4000" y="3367844"/>
            <a:ext cx="4536000" cy="1443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08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385763"/>
            <a:ext cx="8372475" cy="437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24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C:\Users\Balan\Desktop\MAGISTURSKA TEZA _ ALL DESKTOP\00_Mag teza ALL\Mag teza OBRABOTKA DANNI\0_used pics\used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807" y="-20250"/>
            <a:ext cx="3422386" cy="51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1664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486"/>
            <a:ext cx="8363272" cy="4752528"/>
          </a:xfrm>
        </p:spPr>
        <p:txBody>
          <a:bodyPr>
            <a:normAutofit fontScale="77500" lnSpcReduction="20000"/>
          </a:bodyPr>
          <a:lstStyle/>
          <a:p>
            <a:r>
              <a:rPr lang="bg-BG" sz="4000" dirty="0" smtClean="0"/>
              <a:t>Участници:</a:t>
            </a:r>
          </a:p>
          <a:p>
            <a:pPr lvl="1"/>
            <a:r>
              <a:rPr lang="en-US" dirty="0" smtClean="0"/>
              <a:t>8 </a:t>
            </a:r>
            <a:r>
              <a:rPr lang="bg-BG" dirty="0" smtClean="0"/>
              <a:t>подвойкови въпроси за всяко ИЛ</a:t>
            </a:r>
            <a:endParaRPr lang="en-US" dirty="0" smtClean="0"/>
          </a:p>
          <a:p>
            <a:pPr lvl="1"/>
            <a:r>
              <a:rPr lang="en-US" dirty="0" smtClean="0"/>
              <a:t>Google forms</a:t>
            </a:r>
            <a:endParaRPr lang="bg-BG" dirty="0" smtClean="0"/>
          </a:p>
          <a:p>
            <a:pPr lvl="1"/>
            <a:r>
              <a:rPr lang="bg-BG" dirty="0" smtClean="0"/>
              <a:t>Извадка – 165 ИЛ (86, 79); 165х8=1320 целеви отговора</a:t>
            </a:r>
          </a:p>
          <a:p>
            <a:pPr lvl="2"/>
            <a:r>
              <a:rPr lang="bg-BG" dirty="0" smtClean="0"/>
              <a:t>Небалансирана по пол – 71% Ж, 29% М</a:t>
            </a:r>
          </a:p>
          <a:p>
            <a:pPr lvl="2"/>
            <a:r>
              <a:rPr lang="bg-BG" dirty="0" smtClean="0"/>
              <a:t>Хетерогенна по възраст </a:t>
            </a:r>
            <a:r>
              <a:rPr lang="bg-BG" i="1" dirty="0" smtClean="0"/>
              <a:t>(</a:t>
            </a:r>
            <a:r>
              <a:rPr lang="en-US" i="1" dirty="0" smtClean="0"/>
              <a:t>n=</a:t>
            </a:r>
            <a:r>
              <a:rPr lang="bg-BG" i="1" dirty="0" smtClean="0"/>
              <a:t>16</a:t>
            </a:r>
            <a:r>
              <a:rPr lang="en-US" i="1" dirty="0" smtClean="0"/>
              <a:t>3)</a:t>
            </a:r>
            <a:r>
              <a:rPr lang="en-US" dirty="0"/>
              <a:t> – </a:t>
            </a:r>
            <a:r>
              <a:rPr lang="en-US" dirty="0" smtClean="0"/>
              <a:t>M </a:t>
            </a:r>
            <a:r>
              <a:rPr lang="en-US" dirty="0"/>
              <a:t>= 30.87, SD = </a:t>
            </a:r>
            <a:r>
              <a:rPr lang="en-US" dirty="0" smtClean="0"/>
              <a:t>11.58</a:t>
            </a:r>
            <a:endParaRPr lang="bg-BG" dirty="0"/>
          </a:p>
          <a:p>
            <a:pPr lvl="2"/>
            <a:endParaRPr lang="bg-BG" dirty="0" smtClean="0"/>
          </a:p>
          <a:p>
            <a:pPr lvl="1"/>
            <a:endParaRPr lang="bg-BG" dirty="0" smtClean="0"/>
          </a:p>
          <a:p>
            <a:pPr lvl="1"/>
            <a:endParaRPr lang="bg-BG" dirty="0" smtClean="0"/>
          </a:p>
          <a:p>
            <a:pPr lvl="1"/>
            <a:endParaRPr lang="bg-BG" dirty="0"/>
          </a:p>
          <a:p>
            <a:pPr lvl="1"/>
            <a:endParaRPr lang="bg-BG" dirty="0" smtClean="0"/>
          </a:p>
          <a:p>
            <a:pPr marL="457200" lvl="1" indent="0">
              <a:buNone/>
            </a:pPr>
            <a:endParaRPr lang="bg-BG" dirty="0"/>
          </a:p>
          <a:p>
            <a:pPr lvl="1"/>
            <a:endParaRPr lang="bg-BG" dirty="0" smtClean="0"/>
          </a:p>
          <a:p>
            <a:pPr lvl="1"/>
            <a:r>
              <a:rPr lang="bg-BG" dirty="0" smtClean="0">
                <a:solidFill>
                  <a:schemeClr val="bg1"/>
                </a:solidFill>
              </a:rPr>
              <a:t>Данните се обработват поотделно за Типични и за Нетипични</a:t>
            </a:r>
            <a:endParaRPr lang="bg-BG" dirty="0">
              <a:solidFill>
                <a:schemeClr val="bg1"/>
              </a:solidFill>
            </a:endParaRPr>
          </a:p>
        </p:txBody>
      </p:sp>
      <p:pic>
        <p:nvPicPr>
          <p:cNvPr id="4098" name="Picture 2" descr="C:\Users\Balan\Desktop\MAGISTURSKA TEZA _ ALL DESKTOP\00_Mag teza ALL\Mag teza OBRABOTKA DANNI\0_used pics\used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492" y="2211710"/>
            <a:ext cx="3841017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659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Разпад на данните по сечението Нетипични и </a:t>
            </a:r>
            <a:r>
              <a:rPr lang="bg-BG" sz="2800" dirty="0"/>
              <a:t>Т</a:t>
            </a:r>
            <a:r>
              <a:rPr lang="bg-BG" sz="2800" dirty="0" smtClean="0"/>
              <a:t>ипични отговори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Относителен дял </a:t>
            </a:r>
            <a:r>
              <a:rPr lang="ru-RU" sz="2400" dirty="0"/>
              <a:t>на Нетипични отговори (</a:t>
            </a:r>
            <a:r>
              <a:rPr lang="ru-RU" sz="2400" dirty="0" smtClean="0"/>
              <a:t>24%)</a:t>
            </a:r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 smtClean="0"/>
          </a:p>
          <a:p>
            <a:endParaRPr lang="ru-RU" sz="2400" dirty="0"/>
          </a:p>
          <a:p>
            <a:r>
              <a:rPr lang="ru-RU" sz="2400" dirty="0"/>
              <a:t>Контент-зависимост при различните въпроси (хората имат различна априорна информация и следователно различна неопределеност по темите</a:t>
            </a:r>
            <a:r>
              <a:rPr lang="ru-RU" sz="2400" dirty="0" smtClean="0"/>
              <a:t>)</a:t>
            </a:r>
            <a:endParaRPr lang="ru-R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239231"/>
              </p:ext>
            </p:extLst>
          </p:nvPr>
        </p:nvGraphicFramePr>
        <p:xfrm>
          <a:off x="1116000" y="1707654"/>
          <a:ext cx="6912001" cy="1603493"/>
        </p:xfrm>
        <a:graphic>
          <a:graphicData uri="http://schemas.openxmlformats.org/drawingml/2006/table">
            <a:tbl>
              <a:tblPr/>
              <a:tblGrid>
                <a:gridCol w="1512101"/>
                <a:gridCol w="1079980"/>
                <a:gridCol w="1079980"/>
                <a:gridCol w="1079980"/>
                <a:gridCol w="1079980"/>
                <a:gridCol w="1079980"/>
              </a:tblGrid>
              <a:tr h="385299">
                <a:tc>
                  <a:txBody>
                    <a:bodyPr/>
                    <a:lstStyle/>
                    <a:p>
                      <a:pPr indent="450215" algn="r">
                        <a:spcAft>
                          <a:spcPts val="0"/>
                        </a:spcAft>
                      </a:pPr>
                      <a:r>
                        <a:rPr lang="bg-BG" sz="14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bg-BG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Общо:</a:t>
                      </a:r>
                      <a:endParaRPr lang="bg-BG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Вариант </a:t>
                      </a:r>
                      <a:r>
                        <a:rPr lang="en-US" sz="14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r>
                        <a:rPr lang="bg-BG" sz="14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а</a:t>
                      </a:r>
                      <a:r>
                        <a:rPr lang="bg-BG" sz="14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.</a:t>
                      </a:r>
                      <a:endParaRPr lang="bg-BG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Вариант </a:t>
                      </a:r>
                      <a:r>
                        <a:rPr lang="en-US" sz="14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2b</a:t>
                      </a:r>
                      <a:r>
                        <a:rPr lang="en-US" sz="14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.</a:t>
                      </a:r>
                      <a:endParaRPr lang="bg-BG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При Ниска котва</a:t>
                      </a:r>
                      <a:endParaRPr lang="bg-BG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При Висока котва</a:t>
                      </a:r>
                      <a:endParaRPr lang="bg-BG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058">
                <a:tc>
                  <a:txBody>
                    <a:bodyPr/>
                    <a:lstStyle/>
                    <a:p>
                      <a:pPr marL="449580" algn="r">
                        <a:spcAft>
                          <a:spcPts val="0"/>
                        </a:spcAft>
                      </a:pPr>
                      <a:r>
                        <a:rPr lang="bg-BG" sz="14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Брой Нетипични отговори:</a:t>
                      </a:r>
                      <a:endParaRPr lang="bg-BG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32</a:t>
                      </a:r>
                      <a:r>
                        <a:rPr lang="en-US" sz="14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bg-BG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175</a:t>
                      </a:r>
                      <a:endParaRPr lang="bg-BG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149</a:t>
                      </a:r>
                      <a:endParaRPr lang="bg-BG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15</a:t>
                      </a:r>
                      <a:r>
                        <a:rPr lang="en-US" sz="14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9</a:t>
                      </a:r>
                      <a:endParaRPr lang="bg-BG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16</a:t>
                      </a:r>
                      <a:r>
                        <a:rPr lang="en-US" sz="14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bg-BG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7643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bg-BG" sz="14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Относителен дял:</a:t>
                      </a:r>
                      <a:endParaRPr lang="bg-BG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24%</a:t>
                      </a:r>
                      <a:endParaRPr lang="bg-BG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r>
                        <a:rPr lang="en-US" sz="14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r>
                        <a:rPr lang="bg-BG" sz="14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%</a:t>
                      </a:r>
                      <a:endParaRPr lang="bg-BG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r>
                        <a:rPr lang="en-US" sz="14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r>
                        <a:rPr lang="bg-BG" sz="14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%</a:t>
                      </a:r>
                      <a:endParaRPr lang="bg-BG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r>
                        <a:rPr lang="en-US" sz="14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r>
                        <a:rPr lang="bg-BG" sz="14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%</a:t>
                      </a:r>
                      <a:endParaRPr lang="bg-BG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g-BG" sz="14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25%</a:t>
                      </a:r>
                      <a:endParaRPr lang="bg-BG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2510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Разпад на данните по сечението Нетипични и </a:t>
            </a:r>
            <a:r>
              <a:rPr lang="bg-BG" sz="2800" dirty="0"/>
              <a:t>Т</a:t>
            </a:r>
            <a:r>
              <a:rPr lang="bg-BG" sz="2800" dirty="0" smtClean="0"/>
              <a:t>ипични отговори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Относителен дял </a:t>
            </a:r>
            <a:r>
              <a:rPr lang="ru-RU" sz="2400" dirty="0"/>
              <a:t>на Нетипични отговори (</a:t>
            </a:r>
            <a:r>
              <a:rPr lang="ru-RU" sz="2400" dirty="0" smtClean="0"/>
              <a:t>24%)</a:t>
            </a:r>
          </a:p>
          <a:p>
            <a:endParaRPr lang="ru-RU" sz="2400" dirty="0"/>
          </a:p>
          <a:p>
            <a:pPr lvl="1"/>
            <a:r>
              <a:rPr lang="ru-RU" sz="1800" dirty="0" smtClean="0"/>
              <a:t>Съответства на данни от </a:t>
            </a:r>
            <a:br>
              <a:rPr lang="ru-RU" sz="1800" dirty="0" smtClean="0"/>
            </a:br>
            <a:r>
              <a:rPr lang="ru-RU" sz="1800" dirty="0" smtClean="0"/>
              <a:t>предишни експерименти</a:t>
            </a:r>
          </a:p>
          <a:p>
            <a:pPr lvl="1"/>
            <a:r>
              <a:rPr lang="ru-RU" sz="1800" dirty="0" smtClean="0"/>
              <a:t>Поне </a:t>
            </a:r>
            <a:r>
              <a:rPr lang="ru-RU" sz="1800" dirty="0"/>
              <a:t>един </a:t>
            </a:r>
            <a:r>
              <a:rPr lang="ru-RU" sz="1800" dirty="0" smtClean="0"/>
              <a:t>Нетипичен отговор</a:t>
            </a:r>
            <a:br>
              <a:rPr lang="ru-RU" sz="1800" dirty="0" smtClean="0"/>
            </a:br>
            <a:r>
              <a:rPr lang="ru-RU" sz="1800" dirty="0" smtClean="0"/>
              <a:t>са </a:t>
            </a:r>
            <a:r>
              <a:rPr lang="ru-RU" sz="1800" dirty="0"/>
              <a:t>дали около </a:t>
            </a:r>
            <a:r>
              <a:rPr lang="ru-RU" sz="1800" dirty="0" smtClean="0"/>
              <a:t>7</a:t>
            </a:r>
            <a:r>
              <a:rPr lang="en-US" sz="1800" dirty="0" smtClean="0"/>
              <a:t>3</a:t>
            </a:r>
            <a:r>
              <a:rPr lang="ru-RU" sz="1800" dirty="0" smtClean="0"/>
              <a:t>% </a:t>
            </a:r>
            <a:r>
              <a:rPr lang="ru-RU" sz="1800" dirty="0"/>
              <a:t>от </a:t>
            </a:r>
            <a:r>
              <a:rPr lang="ru-RU" sz="1800" dirty="0" smtClean="0"/>
              <a:t>хората</a:t>
            </a:r>
            <a:br>
              <a:rPr lang="ru-RU" sz="1800" dirty="0" smtClean="0"/>
            </a:br>
            <a:r>
              <a:rPr lang="ru-RU" sz="1800" dirty="0" smtClean="0"/>
              <a:t>в извадката</a:t>
            </a:r>
          </a:p>
          <a:p>
            <a:pPr lvl="1"/>
            <a:r>
              <a:rPr lang="bg-BG" sz="1800" dirty="0" smtClean="0"/>
              <a:t>По</a:t>
            </a:r>
            <a:r>
              <a:rPr lang="ru-RU" sz="1800" dirty="0" smtClean="0"/>
              <a:t> едно ИЛ е дало 7 и 8</a:t>
            </a:r>
            <a:br>
              <a:rPr lang="ru-RU" sz="1800" dirty="0" smtClean="0"/>
            </a:br>
            <a:r>
              <a:rPr lang="ru-RU" sz="1800" dirty="0" smtClean="0"/>
              <a:t>Нетипични отговора на 8-те</a:t>
            </a:r>
            <a:br>
              <a:rPr lang="ru-RU" sz="1800" dirty="0" smtClean="0"/>
            </a:br>
            <a:r>
              <a:rPr lang="ru-RU" sz="1800" dirty="0" smtClean="0"/>
              <a:t>въпроса</a:t>
            </a:r>
          </a:p>
        </p:txBody>
      </p:sp>
      <p:pic>
        <p:nvPicPr>
          <p:cNvPr id="5122" name="Picture 2" descr="C:\Users\Balan\Desktop\MAGISTURSKA TEZA _ ALL DESKTOP\00_Mag teza ALL\Mag teza OBRABOTKA DANNI\0_used pics\used10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635646"/>
            <a:ext cx="4321148" cy="3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61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Данните съответстват на предвижданията (съвпадащи и за 3-те разглеждани механизма)</a:t>
            </a:r>
          </a:p>
          <a:p>
            <a:r>
              <a:rPr lang="ru-RU" sz="2000" dirty="0"/>
              <a:t>Аналогично </a:t>
            </a:r>
            <a:r>
              <a:rPr lang="ru-RU" sz="2000" dirty="0" smtClean="0"/>
              <a:t>на </a:t>
            </a:r>
            <a:r>
              <a:rPr lang="ru-RU" sz="2000" dirty="0"/>
              <a:t>Експеримент 1, моделът на данните следва предвижданията на практика на всяко ниво на </a:t>
            </a:r>
            <a:r>
              <a:rPr lang="ru-RU" sz="2000" dirty="0" smtClean="0"/>
              <a:t>анализ</a:t>
            </a:r>
          </a:p>
          <a:p>
            <a:r>
              <a:rPr lang="ru-RU" sz="2000" dirty="0" smtClean="0"/>
              <a:t>Посочените </a:t>
            </a:r>
            <a:r>
              <a:rPr lang="ru-RU" sz="2000" dirty="0"/>
              <a:t>тенденции в резултатите тук изглежда </a:t>
            </a:r>
            <a:r>
              <a:rPr lang="ru-RU" sz="2000" dirty="0" smtClean="0"/>
              <a:t>са проявени </a:t>
            </a:r>
            <a:r>
              <a:rPr lang="ru-RU" sz="2000" dirty="0"/>
              <a:t>дори малко </a:t>
            </a:r>
            <a:r>
              <a:rPr lang="ru-RU" sz="2000" dirty="0" smtClean="0"/>
              <a:t>по-силно</a:t>
            </a:r>
            <a:endParaRPr lang="bg-BG" sz="20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</a:bodyPr>
          <a:lstStyle/>
          <a:p>
            <a:r>
              <a:rPr lang="bg-BG" sz="2800" dirty="0" smtClean="0"/>
              <a:t>Модел на данните при Нетипични отговори</a:t>
            </a:r>
            <a:r>
              <a:rPr lang="en-US" sz="2800" dirty="0" smtClean="0"/>
              <a:t> (24%)</a:t>
            </a: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4179885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Модел на данните при Нетипични отговори</a:t>
            </a:r>
            <a:r>
              <a:rPr lang="en-US" sz="2800" dirty="0" smtClean="0"/>
              <a:t> (24%)</a:t>
            </a:r>
            <a:endParaRPr lang="bg-BG" sz="2800" dirty="0"/>
          </a:p>
        </p:txBody>
      </p:sp>
      <p:pic>
        <p:nvPicPr>
          <p:cNvPr id="6146" name="Picture 2" descr="C:\Users\Balan\Desktop\Exp2_Net_1_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317" y="823500"/>
            <a:ext cx="5343366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ame 7"/>
          <p:cNvSpPr/>
          <p:nvPr/>
        </p:nvSpPr>
        <p:spPr>
          <a:xfrm>
            <a:off x="3635896" y="3416111"/>
            <a:ext cx="1512168" cy="429046"/>
          </a:xfrm>
          <a:prstGeom prst="frame">
            <a:avLst>
              <a:gd name="adj1" fmla="val 45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9" name="Frame 8"/>
          <p:cNvSpPr/>
          <p:nvPr/>
        </p:nvSpPr>
        <p:spPr>
          <a:xfrm>
            <a:off x="5652120" y="3396376"/>
            <a:ext cx="1512168" cy="432048"/>
          </a:xfrm>
          <a:prstGeom prst="frame">
            <a:avLst>
              <a:gd name="adj1" fmla="val 45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99792" y="823500"/>
            <a:ext cx="4543891" cy="13162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7" name="Picture 2" descr="C:\Users\Balan\Desktop\MAGISTURSKA TEZA _ ALL DESKTOP\00_Mag teza ALL\Mag teza OBRABOTKA DANNI\0_used pics\used6b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0096" y="1170834"/>
            <a:ext cx="3040794" cy="967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:\Users\Balan\Desktop\MAGISTURSKA TEZA _ ALL DESKTOP\00_Mag teza ALL\Mag teza OBRABOTKA DANNI\0_used pics\used6b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323" y="1170833"/>
            <a:ext cx="3040794" cy="967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699792" y="1170833"/>
            <a:ext cx="360040" cy="248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Rectangle 10"/>
          <p:cNvSpPr/>
          <p:nvPr/>
        </p:nvSpPr>
        <p:spPr>
          <a:xfrm>
            <a:off x="6984268" y="1170832"/>
            <a:ext cx="360040" cy="248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55836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Модел на данните при Нетипични отговори</a:t>
            </a:r>
            <a:r>
              <a:rPr lang="en-US" sz="2800" dirty="0" smtClean="0"/>
              <a:t> (24%)</a:t>
            </a:r>
            <a:endParaRPr lang="bg-BG" sz="2800" dirty="0"/>
          </a:p>
        </p:txBody>
      </p:sp>
      <p:pic>
        <p:nvPicPr>
          <p:cNvPr id="7172" name="Picture 4" descr="C:\Users\Balan\Desktop\Exp2_Net_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278" y="987766"/>
            <a:ext cx="7313445" cy="1944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3" name="Picture 5" descr="C:\Users\Balan\Desktop\Exp2_Net_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25" y="3116163"/>
            <a:ext cx="5619750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/>
          <p:cNvCxnSpPr/>
          <p:nvPr/>
        </p:nvCxnSpPr>
        <p:spPr>
          <a:xfrm>
            <a:off x="1187624" y="2067694"/>
            <a:ext cx="194421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076056" y="2067694"/>
            <a:ext cx="194421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2267744" y="4265780"/>
            <a:ext cx="0" cy="63588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436096" y="4265780"/>
            <a:ext cx="0" cy="63588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23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Моделът на данните следва предвижданията на Алтернативното обяснение на практика на всяко ниво на </a:t>
            </a:r>
            <a:r>
              <a:rPr lang="ru-RU" sz="2400" dirty="0" smtClean="0"/>
              <a:t>анализ</a:t>
            </a:r>
          </a:p>
          <a:p>
            <a:r>
              <a:rPr lang="ru-RU" sz="2400" dirty="0" smtClean="0"/>
              <a:t>Предвижданията на </a:t>
            </a:r>
            <a:r>
              <a:rPr lang="en-US" sz="2400" dirty="0" smtClean="0"/>
              <a:t>SAM </a:t>
            </a:r>
            <a:r>
              <a:rPr lang="bg-BG" sz="2400" dirty="0" smtClean="0"/>
              <a:t>не се подкрепят от данните; предвижданията по Модел Консистентност категорично не се подкрепят от данните</a:t>
            </a:r>
            <a:endParaRPr lang="ru-RU" sz="2400" dirty="0" smtClean="0"/>
          </a:p>
          <a:p>
            <a:r>
              <a:rPr lang="ru-RU" sz="2400" dirty="0"/>
              <a:t>В Експеримент 2 това се отнася до всички условия и </a:t>
            </a:r>
            <a:r>
              <a:rPr lang="ru-RU" sz="2400" dirty="0" smtClean="0"/>
              <a:t>всички подизвадки</a:t>
            </a:r>
            <a:endParaRPr lang="bg-BG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rmAutofit/>
          </a:bodyPr>
          <a:lstStyle/>
          <a:p>
            <a:r>
              <a:rPr lang="bg-BG" sz="2800" dirty="0" smtClean="0"/>
              <a:t>Модел на данните при Типични отговори</a:t>
            </a:r>
            <a:r>
              <a:rPr lang="en-US" sz="2800" dirty="0" smtClean="0"/>
              <a:t> (76%)</a:t>
            </a: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1731330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Модел на данните при Типични отговори</a:t>
            </a:r>
            <a:r>
              <a:rPr lang="en-US" sz="2800" dirty="0" smtClean="0"/>
              <a:t> (76%)</a:t>
            </a:r>
            <a:endParaRPr lang="bg-BG" sz="2800" dirty="0"/>
          </a:p>
        </p:txBody>
      </p:sp>
      <p:pic>
        <p:nvPicPr>
          <p:cNvPr id="29698" name="Picture 2" descr="C:\Users\Balan\Desktop\Exp1_Tip_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001" y="943069"/>
            <a:ext cx="6233999" cy="414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97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 descr="C:\Users\Balan\Desktop\Exp2_Tip_1_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658" y="555526"/>
            <a:ext cx="5560685" cy="458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rmAutofit/>
          </a:bodyPr>
          <a:lstStyle/>
          <a:p>
            <a:r>
              <a:rPr lang="bg-BG" sz="2800" dirty="0" smtClean="0"/>
              <a:t>Модел на данните при Типични отговори</a:t>
            </a:r>
            <a:r>
              <a:rPr lang="en-US" sz="2800" dirty="0" smtClean="0"/>
              <a:t> (76%)</a:t>
            </a:r>
            <a:endParaRPr lang="bg-BG" sz="2800" dirty="0"/>
          </a:p>
        </p:txBody>
      </p:sp>
      <p:sp>
        <p:nvSpPr>
          <p:cNvPr id="7" name="Frame 6"/>
          <p:cNvSpPr/>
          <p:nvPr/>
        </p:nvSpPr>
        <p:spPr>
          <a:xfrm>
            <a:off x="5652119" y="2849512"/>
            <a:ext cx="1700223" cy="946373"/>
          </a:xfrm>
          <a:prstGeom prst="frame">
            <a:avLst>
              <a:gd name="adj1" fmla="val 451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5" name="Frame 4"/>
          <p:cNvSpPr/>
          <p:nvPr/>
        </p:nvSpPr>
        <p:spPr>
          <a:xfrm>
            <a:off x="5508104" y="4217665"/>
            <a:ext cx="1844239" cy="925835"/>
          </a:xfrm>
          <a:prstGeom prst="frame">
            <a:avLst>
              <a:gd name="adj1" fmla="val 451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483768" y="555526"/>
            <a:ext cx="5040560" cy="1512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8" name="Picture 2" descr="C:\Users\Balan\Desktop\MAGISTURSKA TEZA _ ALL DESKTOP\00_Mag teza ALL\Mag teza OBRABOTKA DANNI\0_used pics\used6b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0096" y="1170834"/>
            <a:ext cx="3040794" cy="967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Balan\Desktop\MAGISTURSKA TEZA _ ALL DESKTOP\00_Mag teza ALL\Mag teza OBRABOTKA DANNI\0_used pics\used6b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323" y="1170833"/>
            <a:ext cx="3040794" cy="967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2699792" y="1170833"/>
            <a:ext cx="360040" cy="248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Rectangle 10"/>
          <p:cNvSpPr/>
          <p:nvPr/>
        </p:nvSpPr>
        <p:spPr>
          <a:xfrm>
            <a:off x="6984268" y="1170832"/>
            <a:ext cx="360040" cy="248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66918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rmAutofit/>
          </a:bodyPr>
          <a:lstStyle/>
          <a:p>
            <a:r>
              <a:rPr lang="bg-BG" sz="2800" dirty="0" smtClean="0"/>
              <a:t>Модел на данните при Типични отговори</a:t>
            </a:r>
            <a:r>
              <a:rPr lang="en-US" sz="2800" dirty="0" smtClean="0"/>
              <a:t> (76%)</a:t>
            </a:r>
            <a:endParaRPr lang="bg-BG" sz="2800" dirty="0"/>
          </a:p>
        </p:txBody>
      </p:sp>
      <p:pic>
        <p:nvPicPr>
          <p:cNvPr id="9218" name="Picture 2" descr="C:\Users\Balan\Desktop\Exp2_Tip_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3" y="915750"/>
            <a:ext cx="9040335" cy="33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395536" y="2787774"/>
            <a:ext cx="257672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076056" y="2499742"/>
            <a:ext cx="257672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95536" y="3287567"/>
            <a:ext cx="2576722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164128" y="3507854"/>
            <a:ext cx="2576722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95536" y="4803998"/>
            <a:ext cx="72008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95536" y="4443958"/>
            <a:ext cx="7200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59632" y="4227934"/>
            <a:ext cx="6344487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bg-BG" dirty="0" smtClean="0"/>
              <a:t>Прецизно предвиждане според Алтернативното обяснение</a:t>
            </a:r>
          </a:p>
          <a:p>
            <a:r>
              <a:rPr lang="bg-BG" dirty="0" smtClean="0"/>
              <a:t>Прецизно предвиждане според </a:t>
            </a:r>
            <a:r>
              <a:rPr lang="en-US" dirty="0" smtClean="0"/>
              <a:t>SAM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991672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rmAutofit/>
          </a:bodyPr>
          <a:lstStyle/>
          <a:p>
            <a:r>
              <a:rPr lang="bg-BG" sz="2800" dirty="0" smtClean="0"/>
              <a:t>Модел на данните при Типични отговори</a:t>
            </a:r>
            <a:r>
              <a:rPr lang="en-US" sz="2800" dirty="0" smtClean="0"/>
              <a:t> (76%)</a:t>
            </a:r>
            <a:endParaRPr lang="bg-BG" sz="2800" dirty="0"/>
          </a:p>
        </p:txBody>
      </p:sp>
      <p:pic>
        <p:nvPicPr>
          <p:cNvPr id="10242" name="Picture 2" descr="C:\Users\Balan\Desktop\Exp2_Tip_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097" y="2650182"/>
            <a:ext cx="7035807" cy="249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31540" y="987574"/>
            <a:ext cx="828092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bg-BG" sz="2400" dirty="0" smtClean="0"/>
              <a:t>Прецизно предвиждане според Алтернативното обяснение</a:t>
            </a:r>
            <a:r>
              <a:rPr lang="en-US" sz="2400" dirty="0" smtClean="0"/>
              <a:t>:</a:t>
            </a:r>
          </a:p>
          <a:p>
            <a:pPr>
              <a:spcAft>
                <a:spcPts val="600"/>
              </a:spcAft>
            </a:pPr>
            <a:endParaRPr lang="en-US" sz="2000" dirty="0"/>
          </a:p>
          <a:p>
            <a:pPr>
              <a:spcAft>
                <a:spcPts val="600"/>
              </a:spcAft>
            </a:pPr>
            <a:r>
              <a:rPr lang="bg-BG" sz="2000" dirty="0"/>
              <a:t>	</a:t>
            </a:r>
            <a:r>
              <a:rPr lang="bg-BG" sz="2000" dirty="0" smtClean="0"/>
              <a:t>При висока котва:		При ниска котва:</a:t>
            </a:r>
          </a:p>
          <a:p>
            <a:pPr>
              <a:spcAft>
                <a:spcPts val="600"/>
              </a:spcAft>
            </a:pPr>
            <a:r>
              <a:rPr lang="bg-BG" sz="2000" dirty="0" smtClean="0"/>
              <a:t>	3, 2, 1, 4				2, 3, 4, 1</a:t>
            </a:r>
          </a:p>
        </p:txBody>
      </p:sp>
    </p:spTree>
    <p:extLst>
      <p:ext uri="{BB962C8B-B14F-4D97-AF65-F5344CB8AC3E}">
        <p14:creationId xmlns:p14="http://schemas.microsoft.com/office/powerpoint/2010/main" val="2326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b="0" dirty="0" smtClean="0"/>
              <a:t>При висока котва:</a:t>
            </a:r>
            <a:endParaRPr lang="bg-BG" b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bg-BG" dirty="0" smtClean="0"/>
              <a:t>Х1</a:t>
            </a:r>
            <a:r>
              <a:rPr lang="en-US" dirty="0"/>
              <a:t>a</a:t>
            </a:r>
            <a:r>
              <a:rPr lang="bg-BG" dirty="0"/>
              <a:t>: </a:t>
            </a:r>
            <a:r>
              <a:rPr lang="en-US" dirty="0"/>
              <a:t>{1.; 2.} </a:t>
            </a:r>
            <a:r>
              <a:rPr lang="bg-BG" dirty="0" smtClean="0"/>
              <a:t>&lt;</a:t>
            </a:r>
            <a:r>
              <a:rPr lang="en-US" dirty="0" smtClean="0"/>
              <a:t> </a:t>
            </a:r>
            <a:r>
              <a:rPr lang="en-US" dirty="0"/>
              <a:t>{3.; 4.}</a:t>
            </a:r>
          </a:p>
          <a:p>
            <a:pPr lvl="1"/>
            <a:r>
              <a:rPr lang="bg-BG" dirty="0"/>
              <a:t>Х1</a:t>
            </a:r>
            <a:r>
              <a:rPr lang="en-US" dirty="0"/>
              <a:t>b: {2.} </a:t>
            </a:r>
            <a:r>
              <a:rPr lang="bg-BG" dirty="0" smtClean="0"/>
              <a:t>&lt;</a:t>
            </a:r>
            <a:r>
              <a:rPr lang="en-US" dirty="0" smtClean="0"/>
              <a:t> </a:t>
            </a:r>
            <a:r>
              <a:rPr lang="en-US" dirty="0"/>
              <a:t>{3</a:t>
            </a:r>
            <a:r>
              <a:rPr lang="en-US" dirty="0" smtClean="0"/>
              <a:t>.}</a:t>
            </a:r>
            <a:endParaRPr lang="bg-BG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bg-BG" b="0" dirty="0" smtClean="0"/>
              <a:t>При ниска котва:</a:t>
            </a:r>
            <a:endParaRPr lang="bg-BG" b="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lvl="1"/>
            <a:r>
              <a:rPr lang="bg-BG" dirty="0"/>
              <a:t>Х1</a:t>
            </a:r>
            <a:r>
              <a:rPr lang="en-US" dirty="0"/>
              <a:t>a: {1.; 2.} &gt; {3.; 4</a:t>
            </a:r>
            <a:r>
              <a:rPr lang="en-US" dirty="0" smtClean="0"/>
              <a:t>.}</a:t>
            </a:r>
            <a:endParaRPr lang="bg-BG" dirty="0" smtClean="0"/>
          </a:p>
          <a:p>
            <a:pPr lvl="1"/>
            <a:r>
              <a:rPr lang="bg-BG" dirty="0" smtClean="0"/>
              <a:t>Х1</a:t>
            </a:r>
            <a:r>
              <a:rPr lang="en-US" dirty="0"/>
              <a:t>b: {2.} &gt; {3</a:t>
            </a:r>
            <a:r>
              <a:rPr lang="en-US" dirty="0" smtClean="0"/>
              <a:t>.}</a:t>
            </a:r>
            <a:endParaRPr lang="bg-BG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</a:bodyPr>
          <a:lstStyle/>
          <a:p>
            <a:r>
              <a:rPr lang="bg-BG" sz="2800" dirty="0" smtClean="0"/>
              <a:t>Допълнителна проверка на Х1 по точките от агрегатните данни</a:t>
            </a:r>
            <a:endParaRPr lang="bg-BG" sz="2800" dirty="0"/>
          </a:p>
        </p:txBody>
      </p:sp>
      <p:pic>
        <p:nvPicPr>
          <p:cNvPr id="11" name="Picture 2" descr="C:\Users\Balan\Desktop\Exp2_Hip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886" y="3271500"/>
            <a:ext cx="5332228" cy="18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:\Users\Balan\Desktop\MAGISTURSKA TEZA _ ALL DESKTOP\00_Mag teza ALL\Mag teza OBRABOTKA DANNI\0_used pics\used6b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323" y="2387398"/>
            <a:ext cx="3040794" cy="967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Balan\Desktop\MAGISTURSKA TEZA _ ALL DESKTOP\00_Mag teza ALL\Mag teza OBRABOTKA DANNI\0_used pics\used6b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550" y="2387397"/>
            <a:ext cx="3040794" cy="967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2209019" y="2387397"/>
            <a:ext cx="360040" cy="248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Rectangle 14"/>
          <p:cNvSpPr/>
          <p:nvPr/>
        </p:nvSpPr>
        <p:spPr>
          <a:xfrm>
            <a:off x="6493495" y="2387396"/>
            <a:ext cx="360040" cy="248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9535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Експеримент 2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В заключение Хипотеза 1, Хипотеза 2 и Хипотеза 3 </a:t>
            </a:r>
            <a:r>
              <a:rPr lang="ru-RU" sz="2400" dirty="0" smtClean="0"/>
              <a:t>се </a:t>
            </a:r>
            <a:r>
              <a:rPr lang="ru-RU" sz="2400" dirty="0"/>
              <a:t>подкрепят при обединеното разглеждане на анализите на данните след даден нетипичен и типичен отговор и при Експеримент </a:t>
            </a:r>
            <a:r>
              <a:rPr lang="ru-RU" sz="2400" dirty="0" smtClean="0"/>
              <a:t>2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218121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Заключение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 smtClean="0"/>
              <a:t>Концептуални предимства на Алтернативното обяснение:</a:t>
            </a:r>
          </a:p>
          <a:p>
            <a:r>
              <a:rPr lang="bg-BG" sz="2400" dirty="0" smtClean="0"/>
              <a:t>Алтернативното обяснение се базира на по-малко допускания – съществуващ общ механизъм за формиране на преценка (използващ „психологически причини“, </a:t>
            </a:r>
            <a:r>
              <a:rPr lang="en-US" sz="2400" dirty="0" smtClean="0"/>
              <a:t>Reason-based choice)</a:t>
            </a:r>
          </a:p>
          <a:p>
            <a:r>
              <a:rPr lang="bg-BG" sz="2400" dirty="0" smtClean="0"/>
              <a:t>Смисълът на процеса е да се намери „най-добро“ решение </a:t>
            </a:r>
            <a:r>
              <a:rPr lang="bg-BG" sz="2400" dirty="0" smtClean="0">
                <a:solidFill>
                  <a:schemeClr val="bg1">
                    <a:lumMod val="50000"/>
                  </a:schemeClr>
                </a:solidFill>
              </a:rPr>
              <a:t>(докато според </a:t>
            </a: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SAM </a:t>
            </a:r>
            <a:r>
              <a:rPr lang="bg-BG" sz="2400" dirty="0" smtClean="0">
                <a:solidFill>
                  <a:schemeClr val="bg1">
                    <a:lumMod val="50000"/>
                  </a:schemeClr>
                </a:solidFill>
              </a:rPr>
              <a:t>се намира „най-лесно“ решение)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2606596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>
                <a:solidFill>
                  <a:schemeClr val="bg1">
                    <a:lumMod val="75000"/>
                  </a:schemeClr>
                </a:solidFill>
              </a:rPr>
              <a:t>Заключение</a:t>
            </a:r>
            <a:endParaRPr lang="bg-BG" sz="2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 smtClean="0"/>
              <a:t>Алтернативното обяснение и емпиричните данни:</a:t>
            </a:r>
          </a:p>
          <a:p>
            <a:r>
              <a:rPr lang="bg-BG" sz="2400" dirty="0" smtClean="0"/>
              <a:t>Обяснява ефекта Закотвяне в естествени условия</a:t>
            </a:r>
          </a:p>
          <a:p>
            <a:endParaRPr lang="bg-BG" sz="2400" dirty="0"/>
          </a:p>
          <a:p>
            <a:r>
              <a:rPr lang="bg-BG" sz="2400" dirty="0" smtClean="0"/>
              <a:t>Обяснява модела на данните при изкуствено създадени условия при зададени фиксирани алтернативи</a:t>
            </a:r>
          </a:p>
          <a:p>
            <a:pPr lvl="1"/>
            <a:r>
              <a:rPr lang="bg-BG" sz="2000" dirty="0" smtClean="0"/>
              <a:t>В много </a:t>
            </a:r>
            <a:r>
              <a:rPr lang="bg-BG" sz="2000" smtClean="0"/>
              <a:t>от конструираните </a:t>
            </a:r>
            <a:r>
              <a:rPr lang="bg-BG" sz="2000" dirty="0" smtClean="0"/>
              <a:t>експериментални условия данните не подкрепят предвижданията на </a:t>
            </a:r>
            <a:r>
              <a:rPr lang="en-US" sz="2000" dirty="0" smtClean="0"/>
              <a:t>SAM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121334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>
                <a:solidFill>
                  <a:schemeClr val="bg1">
                    <a:lumMod val="75000"/>
                  </a:schemeClr>
                </a:solidFill>
              </a:rPr>
              <a:t>Заключение</a:t>
            </a:r>
            <a:endParaRPr lang="bg-BG" sz="2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 smtClean="0"/>
              <a:t>Алтернативното обяснение и емпиричните данни:</a:t>
            </a:r>
          </a:p>
          <a:p>
            <a:r>
              <a:rPr lang="bg-BG" sz="2400" dirty="0" smtClean="0"/>
              <a:t>Алтернативното обяснение прави допълнителни интересни (вкл. контраинтуитивни) предсказания</a:t>
            </a:r>
          </a:p>
          <a:p>
            <a:pPr lvl="1">
              <a:spcAft>
                <a:spcPts val="1200"/>
              </a:spcAft>
            </a:pPr>
            <a:r>
              <a:rPr lang="bg-BG" sz="2000" dirty="0" smtClean="0"/>
              <a:t>Множество предвиждания при техниката на предлагане на фиксирани </a:t>
            </a:r>
            <a:r>
              <a:rPr lang="bg-BG" sz="2000" i="1" dirty="0" smtClean="0"/>
              <a:t>интервални</a:t>
            </a:r>
            <a:r>
              <a:rPr lang="bg-BG" sz="2000" dirty="0" smtClean="0"/>
              <a:t> алтернативи</a:t>
            </a:r>
          </a:p>
          <a:p>
            <a:pPr lvl="1"/>
            <a:r>
              <a:rPr lang="bg-BG" sz="2000" dirty="0" smtClean="0"/>
              <a:t>При даване на положителна обратна връзка предвижда контраст-ефект</a:t>
            </a:r>
          </a:p>
          <a:p>
            <a:pPr marL="457200" lvl="1" indent="0">
              <a:buNone/>
            </a:pPr>
            <a:endParaRPr lang="bg-BG" sz="1600" dirty="0"/>
          </a:p>
        </p:txBody>
      </p:sp>
    </p:spTree>
    <p:extLst>
      <p:ext uri="{BB962C8B-B14F-4D97-AF65-F5344CB8AC3E}">
        <p14:creationId xmlns:p14="http://schemas.microsoft.com/office/powerpoint/2010/main" val="3470481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>
                <a:solidFill>
                  <a:schemeClr val="bg1">
                    <a:lumMod val="75000"/>
                  </a:schemeClr>
                </a:solidFill>
              </a:rPr>
              <a:t>Заключение</a:t>
            </a:r>
            <a:endParaRPr lang="bg-BG" sz="2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7478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bg-BG" sz="2400" dirty="0" smtClean="0"/>
              <a:t>Резултати:</a:t>
            </a:r>
          </a:p>
          <a:p>
            <a:r>
              <a:rPr lang="bg-BG" sz="2000" dirty="0" smtClean="0"/>
              <a:t>Експеримент 1 и Експеримент 2:</a:t>
            </a:r>
          </a:p>
          <a:p>
            <a:pPr lvl="1"/>
            <a:r>
              <a:rPr lang="ru-RU" sz="1800" dirty="0"/>
              <a:t>Процедурата за форсиран избор </a:t>
            </a:r>
            <a:r>
              <a:rPr lang="ru-RU" sz="1800" dirty="0" smtClean="0"/>
              <a:t>е </a:t>
            </a:r>
            <a:r>
              <a:rPr lang="ru-RU" sz="1800" dirty="0"/>
              <a:t>адекватна за изследване на феномена Закотвяне</a:t>
            </a:r>
          </a:p>
          <a:p>
            <a:pPr lvl="1"/>
            <a:r>
              <a:rPr lang="ru-RU" sz="1800" dirty="0" smtClean="0"/>
              <a:t>Емпиричните данни не могат да се обяснят </a:t>
            </a:r>
            <a:r>
              <a:rPr lang="ru-RU" sz="1800" dirty="0"/>
              <a:t>само с </a:t>
            </a:r>
            <a:r>
              <a:rPr lang="ru-RU" sz="1800" dirty="0" smtClean="0"/>
              <a:t>Консистентност </a:t>
            </a:r>
            <a:r>
              <a:rPr lang="ru-RU" sz="1800" dirty="0" smtClean="0">
                <a:solidFill>
                  <a:schemeClr val="bg1">
                    <a:lumMod val="75000"/>
                  </a:schemeClr>
                </a:solidFill>
              </a:rPr>
              <a:t>(валидиране на интерпретацията на резултатите при избор между 2 фиксирани алтернативи, 2017)</a:t>
            </a:r>
            <a:endParaRPr lang="ru-RU" sz="1800" dirty="0">
              <a:solidFill>
                <a:schemeClr val="bg1">
                  <a:lumMod val="75000"/>
                </a:schemeClr>
              </a:solidFill>
            </a:endParaRPr>
          </a:p>
          <a:p>
            <a:pPr lvl="1">
              <a:spcAft>
                <a:spcPts val="1200"/>
              </a:spcAft>
            </a:pPr>
            <a:r>
              <a:rPr lang="ru-RU" sz="1800" dirty="0" smtClean="0"/>
              <a:t>Допълнителна емпирична подкрепа за адекватността на Алтернативното обяснение </a:t>
            </a:r>
            <a:r>
              <a:rPr lang="ru-RU" sz="1800" dirty="0" smtClean="0">
                <a:solidFill>
                  <a:schemeClr val="bg1">
                    <a:lumMod val="75000"/>
                  </a:schemeClr>
                </a:solidFill>
              </a:rPr>
              <a:t>– в абсолютен, и в сравнителен план (спрямо </a:t>
            </a:r>
            <a:r>
              <a:rPr lang="en-US" sz="1800" dirty="0" smtClean="0">
                <a:solidFill>
                  <a:schemeClr val="bg1">
                    <a:lumMod val="75000"/>
                  </a:schemeClr>
                </a:solidFill>
              </a:rPr>
              <a:t>SAM)</a:t>
            </a:r>
          </a:p>
          <a:p>
            <a:r>
              <a:rPr lang="bg-BG" sz="2000" dirty="0" smtClean="0"/>
              <a:t>Експеримент 2:</a:t>
            </a:r>
          </a:p>
          <a:p>
            <a:pPr lvl="1"/>
            <a:r>
              <a:rPr lang="bg-BG" sz="1800" dirty="0" smtClean="0"/>
              <a:t>Използването на числови интервали е адекватна техника за изследване на Закотвянето</a:t>
            </a:r>
          </a:p>
        </p:txBody>
      </p:sp>
    </p:spTree>
    <p:extLst>
      <p:ext uri="{BB962C8B-B14F-4D97-AF65-F5344CB8AC3E}">
        <p14:creationId xmlns:p14="http://schemas.microsoft.com/office/powerpoint/2010/main" val="37830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>
                <a:solidFill>
                  <a:schemeClr val="bg1">
                    <a:lumMod val="75000"/>
                  </a:schemeClr>
                </a:solidFill>
              </a:rPr>
              <a:t>Заключение</a:t>
            </a:r>
            <a:endParaRPr lang="bg-BG" sz="2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747863"/>
          </a:xfrm>
        </p:spPr>
        <p:txBody>
          <a:bodyPr>
            <a:normAutofit/>
          </a:bodyPr>
          <a:lstStyle/>
          <a:p>
            <a:r>
              <a:rPr lang="bg-BG" sz="2600" dirty="0"/>
              <a:t>Недостатъци на проведените експерименти:</a:t>
            </a:r>
          </a:p>
          <a:p>
            <a:pPr lvl="1"/>
            <a:r>
              <a:rPr lang="bg-BG" sz="2000" dirty="0"/>
              <a:t>Разбиването на данните по сечението „Типични“/„Нетипични“ отговори води до сравняване на подизвадки от двата края на </a:t>
            </a:r>
            <a:r>
              <a:rPr lang="bg-BG" sz="2000" dirty="0" smtClean="0"/>
              <a:t>разпределението</a:t>
            </a:r>
            <a:endParaRPr lang="bg-BG" sz="2000" dirty="0"/>
          </a:p>
          <a:p>
            <a:pPr lvl="1"/>
            <a:r>
              <a:rPr lang="bg-BG" sz="2000" dirty="0"/>
              <a:t>Фиксираният ред на задаване на въпросите – </a:t>
            </a:r>
            <a:r>
              <a:rPr lang="ru-RU" sz="2000" dirty="0"/>
              <a:t>може да се предполага влияние на изборите на участниците в предходните задачи върху настоящето </a:t>
            </a:r>
            <a:r>
              <a:rPr lang="ru-RU" sz="2000" dirty="0" smtClean="0"/>
              <a:t>решение</a:t>
            </a:r>
          </a:p>
          <a:p>
            <a:pPr lvl="1"/>
            <a:endParaRPr lang="ru-RU" sz="2000" dirty="0"/>
          </a:p>
          <a:p>
            <a:r>
              <a:rPr lang="bg-BG" sz="2400" dirty="0"/>
              <a:t>Необходимост от допълнителни </a:t>
            </a:r>
            <a:r>
              <a:rPr lang="bg-BG" sz="2400" dirty="0" smtClean="0"/>
              <a:t>изследвания</a:t>
            </a:r>
            <a:endParaRPr lang="bg-BG" sz="2400" dirty="0"/>
          </a:p>
          <a:p>
            <a:endParaRPr lang="bg-BG" sz="1800" dirty="0" smtClean="0"/>
          </a:p>
        </p:txBody>
      </p:sp>
    </p:spTree>
    <p:extLst>
      <p:ext uri="{BB962C8B-B14F-4D97-AF65-F5344CB8AC3E}">
        <p14:creationId xmlns:p14="http://schemas.microsoft.com/office/powerpoint/2010/main" val="854581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Balan\Desktop\cit_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75" y="-236250"/>
            <a:ext cx="4377725" cy="56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1" name="Picture 3" descr="C:\Users\Balan\Desktop\cit_0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-236250"/>
            <a:ext cx="4316072" cy="56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8690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Balan\Desktop\cit_0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44" y="-236250"/>
            <a:ext cx="4303348" cy="56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5" name="Picture 3" descr="C:\Users\Balan\Desktop\cit_0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-236250"/>
            <a:ext cx="4325145" cy="56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4739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5972" y="2486298"/>
            <a:ext cx="6652056" cy="1021556"/>
          </a:xfrm>
        </p:spPr>
        <p:txBody>
          <a:bodyPr/>
          <a:lstStyle/>
          <a:p>
            <a:r>
              <a:rPr lang="bg-BG" b="0" dirty="0" smtClean="0"/>
              <a:t>Благодаря за вниманието</a:t>
            </a:r>
            <a:endParaRPr lang="bg-BG" b="0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369" y="627534"/>
            <a:ext cx="88011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236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alan\Desktop\PIC_DEF_PH\PH_07_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50"/>
            <a:ext cx="5642852" cy="5148000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Balan\Desktop\PIC_DEF_PH\PH_07_0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714" y="3739500"/>
            <a:ext cx="4061286" cy="1404000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8220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4135</Words>
  <Application>Microsoft Office PowerPoint</Application>
  <PresentationFormat>On-screen Show (16:9)</PresentationFormat>
  <Paragraphs>532</Paragraphs>
  <Slides>97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98" baseType="lpstr">
      <vt:lpstr>Office Theme</vt:lpstr>
      <vt:lpstr> ЗАКОТВЯНЕТО – ЕМЕРДЖЕНТЕН ЕФЕКТ ПРИ РЕШАВАНЕТО НА СВЪРЗАНИ ПРОБЛЕМИ, А НЕ НЕЖЕЛАНО ИЗКРИВЯВАНЕ В РЕЗУЛТАТ НА ПСИХОЛОГИЧЕСКИ МЕХАНИЗЪМ  магистърска теза МП ОСП</vt:lpstr>
      <vt:lpstr>PowerPoint Presentation</vt:lpstr>
      <vt:lpstr>1.8. Практическо значение на Закотвянето в социален и организационен план</vt:lpstr>
      <vt:lpstr>1.8. Практическо значение на Закотвянето в социален и организационен план</vt:lpstr>
      <vt:lpstr>Цели на Магистърската теза (2020)</vt:lpstr>
      <vt:lpstr>PowerPoint Presentation</vt:lpstr>
      <vt:lpstr>Закотвяне (Anchoring): дефиниции и общи закономерности</vt:lpstr>
      <vt:lpstr>Евристиката закотвяне и приспособяване: експериментална парадигма и механизми</vt:lpstr>
      <vt:lpstr>PowerPoint Presentation</vt:lpstr>
      <vt:lpstr>Евристиката закотвяне и приспособяване: експериментална парадигма и механизми</vt:lpstr>
      <vt:lpstr>Модел на селективната достъпност (Selective Accessibility Model) – Strack &amp; Mussweiler (1997) </vt:lpstr>
      <vt:lpstr>Модел на селективната достъпност (Selective Accessibility Model) – Strack &amp; Mussweiler (1997) </vt:lpstr>
      <vt:lpstr>Ефектът закотвяне: обобщение</vt:lpstr>
      <vt:lpstr>Ефектът закотвяне: Алтернативно обяснение</vt:lpstr>
      <vt:lpstr>Теоретична рамка: Reason-based choice приложен към Свързани събития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Форсиран избор между зададени алтернативи  </vt:lpstr>
      <vt:lpstr>Форсиран избор между зададени алтернативи </vt:lpstr>
      <vt:lpstr>Форсиран избор между зададени алтернативи </vt:lpstr>
      <vt:lpstr>Форсиран избор между зададени алтернативи </vt:lpstr>
      <vt:lpstr>Форсиран избор между зададени алтернативи </vt:lpstr>
      <vt:lpstr>Форсиран избор между зададени алтернативи </vt:lpstr>
      <vt:lpstr>Форсиран избор между зададени алтернативи </vt:lpstr>
      <vt:lpstr>Форсиран избор между зададени алтернативи </vt:lpstr>
      <vt:lpstr>Фигура 4. (с. 37) е критичният експеримент и основен резултат на бакалавърската теза (2017).</vt:lpstr>
      <vt:lpstr>Емпирична проверка на потенциалните критики. Експеримент 1.</vt:lpstr>
      <vt:lpstr>Емпирична проверка на потенциалните критики. Експеримент 1.</vt:lpstr>
      <vt:lpstr>PowerPoint Presentation</vt:lpstr>
      <vt:lpstr>PowerPoint Presentation</vt:lpstr>
      <vt:lpstr>PowerPoint Presentation</vt:lpstr>
      <vt:lpstr>PowerPoint Presentation</vt:lpstr>
      <vt:lpstr>Метод на изследването:</vt:lpstr>
      <vt:lpstr>Метод на изследването:</vt:lpstr>
      <vt:lpstr>Метод на изследването:</vt:lpstr>
      <vt:lpstr>Метод на изследването:</vt:lpstr>
      <vt:lpstr>PowerPoint Presentation</vt:lpstr>
      <vt:lpstr>PowerPoint Presentation</vt:lpstr>
      <vt:lpstr>PowerPoint Presentation</vt:lpstr>
      <vt:lpstr>PowerPoint Presentation</vt:lpstr>
      <vt:lpstr>Метод на изследването:</vt:lpstr>
      <vt:lpstr>PowerPoint Presentation</vt:lpstr>
      <vt:lpstr>PowerPoint Presentation</vt:lpstr>
      <vt:lpstr>PowerPoint Presentation</vt:lpstr>
      <vt:lpstr>Какви данни получаваме?</vt:lpstr>
      <vt:lpstr>Какви данни получаваме?</vt:lpstr>
      <vt:lpstr>Какви данни получаваме?</vt:lpstr>
      <vt:lpstr>Какви данни получаваме?</vt:lpstr>
      <vt:lpstr>Какви данни получаваме?</vt:lpstr>
      <vt:lpstr>Разпад на данните по сечението Нетипични и Типични отговори</vt:lpstr>
      <vt:lpstr>Разпад на данните по сечението Нетипични и Типични отговори</vt:lpstr>
      <vt:lpstr>Модел на данните при Нетипични отговори (24%)</vt:lpstr>
      <vt:lpstr>Модел на данните при Нетипични отговори (24%)</vt:lpstr>
      <vt:lpstr>Модел на данните при Нетипични отговори (24%)</vt:lpstr>
      <vt:lpstr>Модел на данните при Нетипични отговори (24%)</vt:lpstr>
      <vt:lpstr>Модел на данните при Нетипични отговори (24%)</vt:lpstr>
      <vt:lpstr>Модел на данните при Типични отговори (76%)</vt:lpstr>
      <vt:lpstr>Модел на данните при Типични отговори (76%)</vt:lpstr>
      <vt:lpstr>Модел на данните при Типични отговори (76%)</vt:lpstr>
      <vt:lpstr>Модел на данните при Типични отговори (76%)</vt:lpstr>
      <vt:lpstr>Модел на данните при Типични отговори (76%)</vt:lpstr>
      <vt:lpstr>Модел на данните при Типични отговори (76%)</vt:lpstr>
      <vt:lpstr>Модел на данните при Типични отговори (76%)</vt:lpstr>
      <vt:lpstr>Допълнителна проверка на Х1 по точките от агрегатните данни</vt:lpstr>
      <vt:lpstr>Изводи и Насоки за нови изследвания</vt:lpstr>
      <vt:lpstr>Експеримент 2</vt:lpstr>
      <vt:lpstr>Експеримент 2</vt:lpstr>
      <vt:lpstr>PowerPoint Presentation</vt:lpstr>
      <vt:lpstr>PowerPoint Presentation</vt:lpstr>
      <vt:lpstr>PowerPoint Presentation</vt:lpstr>
      <vt:lpstr>Разпад на данните по сечението Нетипични и Типични отговори</vt:lpstr>
      <vt:lpstr>Разпад на данните по сечението Нетипични и Типични отговори</vt:lpstr>
      <vt:lpstr>Модел на данните при Нетипични отговори (24%)</vt:lpstr>
      <vt:lpstr>Модел на данните при Нетипични отговори (24%)</vt:lpstr>
      <vt:lpstr>Модел на данните при Нетипични отговори (24%)</vt:lpstr>
      <vt:lpstr>Модел на данните при Типични отговори (76%)</vt:lpstr>
      <vt:lpstr>Модел на данните при Типични отговори (76%)</vt:lpstr>
      <vt:lpstr>Модел на данните при Типични отговори (76%)</vt:lpstr>
      <vt:lpstr>Модел на данните при Типични отговори (76%)</vt:lpstr>
      <vt:lpstr>Модел на данните при Типични отговори (76%)</vt:lpstr>
      <vt:lpstr>Допълнителна проверка на Х1 по точките от агрегатните данни</vt:lpstr>
      <vt:lpstr>Експеримент 2</vt:lpstr>
      <vt:lpstr>Заключение</vt:lpstr>
      <vt:lpstr>Заключение</vt:lpstr>
      <vt:lpstr>Заключение</vt:lpstr>
      <vt:lpstr>Заключение</vt:lpstr>
      <vt:lpstr>Заключение</vt:lpstr>
      <vt:lpstr>PowerPoint Presentation</vt:lpstr>
      <vt:lpstr>PowerPoint Presentation</vt:lpstr>
      <vt:lpstr>Благодаря за вниманието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ЗАКОТВЯНЕТО – ЕМЕРДЖЕНТЕН ЕФЕКТ ПРИ РЕШАВАНЕТО НА СВЪРЗАНИ ПРОБЛЕМИ, А НЕ НЕЖЕЛАНО ИЗКРИВЯВАНЕ В РЕЗУЛТАТ НА ПСИХОЛОГИЧЕСКИ МЕХАНИЗЪМ  магистърска теза</dc:title>
  <dc:creator>Balan</dc:creator>
  <cp:lastModifiedBy>Balan</cp:lastModifiedBy>
  <cp:revision>81</cp:revision>
  <dcterms:created xsi:type="dcterms:W3CDTF">2020-06-23T13:48:41Z</dcterms:created>
  <dcterms:modified xsi:type="dcterms:W3CDTF">2020-06-30T09:02:07Z</dcterms:modified>
</cp:coreProperties>
</file>